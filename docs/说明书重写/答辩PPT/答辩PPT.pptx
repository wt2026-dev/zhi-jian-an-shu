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"1.0" encoding="UTF-8" standalone="yes"?><Relationships xmlns="http://schemas.openxmlformats.org/package/2006/relationships"><Relationship Id="rId1" Type="http://schemas.openxmlformats.org/package/2006/relationships/metadata/core-properties" Target="docProps/core.xml" /><Relationship Id="rId0" Type="http://schemas.openxmlformats.org/officeDocument/2006/relationships/officeDocument" Target="ppt/presentation.xml" /><Relationship Id="rId2" Type="http://schemas.openxmlformats.org/officeDocument/2006/relationships/extended-properties" Target="docProps/app.xml" />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 firstSlideNum="1">
  <p:sldMasterIdLst>
    <p:sldMasterId id="2147483648" r:id="rId0"/>
  </p:sldMasterIdLst>
  <p:notesMasterIdLst>
    <p:notesMasterId r:id="rId13"/>
  </p:notes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  <p:ext uri="{FD5EFAAD-0ECE-453E-9831-46B23BE46B34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a="http://schemas.openxmlformats.org/drawing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" Target="slides/slide1.xml" /><Relationship Id="rId0" Type="http://schemas.openxmlformats.org/officeDocument/2006/relationships/slideMaster" Target="slideMasters/slideMaster1.xml" /><Relationship Id="rId13" Type="http://schemas.openxmlformats.org/officeDocument/2006/relationships/notesMaster" Target="notesMasters/notesMaster1.xml" /><Relationship Id="rId11" Type="http://schemas.openxmlformats.org/officeDocument/2006/relationships/slide" Target="slides/slide11.xml" /><Relationship Id="rId10" Type="http://schemas.openxmlformats.org/officeDocument/2006/relationships/slide" Target="slides/slide10.xml" /><Relationship Id="rId12" Type="http://schemas.openxmlformats.org/officeDocument/2006/relationships/slide" Target="slides/slide12.xml" /><Relationship Id="rId14" Type="http://schemas.openxmlformats.org/officeDocument/2006/relationships/presProps" Target="presProps.xml" /><Relationship Id="rId15" Type="http://schemas.openxmlformats.org/officeDocument/2006/relationships/tableStyles" Target="tableStyles.xml" /><Relationship Id="rId16" Type="http://schemas.openxmlformats.org/officeDocument/2006/relationships/viewProps" Target="viewProps.xml" /><Relationship Id="rId2" Type="http://schemas.openxmlformats.org/officeDocument/2006/relationships/slide" Target="slides/slide2.xml" /><Relationship Id="rId3" Type="http://schemas.openxmlformats.org/officeDocument/2006/relationships/slide" Target="slides/slide3.xml" /><Relationship Id="rId4" Type="http://schemas.openxmlformats.org/officeDocument/2006/relationships/slide" Target="slides/slide4.xml" /><Relationship Id="rId5" Type="http://schemas.openxmlformats.org/officeDocument/2006/relationships/slide" Target="slides/slide5.xml" /><Relationship Id="rId6" Type="http://schemas.openxmlformats.org/officeDocument/2006/relationships/slide" Target="slides/slide6.xml" /><Relationship Id="rId7" Type="http://schemas.openxmlformats.org/officeDocument/2006/relationships/slide" Target="slides/slide7.xml" /><Relationship Id="rId8" Type="http://schemas.openxmlformats.org/officeDocument/2006/relationships/slide" Target="slides/slide8.xml" /><Relationship Id="rId9" Type="http://schemas.openxmlformats.org/officeDocument/2006/relationships/slide" Target="slides/slide9.xml" /></Relationships>
</file>

<file path=ppt/notesMasters/_rels/notesMaster1.xml.rels><?xml version="1.0" encoding="UTF-8" standalone="yes"?><Relationships xmlns="http://schemas.openxmlformats.org/package/2006/relationships"><Relationship Id="rId0" Type="http://schemas.openxmlformats.org/officeDocument/2006/relationships/theme" Target="../theme/theme2.xml" /></Relationships>
</file>

<file path=ppt/notesMasters/notesMaster1.xml><?xml version="1.0" encoding="utf-8"?>
<p:notesMaster xmlns:p="http://schemas.openxmlformats.org/presentationml/2006/main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p="http://schemas.openxmlformats.org/presentationml/2006/main" xmlns:a="http://schemas.openxmlformats.org/drawing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theme" Target="../theme/theme1.xml" /></Relationships>
</file>

<file path=ppt/slideMasters/slideMaster1.xml><?xml version="1.0" encoding="utf-8"?>
<p:sldMaster xmlns:p="http://schemas.openxmlformats.org/presentationml/2006/main" xmlns:r="http://schemas.openxmlformats.org/officeDocument/2006/relationships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</p:sldLayoutIdLst>
  <p:hf sldNum="0" hdr="0" ftr="0" dt="0"/>
  <p:txStyles>
    <p:titleStyle>
      <a:lvl1pPr algn="ctr" defTabSz="914400" rtl="0" eaLnBrk="1" latinLnBrk="0" hangingPunct="1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9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0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 descr="&lt;Slide style={{ width: '1280px', height: '720px', padding: '40px 56px', backgroundColor: '#0b1220', position: 'relative' }}&gt;&#10;    {/* A 标题区 — 队伍信息 */}&#10;    &lt;Box style={{ display: 'flex', justifyContent: 'space-between', alignItems: 'center', marginBottom: '24px' }}&gt;&#10;      &lt;Text style={{ fontSize: '14px', color: '#64748b', letterSpacing: '2px' }}&gt;&#10;        工业设备智能检修一体化平台 · 答辩 PPT&#10;      &lt;/Text&gt;&#10;      &lt;Text style={{ fontSize: '14px', color: '#64748b' }}&gt;2026.09&lt;/Text&gt;&#10;    &lt;/Box&gt;&#10;&#10;    {/* B 主体 — Hero 区 */}&#10;    &lt;Box style={{ display: 'flex', flexDirection: 'column', justifyContent: 'center', height: '440px' }}&gt;&#10;      &lt;Text style={{ fontSize: '18px', color: '#06b6d4', letterSpacing: '4px', marginBottom: '24px' }}&gt;&#10;        INDUSTRIAL EQUIPMENT INTELLIGENT MAINTENANCE PLATFORM&#10;      &lt;/Text&gt;&#10;      &lt;Text style={{&#10;        fontSize: '72px', fontWeight: 'bold', color: '#e2e8f0',&#10;        lineHeight: '1.2', marginBottom: '32px',&#10;      }}&gt;&#10;        &lt;span style={{ color: '#06b6d4' }}&gt;工业设备&lt;/span&gt;智能检修&#10;        &lt;br /&gt;&#10;        一体化平台&#10;      &lt;/Text&gt;&#10;      &lt;Text style={{ fontSize: '22px', color: '#94a3b8', lineHeight: '1.7', maxWidth: '900px' }}&gt;&#10;        从巡检发现 → 报修 → 调度 → 维修 → 验收 → 知识沉淀的全链路数字化解决方案&#10;        &lt;br /&gt;&#10;        解决流程制造企业的&lt;span style={{ color: '#f59e0b', fontWeight: 'bold' }}&gt;信息孤岛 / 流程断裂 / 知识流失&lt;/span&gt;三大痛点&#10;      &lt;/Text&gt;&#10;    &lt;/Box&gt;&#10;&#10;    {/* C 关键数据 4 列 */}&#10;    &lt;Box style={{ display: 'flex', justifyContent: 'space-between', marginTop: '32px' }}&gt;&#10;      {[&#10;        { num: '31', unit: '张业务表', color: '#06b6d4' },&#10;        { num: '25', unit: '个幂等迁移', color: '#06b6d4' },&#10;        { num: '24', unit: '项 AI 能力', color: '#f59e0b' },&#10;        { num: '88', unit: '个测试文件', color: '#06b6d4' },&#10;      ].map((item, i) =&gt; (&#10;        &lt;Box key={i} style={{&#10;          flex: 1, padding: '18px', marginRight: i &lt; 3 ? '16px' : '0',&#10;          backgroundColor: '#0f172a', borderRadius: '8px',&#10;          borderLeft: `3px solid ${item.color}`,&#10;        }}&gt;&#10;          &lt;Text style={{ fontSize: '44px', fontWeight: 'bold', color: item.color, lineHeight: '1' }}&gt;&#10;            {item.num}&#10;          &lt;/Text&gt;&#10;          &lt;Text style={{ fontSize: '13px', color: '#94a3b8', marginTop: '6px' }}&gt;&#10;            {item.unit}&#10;          &lt;/Text&gt;&#10;        &lt;/Box&gt;&#10;      ))}&#10;    &lt;/Box&gt;&#10;&#10;    {/* 页脚 */}&#10;    &lt;Box style={{ position: 'absolute', bottom: '20px', right: '56px', display: 'flex', alignItems: 'center' }}&gt;&#10;      &lt;Text style={{ fontSize: '12px', color: '#475569' }}&gt;01 / 12&lt;/Text&gt;&#10;    &lt;/Box&gt;&#10;  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/>
        </p:spPr>
        <p:txBody>
          <a:bodyPr/>
          <a:p/>
        </p:txBody>
      </p:sp>
      <p:sp>
        <p:nvSpPr>
          <p:cNvPr id="3" name="" descr="{&quot;isTemplate&quot;:true,&quot;type&quot;:&quot;text&quot;}"/>
          <p:cNvSpPr txBox="1"/>
          <p:nvPr/>
        </p:nvSpPr>
        <p:spPr>
          <a:xfrm rot="0" flipH="0" flipV="0">
            <a:off x="533400" y="381000"/>
            <a:ext cx="28098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spc="150">
                <a:solidFill>
                  <a:srgbClr val="64748B"/>
                </a:solidFill>
                <a:latin typeface="Microsoft YaHei"/>
                <a:ea typeface="Microsoft YaHei"/>
              </a:rPr>
              <a:t>工业设备智能检修一体化平台</a:t>
            </a:r>
            <a:r>
              <a:rPr lang="en-US" sz="1050" spc="150">
                <a:solidFill>
                  <a:srgbClr val="64748B"/>
                </a:solidFill>
                <a:latin typeface="Microsoft YaHei"/>
                <a:ea typeface="Microsoft YaHei"/>
              </a:rPr>
              <a:t> · </a:t>
            </a:r>
            <a:r>
              <a:rPr lang="zh-CN" sz="1050" spc="150">
                <a:solidFill>
                  <a:srgbClr val="64748B"/>
                </a:solidFill>
                <a:latin typeface="Microsoft YaHei"/>
                <a:ea typeface="Microsoft YaHei"/>
              </a:rPr>
              <a:t>答辩</a:t>
            </a:r>
            <a:r>
              <a:rPr lang="en-US" sz="1050" spc="150">
                <a:solidFill>
                  <a:srgbClr val="64748B"/>
                </a:solidFill>
                <a:latin typeface="Microsoft YaHei"/>
                <a:ea typeface="Microsoft YaHei"/>
              </a:rPr>
              <a:t> PPT</a:t>
            </a:r>
            <a:endParaRPr/>
          </a:p>
        </p:txBody>
      </p:sp>
      <p:sp>
        <p:nvSpPr>
          <p:cNvPr id="4" name="" descr="{&quot;isTemplate&quot;:true,&quot;type&quot;:&quot;text&quot;}"/>
          <p:cNvSpPr txBox="1"/>
          <p:nvPr/>
        </p:nvSpPr>
        <p:spPr>
          <a:xfrm rot="0" flipH="0" flipV="0">
            <a:off x="11153775" y="381000"/>
            <a:ext cx="5048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2026.09</a:t>
            </a:r>
            <a:endParaRPr/>
          </a:p>
        </p:txBody>
      </p:sp>
      <p:sp>
        <p:nvSpPr>
          <p:cNvPr id="5" name="" descr="{&quot;isTemplate&quot;:true,&quot;type&quot;:&quot;text&quot;}"/>
          <p:cNvSpPr txBox="1"/>
          <p:nvPr/>
        </p:nvSpPr>
        <p:spPr>
          <a:xfrm rot="0" flipH="0" flipV="0">
            <a:off x="533400" y="1076325"/>
            <a:ext cx="111252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spc="300">
                <a:solidFill>
                  <a:srgbClr val="06B6D4"/>
                </a:solidFill>
                <a:latin typeface="Microsoft YaHei"/>
                <a:ea typeface="Microsoft YaHei"/>
              </a:rPr>
              <a:t>INDUSTRIAL EQUIPMENT INTELLIGENT MAINTENANCE PLATFORM</a:t>
            </a:r>
            <a:endParaRPr/>
          </a:p>
        </p:txBody>
      </p:sp>
      <p:sp>
        <p:nvSpPr>
          <p:cNvPr id="6" name="" descr="{&quot;isTemplate&quot;:true,&quot;type&quot;:&quot;text&quot;}"/>
          <p:cNvSpPr txBox="1"/>
          <p:nvPr/>
        </p:nvSpPr>
        <p:spPr>
          <a:xfrm rot="0" flipH="0" flipV="0">
            <a:off x="533400" y="1514475"/>
            <a:ext cx="11125200" cy="1981200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5400" b="1">
                <a:solidFill>
                  <a:srgbClr val="06B6D4"/>
                </a:solidFill>
                <a:latin typeface="Microsoft YaHei"/>
                <a:ea typeface="Microsoft YaHei"/>
              </a:rPr>
              <a:t>工业设备</a:t>
            </a:r>
            <a:r>
              <a:rPr lang="zh-CN" sz="5400" b="1">
                <a:solidFill>
                  <a:srgbClr val="E2E8F0"/>
                </a:solidFill>
                <a:latin typeface="Microsoft YaHei"/>
                <a:ea typeface="Microsoft YaHei"/>
              </a:rPr>
              <a:t>智能检修</a:t>
            </a:r>
            <a:endParaRPr/>
          </a:p>
          <a:p>
            <a:pPr>
              <a:lnSpc>
                <a:spcPct val="120000"/>
              </a:lnSpc>
            </a:pPr>
            <a:r>
              <a:rPr lang="zh-CN" sz="5400" b="1">
                <a:solidFill>
                  <a:srgbClr val="E2E8F0"/>
                </a:solidFill>
                <a:latin typeface="Microsoft YaHei"/>
                <a:ea typeface="Microsoft YaHei"/>
              </a:rPr>
              <a:t>一体化平台</a:t>
            </a:r>
            <a:endParaRPr/>
          </a:p>
        </p:txBody>
      </p:sp>
      <p:sp>
        <p:nvSpPr>
          <p:cNvPr id="7" name="" descr="{&quot;isTemplate&quot;:true,&quot;type&quot;:&quot;text&quot;}"/>
          <p:cNvSpPr txBox="1"/>
          <p:nvPr/>
        </p:nvSpPr>
        <p:spPr>
          <a:xfrm rot="0" flipH="0" flipV="0">
            <a:off x="533400" y="3800475"/>
            <a:ext cx="8572500" cy="857250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650">
                <a:solidFill>
                  <a:srgbClr val="94A3B8"/>
                </a:solidFill>
                <a:latin typeface="Microsoft YaHei"/>
                <a:ea typeface="Microsoft YaHei"/>
              </a:rPr>
              <a:t>从巡检发现</a:t>
            </a:r>
            <a:r>
              <a:rPr lang="en-US" sz="1650">
                <a:solidFill>
                  <a:srgbClr val="94A3B8"/>
                </a:solidFill>
                <a:latin typeface="Microsoft YaHei"/>
                <a:ea typeface="Microsoft YaHei"/>
              </a:rPr>
              <a:t> → </a:t>
            </a:r>
            <a:r>
              <a:rPr lang="zh-CN" sz="1650">
                <a:solidFill>
                  <a:srgbClr val="94A3B8"/>
                </a:solidFill>
                <a:latin typeface="Microsoft YaHei"/>
                <a:ea typeface="Microsoft YaHei"/>
              </a:rPr>
              <a:t>报修</a:t>
            </a:r>
            <a:r>
              <a:rPr lang="en-US" sz="1650">
                <a:solidFill>
                  <a:srgbClr val="94A3B8"/>
                </a:solidFill>
                <a:latin typeface="Microsoft YaHei"/>
                <a:ea typeface="Microsoft YaHei"/>
              </a:rPr>
              <a:t> → </a:t>
            </a:r>
            <a:r>
              <a:rPr lang="zh-CN" sz="1650">
                <a:solidFill>
                  <a:srgbClr val="94A3B8"/>
                </a:solidFill>
                <a:latin typeface="Microsoft YaHei"/>
                <a:ea typeface="Microsoft YaHei"/>
              </a:rPr>
              <a:t>调度</a:t>
            </a:r>
            <a:r>
              <a:rPr lang="en-US" sz="1650">
                <a:solidFill>
                  <a:srgbClr val="94A3B8"/>
                </a:solidFill>
                <a:latin typeface="Microsoft YaHei"/>
                <a:ea typeface="Microsoft YaHei"/>
              </a:rPr>
              <a:t> → </a:t>
            </a:r>
            <a:r>
              <a:rPr lang="zh-CN" sz="1650">
                <a:solidFill>
                  <a:srgbClr val="94A3B8"/>
                </a:solidFill>
                <a:latin typeface="Microsoft YaHei"/>
                <a:ea typeface="Microsoft YaHei"/>
              </a:rPr>
              <a:t>维修</a:t>
            </a:r>
            <a:r>
              <a:rPr lang="en-US" sz="1650">
                <a:solidFill>
                  <a:srgbClr val="94A3B8"/>
                </a:solidFill>
                <a:latin typeface="Microsoft YaHei"/>
                <a:ea typeface="Microsoft YaHei"/>
              </a:rPr>
              <a:t> → </a:t>
            </a:r>
            <a:r>
              <a:rPr lang="zh-CN" sz="1650">
                <a:solidFill>
                  <a:srgbClr val="94A3B8"/>
                </a:solidFill>
                <a:latin typeface="Microsoft YaHei"/>
                <a:ea typeface="Microsoft YaHei"/>
              </a:rPr>
              <a:t>验收</a:t>
            </a:r>
            <a:r>
              <a:rPr lang="en-US" sz="1650">
                <a:solidFill>
                  <a:srgbClr val="94A3B8"/>
                </a:solidFill>
                <a:latin typeface="Microsoft YaHei"/>
                <a:ea typeface="Microsoft YaHei"/>
              </a:rPr>
              <a:t> → </a:t>
            </a:r>
            <a:r>
              <a:rPr lang="zh-CN" sz="1650">
                <a:solidFill>
                  <a:srgbClr val="94A3B8"/>
                </a:solidFill>
                <a:latin typeface="Microsoft YaHei"/>
                <a:ea typeface="Microsoft YaHei"/>
              </a:rPr>
              <a:t>知识沉淀的全链路数字化解决方案</a:t>
            </a:r>
            <a:endParaRPr/>
          </a:p>
          <a:p>
            <a:pPr>
              <a:lnSpc>
                <a:spcPct val="170000"/>
              </a:lnSpc>
            </a:pPr>
            <a:r>
              <a:rPr lang="zh-CN" sz="1650">
                <a:solidFill>
                  <a:srgbClr val="94A3B8"/>
                </a:solidFill>
                <a:latin typeface="Microsoft YaHei"/>
                <a:ea typeface="Microsoft YaHei"/>
              </a:rPr>
              <a:t>解决流程制造企业的</a:t>
            </a:r>
            <a:r>
              <a:rPr lang="zh-CN" sz="1650" b="1">
                <a:solidFill>
                  <a:srgbClr val="F59E0B"/>
                </a:solidFill>
                <a:latin typeface="Microsoft YaHei"/>
                <a:ea typeface="Microsoft YaHei"/>
              </a:rPr>
              <a:t>信息孤岛</a:t>
            </a:r>
            <a:r>
              <a:rPr lang="en-US" sz="1650" b="1">
                <a:solidFill>
                  <a:srgbClr val="F59E0B"/>
                </a:solidFill>
                <a:latin typeface="Microsoft YaHei"/>
                <a:ea typeface="Microsoft YaHei"/>
              </a:rPr>
              <a:t> / </a:t>
            </a:r>
            <a:r>
              <a:rPr lang="zh-CN" sz="1650" b="1">
                <a:solidFill>
                  <a:srgbClr val="F59E0B"/>
                </a:solidFill>
                <a:latin typeface="Microsoft YaHei"/>
                <a:ea typeface="Microsoft YaHei"/>
              </a:rPr>
              <a:t>流程断裂</a:t>
            </a:r>
            <a:r>
              <a:rPr lang="en-US" sz="1650" b="1">
                <a:solidFill>
                  <a:srgbClr val="F59E0B"/>
                </a:solidFill>
                <a:latin typeface="Microsoft YaHei"/>
                <a:ea typeface="Microsoft YaHei"/>
              </a:rPr>
              <a:t> / </a:t>
            </a:r>
            <a:r>
              <a:rPr lang="zh-CN" sz="1650" b="1">
                <a:solidFill>
                  <a:srgbClr val="F59E0B"/>
                </a:solidFill>
                <a:latin typeface="Microsoft YaHei"/>
                <a:ea typeface="Microsoft YaHei"/>
              </a:rPr>
              <a:t>知识流失</a:t>
            </a:r>
            <a:r>
              <a:rPr lang="zh-CN" sz="1650">
                <a:solidFill>
                  <a:srgbClr val="94A3B8"/>
                </a:solidFill>
                <a:latin typeface="Microsoft YaHei"/>
                <a:ea typeface="Microsoft YaHei"/>
              </a:rPr>
              <a:t>三大痛点</a:t>
            </a:r>
            <a:endParaRPr/>
          </a:p>
        </p:txBody>
      </p:sp>
      <p:sp>
        <p:nvSpPr>
          <p:cNvPr id="8" name=""/>
          <p:cNvSpPr/>
          <p:nvPr/>
        </p:nvSpPr>
        <p:spPr>
          <a:xfrm rot="0" flipH="0" flipV="0">
            <a:off x="561975" y="5267325"/>
            <a:ext cx="2667000" cy="1057275"/>
          </a:xfrm>
          <a:prstGeom prst="roundRect">
            <a:avLst>
              <a:gd name="adj" fmla="val 7207"/>
            </a:avLst>
          </a:prstGeom>
          <a:solidFill>
            <a:srgbClr val="0F172A"/>
          </a:solidFill>
          <a:ln/>
        </p:spPr>
        <p:txBody>
          <a:bodyPr/>
          <a:p/>
        </p:txBody>
      </p:sp>
      <p:sp>
        <p:nvSpPr>
          <p:cNvPr id="9" name=""/>
          <p:cNvSpPr/>
          <p:nvPr/>
        </p:nvSpPr>
        <p:spPr>
          <a:xfrm rot="0" flipH="0" flipV="0">
            <a:off x="561975" y="5267325"/>
            <a:ext cx="2667000" cy="1057275"/>
          </a:xfrm>
          <a:custGeom>
            <a:pathLst>
              <a:path w="280" h="111">
                <a:moveTo>
                  <a:pt x="8" y="0"/>
                </a:moveTo>
                <a:cubicBezTo>
                  <a:pt x="5" y="0"/>
                  <a:pt x="3" y="2"/>
                  <a:pt x="3" y="5"/>
                </a:cubicBezTo>
                <a:lnTo>
                  <a:pt x="3" y="106"/>
                </a:lnTo>
                <a:cubicBezTo>
                  <a:pt x="3" y="108"/>
                  <a:pt x="5" y="110"/>
                  <a:pt x="7" y="111"/>
                </a:cubicBezTo>
                <a:cubicBezTo>
                  <a:pt x="3" y="110"/>
                  <a:pt x="0" y="107"/>
                  <a:pt x="0" y="103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06B6D4"/>
          </a:solidFill>
          <a:ln/>
        </p:spPr>
        <p:txBody>
          <a:bodyPr/>
          <a:p/>
        </p:txBody>
      </p:sp>
      <p:sp>
        <p:nvSpPr>
          <p:cNvPr id="10" name="" descr="{&quot;isTemplate&quot;:true,&quot;type&quot;:&quot;text&quot;}"/>
          <p:cNvSpPr txBox="1"/>
          <p:nvPr/>
        </p:nvSpPr>
        <p:spPr>
          <a:xfrm rot="0" flipH="0" flipV="0">
            <a:off x="733425" y="5438775"/>
            <a:ext cx="2295525" cy="504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300" b="1">
                <a:solidFill>
                  <a:srgbClr val="06B6D4"/>
                </a:solidFill>
                <a:latin typeface="Microsoft YaHei"/>
                <a:ea typeface="Microsoft YaHei"/>
              </a:rPr>
              <a:t>30</a:t>
            </a:r>
            <a:endParaRPr/>
          </a:p>
        </p:txBody>
      </p:sp>
      <p:sp>
        <p:nvSpPr>
          <p:cNvPr id="11" name="" descr="{&quot;isTemplate&quot;:true,&quot;type&quot;:&quot;text&quot;}"/>
          <p:cNvSpPr txBox="1"/>
          <p:nvPr/>
        </p:nvSpPr>
        <p:spPr>
          <a:xfrm rot="0" flipH="0" flipV="0">
            <a:off x="733425" y="6000750"/>
            <a:ext cx="22955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94A3B8"/>
                </a:solidFill>
                <a:latin typeface="Microsoft YaHei"/>
                <a:ea typeface="Microsoft YaHei"/>
              </a:rPr>
              <a:t>张业务表</a:t>
            </a:r>
            <a:endParaRPr/>
          </a:p>
        </p:txBody>
      </p:sp>
      <p:sp>
        <p:nvSpPr>
          <p:cNvPr id="12" name=""/>
          <p:cNvSpPr/>
          <p:nvPr/>
        </p:nvSpPr>
        <p:spPr>
          <a:xfrm rot="0" flipH="0" flipV="0">
            <a:off x="3381375" y="5267325"/>
            <a:ext cx="2667000" cy="1057275"/>
          </a:xfrm>
          <a:prstGeom prst="roundRect">
            <a:avLst>
              <a:gd name="adj" fmla="val 7207"/>
            </a:avLst>
          </a:prstGeom>
          <a:solidFill>
            <a:srgbClr val="0F172A"/>
          </a:solidFill>
          <a:ln/>
        </p:spPr>
        <p:txBody>
          <a:bodyPr/>
          <a:p/>
        </p:txBody>
      </p:sp>
      <p:sp>
        <p:nvSpPr>
          <p:cNvPr id="13" name=""/>
          <p:cNvSpPr/>
          <p:nvPr/>
        </p:nvSpPr>
        <p:spPr>
          <a:xfrm rot="0" flipH="0" flipV="0">
            <a:off x="3381375" y="5267325"/>
            <a:ext cx="2667000" cy="1057275"/>
          </a:xfrm>
          <a:custGeom>
            <a:pathLst>
              <a:path w="280" h="111">
                <a:moveTo>
                  <a:pt x="8" y="0"/>
                </a:moveTo>
                <a:cubicBezTo>
                  <a:pt x="5" y="0"/>
                  <a:pt x="3" y="2"/>
                  <a:pt x="3" y="5"/>
                </a:cubicBezTo>
                <a:lnTo>
                  <a:pt x="3" y="106"/>
                </a:lnTo>
                <a:cubicBezTo>
                  <a:pt x="3" y="108"/>
                  <a:pt x="5" y="110"/>
                  <a:pt x="7" y="111"/>
                </a:cubicBezTo>
                <a:cubicBezTo>
                  <a:pt x="3" y="110"/>
                  <a:pt x="0" y="107"/>
                  <a:pt x="0" y="103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06B6D4"/>
          </a:solidFill>
          <a:ln/>
        </p:spPr>
        <p:txBody>
          <a:bodyPr/>
          <a:p/>
        </p:txBody>
      </p:sp>
      <p:sp>
        <p:nvSpPr>
          <p:cNvPr id="14" name="" descr="{&quot;isTemplate&quot;:true,&quot;type&quot;:&quot;text&quot;}"/>
          <p:cNvSpPr txBox="1"/>
          <p:nvPr/>
        </p:nvSpPr>
        <p:spPr>
          <a:xfrm rot="0" flipH="0" flipV="0">
            <a:off x="3552825" y="5438775"/>
            <a:ext cx="2295525" cy="504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300" b="1">
                <a:solidFill>
                  <a:srgbClr val="06B6D4"/>
                </a:solidFill>
                <a:latin typeface="Microsoft YaHei"/>
                <a:ea typeface="Microsoft YaHei"/>
              </a:rPr>
              <a:t>25</a:t>
            </a:r>
            <a:endParaRPr/>
          </a:p>
        </p:txBody>
      </p:sp>
      <p:sp>
        <p:nvSpPr>
          <p:cNvPr id="15" name="" descr="{&quot;isTemplate&quot;:true,&quot;type&quot;:&quot;text&quot;}"/>
          <p:cNvSpPr txBox="1"/>
          <p:nvPr/>
        </p:nvSpPr>
        <p:spPr>
          <a:xfrm rot="0" flipH="0" flipV="0">
            <a:off x="3552825" y="6000750"/>
            <a:ext cx="22955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94A3B8"/>
                </a:solidFill>
                <a:latin typeface="Microsoft YaHei"/>
                <a:ea typeface="Microsoft YaHei"/>
              </a:rPr>
              <a:t>个幂等迁移</a:t>
            </a:r>
            <a:endParaRPr/>
          </a:p>
        </p:txBody>
      </p:sp>
      <p:sp>
        <p:nvSpPr>
          <p:cNvPr id="16" name=""/>
          <p:cNvSpPr/>
          <p:nvPr/>
        </p:nvSpPr>
        <p:spPr>
          <a:xfrm rot="0" flipH="0" flipV="0">
            <a:off x="6200775" y="5267325"/>
            <a:ext cx="2667000" cy="1057275"/>
          </a:xfrm>
          <a:prstGeom prst="roundRect">
            <a:avLst>
              <a:gd name="adj" fmla="val 7207"/>
            </a:avLst>
          </a:prstGeom>
          <a:solidFill>
            <a:srgbClr val="0F172A"/>
          </a:solidFill>
          <a:ln/>
        </p:spPr>
        <p:txBody>
          <a:bodyPr/>
          <a:p/>
        </p:txBody>
      </p:sp>
      <p:sp>
        <p:nvSpPr>
          <p:cNvPr id="17" name=""/>
          <p:cNvSpPr/>
          <p:nvPr/>
        </p:nvSpPr>
        <p:spPr>
          <a:xfrm rot="0" flipH="0" flipV="0">
            <a:off x="6200775" y="5267325"/>
            <a:ext cx="2667000" cy="1057275"/>
          </a:xfrm>
          <a:custGeom>
            <a:pathLst>
              <a:path w="280" h="111">
                <a:moveTo>
                  <a:pt x="8" y="0"/>
                </a:moveTo>
                <a:cubicBezTo>
                  <a:pt x="5" y="0"/>
                  <a:pt x="3" y="2"/>
                  <a:pt x="3" y="5"/>
                </a:cubicBezTo>
                <a:lnTo>
                  <a:pt x="3" y="106"/>
                </a:lnTo>
                <a:cubicBezTo>
                  <a:pt x="3" y="108"/>
                  <a:pt x="5" y="110"/>
                  <a:pt x="7" y="111"/>
                </a:cubicBezTo>
                <a:cubicBezTo>
                  <a:pt x="3" y="110"/>
                  <a:pt x="0" y="107"/>
                  <a:pt x="0" y="103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F59E0B"/>
          </a:solidFill>
          <a:ln/>
        </p:spPr>
        <p:txBody>
          <a:bodyPr/>
          <a:p/>
        </p:txBody>
      </p:sp>
      <p:sp>
        <p:nvSpPr>
          <p:cNvPr id="18" name="" descr="{&quot;isTemplate&quot;:true,&quot;type&quot;:&quot;text&quot;}"/>
          <p:cNvSpPr txBox="1"/>
          <p:nvPr/>
        </p:nvSpPr>
        <p:spPr>
          <a:xfrm rot="0" flipH="0" flipV="0">
            <a:off x="6372225" y="5438775"/>
            <a:ext cx="2295525" cy="504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300" b="1">
                <a:solidFill>
                  <a:srgbClr val="F59E0B"/>
                </a:solidFill>
                <a:latin typeface="Microsoft YaHei"/>
                <a:ea typeface="Microsoft YaHei"/>
              </a:rPr>
              <a:t>24</a:t>
            </a:r>
            <a:endParaRPr/>
          </a:p>
        </p:txBody>
      </p:sp>
      <p:sp>
        <p:nvSpPr>
          <p:cNvPr id="19" name="" descr="{&quot;isTemplate&quot;:true,&quot;type&quot;:&quot;text&quot;}"/>
          <p:cNvSpPr txBox="1"/>
          <p:nvPr/>
        </p:nvSpPr>
        <p:spPr>
          <a:xfrm rot="0" flipH="0" flipV="0">
            <a:off x="6372225" y="6000750"/>
            <a:ext cx="22955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94A3B8"/>
                </a:solidFill>
                <a:latin typeface="Microsoft YaHei"/>
                <a:ea typeface="Microsoft YaHei"/>
              </a:rPr>
              <a:t>项</a:t>
            </a:r>
            <a:r>
              <a:rPr lang="en-US" sz="975">
                <a:solidFill>
                  <a:srgbClr val="94A3B8"/>
                </a:solidFill>
                <a:latin typeface="Microsoft YaHei"/>
                <a:ea typeface="Microsoft YaHei"/>
              </a:rPr>
              <a:t> AI </a:t>
            </a:r>
            <a:r>
              <a:rPr lang="zh-CN" sz="975">
                <a:solidFill>
                  <a:srgbClr val="94A3B8"/>
                </a:solidFill>
                <a:latin typeface="Microsoft YaHei"/>
                <a:ea typeface="Microsoft YaHei"/>
              </a:rPr>
              <a:t>能力</a:t>
            </a:r>
            <a:endParaRPr/>
          </a:p>
        </p:txBody>
      </p:sp>
      <p:sp>
        <p:nvSpPr>
          <p:cNvPr id="20" name=""/>
          <p:cNvSpPr/>
          <p:nvPr/>
        </p:nvSpPr>
        <p:spPr>
          <a:xfrm rot="0" flipH="0" flipV="0">
            <a:off x="9020175" y="5267325"/>
            <a:ext cx="2667000" cy="1057275"/>
          </a:xfrm>
          <a:prstGeom prst="roundRect">
            <a:avLst>
              <a:gd name="adj" fmla="val 7207"/>
            </a:avLst>
          </a:prstGeom>
          <a:solidFill>
            <a:srgbClr val="0F172A"/>
          </a:solidFill>
          <a:ln/>
        </p:spPr>
        <p:txBody>
          <a:bodyPr/>
          <a:p/>
        </p:txBody>
      </p:sp>
      <p:sp>
        <p:nvSpPr>
          <p:cNvPr id="21" name=""/>
          <p:cNvSpPr/>
          <p:nvPr/>
        </p:nvSpPr>
        <p:spPr>
          <a:xfrm rot="0" flipH="0" flipV="0">
            <a:off x="9020175" y="5267325"/>
            <a:ext cx="2667000" cy="1057275"/>
          </a:xfrm>
          <a:custGeom>
            <a:pathLst>
              <a:path w="280" h="111">
                <a:moveTo>
                  <a:pt x="8" y="0"/>
                </a:moveTo>
                <a:cubicBezTo>
                  <a:pt x="5" y="0"/>
                  <a:pt x="3" y="2"/>
                  <a:pt x="3" y="5"/>
                </a:cubicBezTo>
                <a:lnTo>
                  <a:pt x="3" y="106"/>
                </a:lnTo>
                <a:cubicBezTo>
                  <a:pt x="3" y="108"/>
                  <a:pt x="5" y="110"/>
                  <a:pt x="7" y="111"/>
                </a:cubicBezTo>
                <a:cubicBezTo>
                  <a:pt x="3" y="110"/>
                  <a:pt x="0" y="107"/>
                  <a:pt x="0" y="103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06B6D4"/>
          </a:solidFill>
          <a:ln/>
        </p:spPr>
        <p:txBody>
          <a:bodyPr/>
          <a:p/>
        </p:txBody>
      </p:sp>
      <p:sp>
        <p:nvSpPr>
          <p:cNvPr id="22" name="" descr="{&quot;isTemplate&quot;:true,&quot;type&quot;:&quot;text&quot;}"/>
          <p:cNvSpPr txBox="1"/>
          <p:nvPr/>
        </p:nvSpPr>
        <p:spPr>
          <a:xfrm rot="0" flipH="0" flipV="0">
            <a:off x="9191625" y="5438775"/>
            <a:ext cx="2295525" cy="504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300" b="1">
                <a:solidFill>
                  <a:srgbClr val="06B6D4"/>
                </a:solidFill>
                <a:latin typeface="Microsoft YaHei"/>
                <a:ea typeface="Microsoft YaHei"/>
              </a:rPr>
              <a:t>88</a:t>
            </a:r>
            <a:endParaRPr/>
          </a:p>
        </p:txBody>
      </p:sp>
      <p:sp>
        <p:nvSpPr>
          <p:cNvPr id="23" name="" descr="{&quot;isTemplate&quot;:true,&quot;type&quot;:&quot;text&quot;}"/>
          <p:cNvSpPr txBox="1"/>
          <p:nvPr/>
        </p:nvSpPr>
        <p:spPr>
          <a:xfrm rot="0" flipH="0" flipV="0">
            <a:off x="9191625" y="6000750"/>
            <a:ext cx="22955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94A3B8"/>
                </a:solidFill>
                <a:latin typeface="Microsoft YaHei"/>
                <a:ea typeface="Microsoft YaHei"/>
              </a:rPr>
              <a:t>个测试文件</a:t>
            </a:r>
            <a:endParaRPr/>
          </a:p>
        </p:txBody>
      </p:sp>
      <p:sp>
        <p:nvSpPr>
          <p:cNvPr id="24" name="" descr="{&quot;isTemplate&quot;:true,&quot;type&quot;:&quot;text&quot;}"/>
          <p:cNvSpPr txBox="1"/>
          <p:nvPr/>
        </p:nvSpPr>
        <p:spPr>
          <a:xfrm rot="0" flipH="0" flipV="0">
            <a:off x="11268075" y="6524625"/>
            <a:ext cx="3905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475569"/>
                </a:solidFill>
                <a:latin typeface="Microsoft YaHei"/>
                <a:ea typeface="Microsoft YaHei"/>
              </a:rPr>
              <a:t>01 / 12</a:t>
            </a:r>
            <a:endParaRPr/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15" name="" descr="&lt;Slide style={{ width: '1280px', height: '720px', padding: '40px 56px', backgroundColor: '#0b1220' }}&gt;&#10;    &lt;Box style={{ display: 'flex', alignItems: 'center', marginBottom: '40px' }}&gt;&#10;      &lt;Text style={{ fontSize: '14px', color: '#06b6d4', letterSpacing: '3px' }}&gt;CONTENTS&lt;/Text&gt;&#10;      &lt;Box style={{ flex: 1, height: '1px', backgroundColor: '#1e293b', marginLeft: '20px' }} /&gt;&#10;    &lt;/Box&gt;&#10;&#10;    &lt;Text style={{&#10;      fontSize: '48px', fontWeight: 'bold', color: '#e2e8f0',&#10;      marginBottom: '48px',&#10;    }}&gt;&#10;      &lt;span style={{ color: '#06b6d4' }}&gt;目录&lt;/span&gt;&#10;    &lt;/Text&gt;&#10;&#10;    &lt;Box style={{ display: 'flex', flexWrap: 'wrap', gap: '20px', height: '440px' }}&gt;&#10;      {[&#10;        { num: '01', title: '背景与痛点', sub: '传统维修的三大痛点', color: '#06b6d4' },&#10;        { num: '02', title: '方案与架构', sub: '单进程双形态 + AI + RBAC', color: '#06b6d4' },&#10;        { num: '03', title: '现场演示', sub: '报修 → 作业票 → AI → 数字人 → 闯关', color: '#f59e0b' },&#10;        { num: '04', title: '差异化创新', sub: '跨 iframe 拖拽 / 单台特征化', color: '#f59e0b' },&#10;        { num: '05', title: '总结与展望', sub: '关键数据 + 后续工作', color: '#06b6d4' },&#10;      ].map((item, i) =&gt; (&#10;        &lt;Box key={i} style={{&#10;          width: 'calc((100% - 60px) / 4)', padding: '28px',&#10;          backgroundColor: '#0f172a', borderRadius: '8px',&#10;          borderLeft: `3px solid ${item.color}`, minHeight: '180px',&#10;        }}&gt;&#10;          &lt;Text style={{ fontSize: '14px', color: item.color, letterSpacing: '2px', marginBottom: '12px' }}&gt;&#10;            {item.num}&#10;          &lt;/Text&gt;&#10;          &lt;Text style={{ fontSize: '26px', fontWeight: 'bold', color: '#e2e8f0', lineHeight: '1.3', marginBottom: '12px' }}&gt;&#10;            {item.title}&#10;          &lt;/Text&gt;&#10;          &lt;Text style={{ fontSize: '14px', color: '#94a3b8', lineHeight: '1.6' }}&gt;&#10;            {item.sub}&#10;          &lt;/Text&gt;&#10;        &lt;/Box&gt;&#10;      ))}&#10;    &lt;/Box&gt;&#10;&#10;    &lt;Box style={{ position: 'absolute', bottom: '20px', right: '56px' }}&gt;&#10;      &lt;Text style={{ fontSize: '12px', color: '#475569' }}&gt;02 / 12&lt;/Text&gt;&#10;    &lt;/Box&gt;&#10;  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/>
        </p:spPr>
        <p:txBody>
          <a:bodyPr/>
          <a:p/>
        </p:txBody>
      </p:sp>
      <p:sp>
        <p:nvSpPr>
          <p:cNvPr id="117" name="" descr="{&quot;isTemplate&quot;:true,&quot;type&quot;:&quot;text&quot;}"/>
          <p:cNvSpPr txBox="1"/>
          <p:nvPr/>
        </p:nvSpPr>
        <p:spPr>
          <a:xfrm rot="0" flipH="0" flipV="0">
            <a:off x="533400" y="381000"/>
            <a:ext cx="952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225">
                <a:solidFill>
                  <a:srgbClr val="06B6D4"/>
                </a:solidFill>
                <a:latin typeface="Microsoft YaHei"/>
                <a:ea typeface="Microsoft YaHei"/>
              </a:rPr>
              <a:t>CONTENTS</a:t>
            </a:r>
            <a:endParaRPr/>
          </a:p>
        </p:txBody>
      </p:sp>
      <p:sp>
        <p:nvSpPr>
          <p:cNvPr id="118" name=""/>
          <p:cNvSpPr/>
          <p:nvPr/>
        </p:nvSpPr>
        <p:spPr>
          <a:xfrm rot="0" flipH="0" flipV="0">
            <a:off x="1676400" y="457200"/>
            <a:ext cx="9982200" cy="9525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p/>
        </p:txBody>
      </p:sp>
      <p:sp>
        <p:nvSpPr>
          <p:cNvPr id="119" name="" descr="{&quot;isTemplate&quot;:true,&quot;type&quot;:&quot;text&quot;}"/>
          <p:cNvSpPr txBox="1"/>
          <p:nvPr/>
        </p:nvSpPr>
        <p:spPr>
          <a:xfrm rot="0" flipH="0" flipV="0">
            <a:off x="533400" y="923925"/>
            <a:ext cx="11125200" cy="552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3600" b="1">
                <a:solidFill>
                  <a:srgbClr val="06B6D4"/>
                </a:solidFill>
                <a:latin typeface="Microsoft YaHei"/>
                <a:ea typeface="Microsoft YaHei"/>
              </a:rPr>
              <a:t>目录</a:t>
            </a:r>
            <a:endParaRPr/>
          </a:p>
        </p:txBody>
      </p:sp>
      <p:sp>
        <p:nvSpPr>
          <p:cNvPr id="120" name=""/>
          <p:cNvSpPr/>
          <p:nvPr/>
        </p:nvSpPr>
        <p:spPr>
          <a:xfrm rot="0" flipH="0" flipV="0">
            <a:off x="561975" y="1933575"/>
            <a:ext cx="2638425" cy="2000250"/>
          </a:xfrm>
          <a:prstGeom prst="roundRect">
            <a:avLst>
              <a:gd name="adj" fmla="val 3810"/>
            </a:avLst>
          </a:prstGeom>
          <a:solidFill>
            <a:srgbClr val="0F172A"/>
          </a:solidFill>
          <a:ln/>
        </p:spPr>
        <p:txBody>
          <a:bodyPr/>
          <a:p/>
        </p:txBody>
      </p:sp>
      <p:sp>
        <p:nvSpPr>
          <p:cNvPr id="121" name=""/>
          <p:cNvSpPr/>
          <p:nvPr/>
        </p:nvSpPr>
        <p:spPr>
          <a:xfrm rot="0" flipH="0" flipV="0">
            <a:off x="561975" y="1933575"/>
            <a:ext cx="2638425" cy="2000250"/>
          </a:xfrm>
          <a:custGeom>
            <a:pathLst>
              <a:path w="277" h="210">
                <a:moveTo>
                  <a:pt x="8" y="0"/>
                </a:moveTo>
                <a:cubicBezTo>
                  <a:pt x="5" y="0"/>
                  <a:pt x="3" y="2"/>
                  <a:pt x="3" y="5"/>
                </a:cubicBezTo>
                <a:lnTo>
                  <a:pt x="3" y="205"/>
                </a:lnTo>
                <a:cubicBezTo>
                  <a:pt x="3" y="207"/>
                  <a:pt x="5" y="209"/>
                  <a:pt x="7" y="210"/>
                </a:cubicBezTo>
                <a:cubicBezTo>
                  <a:pt x="3" y="209"/>
                  <a:pt x="0" y="206"/>
                  <a:pt x="0" y="202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06B6D4"/>
          </a:solidFill>
          <a:ln/>
        </p:spPr>
        <p:txBody>
          <a:bodyPr/>
          <a:p/>
        </p:txBody>
      </p:sp>
      <p:sp>
        <p:nvSpPr>
          <p:cNvPr id="122" name="" descr="{&quot;isTemplate&quot;:true,&quot;type&quot;:&quot;text&quot;}"/>
          <p:cNvSpPr txBox="1"/>
          <p:nvPr/>
        </p:nvSpPr>
        <p:spPr>
          <a:xfrm rot="0" flipH="0" flipV="0">
            <a:off x="828675" y="2200275"/>
            <a:ext cx="20764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150">
                <a:solidFill>
                  <a:srgbClr val="06B6D4"/>
                </a:solidFill>
                <a:latin typeface="Microsoft YaHei"/>
                <a:ea typeface="Microsoft YaHei"/>
              </a:rPr>
              <a:t>01</a:t>
            </a:r>
            <a:endParaRPr/>
          </a:p>
        </p:txBody>
      </p:sp>
      <p:sp>
        <p:nvSpPr>
          <p:cNvPr id="123" name="" descr="{&quot;isTemplate&quot;:true,&quot;type&quot;:&quot;text&quot;}"/>
          <p:cNvSpPr txBox="1"/>
          <p:nvPr/>
        </p:nvSpPr>
        <p:spPr>
          <a:xfrm rot="0" flipH="0" flipV="0">
            <a:off x="828675" y="2476500"/>
            <a:ext cx="2076450" cy="39052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950" b="1">
                <a:solidFill>
                  <a:srgbClr val="E2E8F0"/>
                </a:solidFill>
                <a:latin typeface="Microsoft YaHei"/>
                <a:ea typeface="Microsoft YaHei"/>
              </a:rPr>
              <a:t>背景与痛点</a:t>
            </a:r>
            <a:endParaRPr/>
          </a:p>
        </p:txBody>
      </p:sp>
      <p:sp>
        <p:nvSpPr>
          <p:cNvPr id="124" name="" descr="{&quot;isTemplate&quot;:true,&quot;type&quot;:&quot;text&quot;}"/>
          <p:cNvSpPr txBox="1"/>
          <p:nvPr/>
        </p:nvSpPr>
        <p:spPr>
          <a:xfrm rot="0" flipH="0" flipV="0">
            <a:off x="828675" y="2981325"/>
            <a:ext cx="2076450" cy="2571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050">
                <a:solidFill>
                  <a:srgbClr val="94A3B8"/>
                </a:solidFill>
                <a:latin typeface="Microsoft YaHei"/>
                <a:ea typeface="Microsoft YaHei"/>
              </a:rPr>
              <a:t>传统维修的三大痛点</a:t>
            </a:r>
            <a:endParaRPr/>
          </a:p>
        </p:txBody>
      </p:sp>
      <p:sp>
        <p:nvSpPr>
          <p:cNvPr id="125" name=""/>
          <p:cNvSpPr/>
          <p:nvPr/>
        </p:nvSpPr>
        <p:spPr>
          <a:xfrm rot="0" flipH="0" flipV="0">
            <a:off x="3390900" y="1933575"/>
            <a:ext cx="2638425" cy="2000250"/>
          </a:xfrm>
          <a:prstGeom prst="roundRect">
            <a:avLst>
              <a:gd name="adj" fmla="val 3810"/>
            </a:avLst>
          </a:prstGeom>
          <a:solidFill>
            <a:srgbClr val="0F172A"/>
          </a:solidFill>
          <a:ln/>
        </p:spPr>
        <p:txBody>
          <a:bodyPr/>
          <a:p/>
        </p:txBody>
      </p:sp>
      <p:sp>
        <p:nvSpPr>
          <p:cNvPr id="126" name=""/>
          <p:cNvSpPr/>
          <p:nvPr/>
        </p:nvSpPr>
        <p:spPr>
          <a:xfrm rot="0" flipH="0" flipV="0">
            <a:off x="3390900" y="1933575"/>
            <a:ext cx="2638425" cy="2000250"/>
          </a:xfrm>
          <a:custGeom>
            <a:pathLst>
              <a:path w="277" h="210">
                <a:moveTo>
                  <a:pt x="8" y="0"/>
                </a:moveTo>
                <a:cubicBezTo>
                  <a:pt x="5" y="0"/>
                  <a:pt x="3" y="2"/>
                  <a:pt x="3" y="5"/>
                </a:cubicBezTo>
                <a:lnTo>
                  <a:pt x="3" y="205"/>
                </a:lnTo>
                <a:cubicBezTo>
                  <a:pt x="3" y="207"/>
                  <a:pt x="5" y="209"/>
                  <a:pt x="7" y="210"/>
                </a:cubicBezTo>
                <a:cubicBezTo>
                  <a:pt x="3" y="209"/>
                  <a:pt x="0" y="206"/>
                  <a:pt x="0" y="202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06B6D4"/>
          </a:solidFill>
          <a:ln/>
        </p:spPr>
        <p:txBody>
          <a:bodyPr/>
          <a:p/>
        </p:txBody>
      </p:sp>
      <p:sp>
        <p:nvSpPr>
          <p:cNvPr id="127" name="" descr="{&quot;isTemplate&quot;:true,&quot;type&quot;:&quot;text&quot;}"/>
          <p:cNvSpPr txBox="1"/>
          <p:nvPr/>
        </p:nvSpPr>
        <p:spPr>
          <a:xfrm rot="0" flipH="0" flipV="0">
            <a:off x="3657600" y="2200275"/>
            <a:ext cx="20764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150">
                <a:solidFill>
                  <a:srgbClr val="06B6D4"/>
                </a:solidFill>
                <a:latin typeface="Microsoft YaHei"/>
                <a:ea typeface="Microsoft YaHei"/>
              </a:rPr>
              <a:t>02</a:t>
            </a:r>
            <a:endParaRPr/>
          </a:p>
        </p:txBody>
      </p:sp>
      <p:sp>
        <p:nvSpPr>
          <p:cNvPr id="128" name="" descr="{&quot;isTemplate&quot;:true,&quot;type&quot;:&quot;text&quot;}"/>
          <p:cNvSpPr txBox="1"/>
          <p:nvPr/>
        </p:nvSpPr>
        <p:spPr>
          <a:xfrm rot="0" flipH="0" flipV="0">
            <a:off x="3657600" y="2476500"/>
            <a:ext cx="2076450" cy="39052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950" b="1">
                <a:solidFill>
                  <a:srgbClr val="E2E8F0"/>
                </a:solidFill>
                <a:latin typeface="Microsoft YaHei"/>
                <a:ea typeface="Microsoft YaHei"/>
              </a:rPr>
              <a:t>方案与架构</a:t>
            </a:r>
            <a:endParaRPr/>
          </a:p>
        </p:txBody>
      </p:sp>
      <p:sp>
        <p:nvSpPr>
          <p:cNvPr id="129" name="" descr="{&quot;isTemplate&quot;:true,&quot;type&quot;:&quot;text&quot;}"/>
          <p:cNvSpPr txBox="1"/>
          <p:nvPr/>
        </p:nvSpPr>
        <p:spPr>
          <a:xfrm rot="0" flipH="0" flipV="0">
            <a:off x="3657600" y="2981325"/>
            <a:ext cx="2076450" cy="2571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050">
                <a:solidFill>
                  <a:srgbClr val="94A3B8"/>
                </a:solidFill>
                <a:latin typeface="Microsoft YaHei"/>
                <a:ea typeface="Microsoft YaHei"/>
              </a:rPr>
              <a:t>单进程双形态</a:t>
            </a:r>
            <a:r>
              <a:rPr lang="en-US" sz="1050">
                <a:solidFill>
                  <a:srgbClr val="94A3B8"/>
                </a:solidFill>
                <a:latin typeface="Microsoft YaHei"/>
                <a:ea typeface="Microsoft YaHei"/>
              </a:rPr>
              <a:t> + AI + RBAC</a:t>
            </a:r>
            <a:endParaRPr/>
          </a:p>
        </p:txBody>
      </p:sp>
      <p:sp>
        <p:nvSpPr>
          <p:cNvPr id="130" name=""/>
          <p:cNvSpPr/>
          <p:nvPr/>
        </p:nvSpPr>
        <p:spPr>
          <a:xfrm rot="0" flipH="0" flipV="0">
            <a:off x="6219825" y="1933575"/>
            <a:ext cx="2638425" cy="2000250"/>
          </a:xfrm>
          <a:prstGeom prst="roundRect">
            <a:avLst>
              <a:gd name="adj" fmla="val 3810"/>
            </a:avLst>
          </a:prstGeom>
          <a:solidFill>
            <a:srgbClr val="0F172A"/>
          </a:solidFill>
          <a:ln/>
        </p:spPr>
        <p:txBody>
          <a:bodyPr/>
          <a:p/>
        </p:txBody>
      </p:sp>
      <p:sp>
        <p:nvSpPr>
          <p:cNvPr id="131" name=""/>
          <p:cNvSpPr/>
          <p:nvPr/>
        </p:nvSpPr>
        <p:spPr>
          <a:xfrm rot="0" flipH="0" flipV="0">
            <a:off x="6219825" y="1933575"/>
            <a:ext cx="2638425" cy="2000250"/>
          </a:xfrm>
          <a:custGeom>
            <a:pathLst>
              <a:path w="277" h="210">
                <a:moveTo>
                  <a:pt x="8" y="0"/>
                </a:moveTo>
                <a:cubicBezTo>
                  <a:pt x="5" y="0"/>
                  <a:pt x="3" y="2"/>
                  <a:pt x="3" y="5"/>
                </a:cubicBezTo>
                <a:lnTo>
                  <a:pt x="3" y="205"/>
                </a:lnTo>
                <a:cubicBezTo>
                  <a:pt x="3" y="207"/>
                  <a:pt x="5" y="209"/>
                  <a:pt x="7" y="210"/>
                </a:cubicBezTo>
                <a:cubicBezTo>
                  <a:pt x="3" y="209"/>
                  <a:pt x="0" y="206"/>
                  <a:pt x="0" y="202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F59E0B"/>
          </a:solidFill>
          <a:ln/>
        </p:spPr>
        <p:txBody>
          <a:bodyPr/>
          <a:p/>
        </p:txBody>
      </p:sp>
      <p:sp>
        <p:nvSpPr>
          <p:cNvPr id="132" name="" descr="{&quot;isTemplate&quot;:true,&quot;type&quot;:&quot;text&quot;}"/>
          <p:cNvSpPr txBox="1"/>
          <p:nvPr/>
        </p:nvSpPr>
        <p:spPr>
          <a:xfrm rot="0" flipH="0" flipV="0">
            <a:off x="6486525" y="2200275"/>
            <a:ext cx="20764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150">
                <a:solidFill>
                  <a:srgbClr val="F59E0B"/>
                </a:solidFill>
                <a:latin typeface="Microsoft YaHei"/>
                <a:ea typeface="Microsoft YaHei"/>
              </a:rPr>
              <a:t>03</a:t>
            </a:r>
            <a:endParaRPr/>
          </a:p>
        </p:txBody>
      </p:sp>
      <p:sp>
        <p:nvSpPr>
          <p:cNvPr id="133" name="" descr="{&quot;isTemplate&quot;:true,&quot;type&quot;:&quot;text&quot;}"/>
          <p:cNvSpPr txBox="1"/>
          <p:nvPr/>
        </p:nvSpPr>
        <p:spPr>
          <a:xfrm rot="0" flipH="0" flipV="0">
            <a:off x="6486525" y="2476500"/>
            <a:ext cx="2076450" cy="39052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950" b="1">
                <a:solidFill>
                  <a:srgbClr val="E2E8F0"/>
                </a:solidFill>
                <a:latin typeface="Microsoft YaHei"/>
                <a:ea typeface="Microsoft YaHei"/>
              </a:rPr>
              <a:t>现场演示</a:t>
            </a:r>
            <a:endParaRPr/>
          </a:p>
        </p:txBody>
      </p:sp>
      <p:sp>
        <p:nvSpPr>
          <p:cNvPr id="134" name="" descr="{&quot;isTemplate&quot;:true,&quot;type&quot;:&quot;text&quot;}"/>
          <p:cNvSpPr txBox="1"/>
          <p:nvPr/>
        </p:nvSpPr>
        <p:spPr>
          <a:xfrm rot="0" flipH="0" flipV="0">
            <a:off x="6486525" y="2981325"/>
            <a:ext cx="207645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050">
                <a:solidFill>
                  <a:srgbClr val="94A3B8"/>
                </a:solidFill>
                <a:latin typeface="Microsoft YaHei"/>
                <a:ea typeface="Microsoft YaHei"/>
              </a:rPr>
              <a:t>报修</a:t>
            </a:r>
            <a:r>
              <a:rPr lang="en-US" sz="1050">
                <a:solidFill>
                  <a:srgbClr val="94A3B8"/>
                </a:solidFill>
                <a:latin typeface="Microsoft YaHei"/>
                <a:ea typeface="Microsoft YaHei"/>
              </a:rPr>
              <a:t> → </a:t>
            </a:r>
            <a:r>
              <a:rPr lang="zh-CN" sz="1050">
                <a:solidFill>
                  <a:srgbClr val="94A3B8"/>
                </a:solidFill>
                <a:latin typeface="Microsoft YaHei"/>
                <a:ea typeface="Microsoft YaHei"/>
              </a:rPr>
              <a:t>作业票</a:t>
            </a:r>
            <a:r>
              <a:rPr lang="en-US" sz="1050">
                <a:solidFill>
                  <a:srgbClr val="94A3B8"/>
                </a:solidFill>
                <a:latin typeface="Microsoft YaHei"/>
                <a:ea typeface="Microsoft YaHei"/>
              </a:rPr>
              <a:t> → AI → </a:t>
            </a:r>
            <a:r>
              <a:rPr lang="zh-CN" sz="1050">
                <a:solidFill>
                  <a:srgbClr val="94A3B8"/>
                </a:solidFill>
                <a:latin typeface="Microsoft YaHei"/>
                <a:ea typeface="Microsoft YaHei"/>
              </a:rPr>
              <a:t>数字人</a:t>
            </a:r>
            <a:r>
              <a:rPr lang="en-US" sz="1050">
                <a:solidFill>
                  <a:srgbClr val="94A3B8"/>
                </a:solidFill>
                <a:latin typeface="Microsoft YaHei"/>
                <a:ea typeface="Microsoft YaHei"/>
              </a:rPr>
              <a:t> → </a:t>
            </a:r>
            <a:r>
              <a:rPr lang="zh-CN" sz="1050">
                <a:solidFill>
                  <a:srgbClr val="94A3B8"/>
                </a:solidFill>
                <a:latin typeface="Microsoft YaHei"/>
                <a:ea typeface="Microsoft YaHei"/>
              </a:rPr>
              <a:t>闯关</a:t>
            </a:r>
            <a:endParaRPr/>
          </a:p>
        </p:txBody>
      </p:sp>
      <p:sp>
        <p:nvSpPr>
          <p:cNvPr id="135" name=""/>
          <p:cNvSpPr/>
          <p:nvPr/>
        </p:nvSpPr>
        <p:spPr>
          <a:xfrm rot="0" flipH="0" flipV="0">
            <a:off x="9048750" y="1933575"/>
            <a:ext cx="2638425" cy="2000250"/>
          </a:xfrm>
          <a:prstGeom prst="roundRect">
            <a:avLst>
              <a:gd name="adj" fmla="val 3810"/>
            </a:avLst>
          </a:prstGeom>
          <a:solidFill>
            <a:srgbClr val="0F172A"/>
          </a:solidFill>
          <a:ln/>
        </p:spPr>
        <p:txBody>
          <a:bodyPr/>
          <a:p/>
        </p:txBody>
      </p:sp>
      <p:sp>
        <p:nvSpPr>
          <p:cNvPr id="136" name=""/>
          <p:cNvSpPr/>
          <p:nvPr/>
        </p:nvSpPr>
        <p:spPr>
          <a:xfrm rot="0" flipH="0" flipV="0">
            <a:off x="9048750" y="1933575"/>
            <a:ext cx="2638425" cy="2000250"/>
          </a:xfrm>
          <a:custGeom>
            <a:pathLst>
              <a:path w="277" h="210">
                <a:moveTo>
                  <a:pt x="8" y="0"/>
                </a:moveTo>
                <a:cubicBezTo>
                  <a:pt x="5" y="0"/>
                  <a:pt x="3" y="2"/>
                  <a:pt x="3" y="5"/>
                </a:cubicBezTo>
                <a:lnTo>
                  <a:pt x="3" y="205"/>
                </a:lnTo>
                <a:cubicBezTo>
                  <a:pt x="3" y="207"/>
                  <a:pt x="5" y="209"/>
                  <a:pt x="7" y="210"/>
                </a:cubicBezTo>
                <a:cubicBezTo>
                  <a:pt x="3" y="209"/>
                  <a:pt x="0" y="206"/>
                  <a:pt x="0" y="202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F59E0B"/>
          </a:solidFill>
          <a:ln/>
        </p:spPr>
        <p:txBody>
          <a:bodyPr/>
          <a:p/>
        </p:txBody>
      </p:sp>
      <p:sp>
        <p:nvSpPr>
          <p:cNvPr id="137" name="" descr="{&quot;isTemplate&quot;:true,&quot;type&quot;:&quot;text&quot;}"/>
          <p:cNvSpPr txBox="1"/>
          <p:nvPr/>
        </p:nvSpPr>
        <p:spPr>
          <a:xfrm rot="0" flipH="0" flipV="0">
            <a:off x="9315450" y="2200275"/>
            <a:ext cx="20764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150">
                <a:solidFill>
                  <a:srgbClr val="F59E0B"/>
                </a:solidFill>
                <a:latin typeface="Microsoft YaHei"/>
                <a:ea typeface="Microsoft YaHei"/>
              </a:rPr>
              <a:t>04</a:t>
            </a:r>
            <a:endParaRPr/>
          </a:p>
        </p:txBody>
      </p:sp>
      <p:sp>
        <p:nvSpPr>
          <p:cNvPr id="138" name="" descr="{&quot;isTemplate&quot;:true,&quot;type&quot;:&quot;text&quot;}"/>
          <p:cNvSpPr txBox="1"/>
          <p:nvPr/>
        </p:nvSpPr>
        <p:spPr>
          <a:xfrm rot="0" flipH="0" flipV="0">
            <a:off x="9315450" y="2476500"/>
            <a:ext cx="2076450" cy="39052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950" b="1">
                <a:solidFill>
                  <a:srgbClr val="E2E8F0"/>
                </a:solidFill>
                <a:latin typeface="Microsoft YaHei"/>
                <a:ea typeface="Microsoft YaHei"/>
              </a:rPr>
              <a:t>差异化创新</a:t>
            </a:r>
            <a:endParaRPr/>
          </a:p>
        </p:txBody>
      </p:sp>
      <p:sp>
        <p:nvSpPr>
          <p:cNvPr id="139" name="" descr="{&quot;isTemplate&quot;:true,&quot;type&quot;:&quot;text&quot;}"/>
          <p:cNvSpPr txBox="1"/>
          <p:nvPr/>
        </p:nvSpPr>
        <p:spPr>
          <a:xfrm rot="0" flipH="0" flipV="0">
            <a:off x="9315450" y="2981325"/>
            <a:ext cx="2076450" cy="2571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050">
                <a:solidFill>
                  <a:srgbClr val="94A3B8"/>
                </a:solidFill>
                <a:latin typeface="Microsoft YaHei"/>
                <a:ea typeface="Microsoft YaHei"/>
              </a:rPr>
              <a:t>跨</a:t>
            </a:r>
            <a:r>
              <a:rPr lang="en-US" sz="1050">
                <a:solidFill>
                  <a:srgbClr val="94A3B8"/>
                </a:solidFill>
                <a:latin typeface="Microsoft YaHei"/>
                <a:ea typeface="Microsoft YaHei"/>
              </a:rPr>
              <a:t> iframe </a:t>
            </a:r>
            <a:r>
              <a:rPr lang="zh-CN" sz="1050">
                <a:solidFill>
                  <a:srgbClr val="94A3B8"/>
                </a:solidFill>
                <a:latin typeface="Microsoft YaHei"/>
                <a:ea typeface="Microsoft YaHei"/>
              </a:rPr>
              <a:t>拖拽</a:t>
            </a:r>
            <a:r>
              <a:rPr lang="en-US" sz="1050">
                <a:solidFill>
                  <a:srgbClr val="94A3B8"/>
                </a:solidFill>
                <a:latin typeface="Microsoft YaHei"/>
                <a:ea typeface="Microsoft YaHei"/>
              </a:rPr>
              <a:t> / </a:t>
            </a:r>
            <a:r>
              <a:rPr lang="zh-CN" sz="1050">
                <a:solidFill>
                  <a:srgbClr val="94A3B8"/>
                </a:solidFill>
                <a:latin typeface="Microsoft YaHei"/>
                <a:ea typeface="Microsoft YaHei"/>
              </a:rPr>
              <a:t>单台特征化</a:t>
            </a:r>
            <a:endParaRPr/>
          </a:p>
        </p:txBody>
      </p:sp>
      <p:sp>
        <p:nvSpPr>
          <p:cNvPr id="140" name=""/>
          <p:cNvSpPr/>
          <p:nvPr/>
        </p:nvSpPr>
        <p:spPr>
          <a:xfrm rot="0" flipH="0" flipV="0">
            <a:off x="561975" y="4124325"/>
            <a:ext cx="2638425" cy="2000250"/>
          </a:xfrm>
          <a:prstGeom prst="roundRect">
            <a:avLst>
              <a:gd name="adj" fmla="val 3810"/>
            </a:avLst>
          </a:prstGeom>
          <a:solidFill>
            <a:srgbClr val="0F172A"/>
          </a:solidFill>
          <a:ln/>
        </p:spPr>
        <p:txBody>
          <a:bodyPr/>
          <a:p/>
        </p:txBody>
      </p:sp>
      <p:sp>
        <p:nvSpPr>
          <p:cNvPr id="141" name=""/>
          <p:cNvSpPr/>
          <p:nvPr/>
        </p:nvSpPr>
        <p:spPr>
          <a:xfrm rot="0" flipH="0" flipV="0">
            <a:off x="561975" y="4124325"/>
            <a:ext cx="2638425" cy="2000250"/>
          </a:xfrm>
          <a:custGeom>
            <a:pathLst>
              <a:path w="277" h="210">
                <a:moveTo>
                  <a:pt x="8" y="0"/>
                </a:moveTo>
                <a:cubicBezTo>
                  <a:pt x="5" y="0"/>
                  <a:pt x="3" y="2"/>
                  <a:pt x="3" y="5"/>
                </a:cubicBezTo>
                <a:lnTo>
                  <a:pt x="3" y="205"/>
                </a:lnTo>
                <a:cubicBezTo>
                  <a:pt x="3" y="207"/>
                  <a:pt x="5" y="209"/>
                  <a:pt x="7" y="210"/>
                </a:cubicBezTo>
                <a:cubicBezTo>
                  <a:pt x="3" y="209"/>
                  <a:pt x="0" y="206"/>
                  <a:pt x="0" y="202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06B6D4"/>
          </a:solidFill>
          <a:ln/>
        </p:spPr>
        <p:txBody>
          <a:bodyPr/>
          <a:p/>
        </p:txBody>
      </p:sp>
      <p:sp>
        <p:nvSpPr>
          <p:cNvPr id="142" name="" descr="{&quot;isTemplate&quot;:true,&quot;type&quot;:&quot;text&quot;}"/>
          <p:cNvSpPr txBox="1"/>
          <p:nvPr/>
        </p:nvSpPr>
        <p:spPr>
          <a:xfrm rot="0" flipH="0" flipV="0">
            <a:off x="828675" y="4391025"/>
            <a:ext cx="20764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150">
                <a:solidFill>
                  <a:srgbClr val="06B6D4"/>
                </a:solidFill>
                <a:latin typeface="Microsoft YaHei"/>
                <a:ea typeface="Microsoft YaHei"/>
              </a:rPr>
              <a:t>05</a:t>
            </a:r>
            <a:endParaRPr/>
          </a:p>
        </p:txBody>
      </p:sp>
      <p:sp>
        <p:nvSpPr>
          <p:cNvPr id="143" name="" descr="{&quot;isTemplate&quot;:true,&quot;type&quot;:&quot;text&quot;}"/>
          <p:cNvSpPr txBox="1"/>
          <p:nvPr/>
        </p:nvSpPr>
        <p:spPr>
          <a:xfrm rot="0" flipH="0" flipV="0">
            <a:off x="828675" y="4667250"/>
            <a:ext cx="2076450" cy="39052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950" b="1">
                <a:solidFill>
                  <a:srgbClr val="E2E8F0"/>
                </a:solidFill>
                <a:latin typeface="Microsoft YaHei"/>
                <a:ea typeface="Microsoft YaHei"/>
              </a:rPr>
              <a:t>总结与展望</a:t>
            </a:r>
            <a:endParaRPr/>
          </a:p>
        </p:txBody>
      </p:sp>
      <p:sp>
        <p:nvSpPr>
          <p:cNvPr id="144" name="" descr="{&quot;isTemplate&quot;:true,&quot;type&quot;:&quot;text&quot;}"/>
          <p:cNvSpPr txBox="1"/>
          <p:nvPr/>
        </p:nvSpPr>
        <p:spPr>
          <a:xfrm rot="0" flipH="0" flipV="0">
            <a:off x="828675" y="5172075"/>
            <a:ext cx="2076450" cy="2571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050">
                <a:solidFill>
                  <a:srgbClr val="94A3B8"/>
                </a:solidFill>
                <a:latin typeface="Microsoft YaHei"/>
                <a:ea typeface="Microsoft YaHei"/>
              </a:rPr>
              <a:t>关键数据</a:t>
            </a:r>
            <a:r>
              <a:rPr lang="en-US" sz="1050">
                <a:solidFill>
                  <a:srgbClr val="94A3B8"/>
                </a:solidFill>
                <a:latin typeface="Microsoft YaHei"/>
                <a:ea typeface="Microsoft YaHei"/>
              </a:rPr>
              <a:t> + </a:t>
            </a:r>
            <a:r>
              <a:rPr lang="zh-CN" sz="1050">
                <a:solidFill>
                  <a:srgbClr val="94A3B8"/>
                </a:solidFill>
                <a:latin typeface="Microsoft YaHei"/>
                <a:ea typeface="Microsoft YaHei"/>
              </a:rPr>
              <a:t>后续工作</a:t>
            </a:r>
            <a:endParaRPr/>
          </a:p>
        </p:txBody>
      </p:sp>
      <p:sp>
        <p:nvSpPr>
          <p:cNvPr id="145" name="" descr="{&quot;isTemplate&quot;:true,&quot;type&quot;:&quot;text&quot;}"/>
          <p:cNvSpPr txBox="1"/>
          <p:nvPr/>
        </p:nvSpPr>
        <p:spPr>
          <a:xfrm rot="0" flipH="0" flipV="0">
            <a:off x="11268075" y="6524625"/>
            <a:ext cx="3905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475569"/>
                </a:solidFill>
                <a:latin typeface="Microsoft YaHei"/>
                <a:ea typeface="Microsoft YaHei"/>
              </a:rPr>
              <a:t>02 / 12</a:t>
            </a:r>
            <a:endParaRPr/>
          </a:p>
        </p:txBody>
      </p:sp>
    </p:spTree>
  </p:cSld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46" name="" descr="&lt;Slide style={{ width: '1280px', height: '720px', padding: '40px 56px', backgroundColor: '#0b1220' }}&gt;&#10;    &lt;Box style={{ display: 'flex', alignItems: 'center', marginBottom: '24px' }}&gt;&#10;      &lt;Text style={{ fontSize: '14px', color: '#06b6d4', letterSpacing: '3px' }}&gt;BACKGROUND &amp; PAIN POINTS&lt;/Text&gt;&#10;      &lt;Box style={{ flex: 1, height: '1px', backgroundColor: '#1e293b', marginLeft: '20px' }} /&gt;&#10;    &lt;/Box&gt;&#10;&#10;    &lt;Text style={{&#10;      fontSize: '36px', fontWeight: 'bold', color: '#e2e8f0', marginBottom: '8px',&#10;    }}&gt;&#10;      传统设备维修的&lt;span style={{ color: '#f43f5e' }}&gt;三大痛点&lt;/span&gt;&#10;    &lt;/Text&gt;&#10;    &lt;Text style={{ fontSize: '16px', color: '#94a3b8', marginBottom: '40px' }}&gt;&#10;      流程制造企业普遍存在的共性问题，制约维修效率与质量&#10;    &lt;/Text&gt;&#10;&#10;    &lt;Box style={{ display: 'flex', gap: '20px', height: '420px' }}&gt;&#10;      {[&#10;        {&#10;          num: '1', title: '信息孤岛',&#10;          sym: '◇',&#10;          desc: '工单 / 巡检 / 知识 / 备件 / 安全模块独立运行',&#10;          impact: '数据互不相通，维修人员需切换 5+ 系统',&#10;          color: '#06b6d4',&#10;        },&#10;        {&#10;          num: '2', title: '流程断裂',&#10;          sym: '◇',&#10;          desc: '报修 → 派工 → 作业票 → LOTO → 验收',&#10;          impact: '纸质单据 + 微信群通知，关键节点丢失',&#10;          color: '#f59e0b',&#10;        },&#10;        {&#10;          num: '3', title: '知识流失',&#10;          sym: '◇',&#10;          desc: '老师傅经验靠口口相传',&#10;          impact: '人员流动即知识流失，故障反复发生',&#10;          color: '#f43f5e',&#10;        },&#10;      ].map((p, i) =&gt; (&#10;        &lt;Box key={i} style={{&#10;          flex: 1, padding: '32px', backgroundColor: '#0f172a', borderRadius: '8px',&#10;          borderTop: `3px solid ${p.color}`,&#10;          display: 'flex', flexDirection: 'column',&#10;        }}&gt;&#10;          &lt;Box style={{ display: 'flex', alignItems: 'center', marginBottom: '20px' }}&gt;&#10;            &lt;Box style={{&#10;              width: '48px', height: '48px', borderRadius: '50%',&#10;              backgroundColor: p.color, display: 'flex',&#10;              justifyContent: 'center', alignItems: 'center', marginRight: '12px',&#10;            }}&gt;&#10;              &lt;Text style={{ fontSize: '20px', fontWeight: 'bold', color: '#0b1220' }}&gt;{p.num}&lt;/Text&gt;&#10;            &lt;/Box&gt;&#10;            &lt;Text style={{ fontSize: '24px', fontWeight: 'bold', color: '#e2e8f0' }}&gt;{p.title}&lt;/Text&gt;&#10;          &lt;/Box&gt;&#10;          &lt;Text style={{ fontSize: '16px', color: '#cbd5e1', lineHeight: '1.7', marginBottom: '16px' }}&gt;&#10;            {p.desc}&#10;          &lt;/Text&gt;&#10;          &lt;Box style={{ marginTop: 'auto', padding: '16px', backgroundColor: '#1e293b', borderRadius: '6px' }}&gt;&#10;            &lt;Text style={{ fontSize: '12px', color: p.color, letterSpacing: '1px', marginBottom: '4px' }}&gt;&#10;              影响&#10;            &lt;/Text&gt;&#10;            &lt;Text style={{ fontSize: '14px', color: '#e2e8f0', lineHeight: '1.6' }}&gt;&#10;              {p.impact}&#10;            &lt;/Text&gt;&#10;          &lt;/Box&gt;&#10;        &lt;/Box&gt;&#10;      ))}&#10;    &lt;/Box&gt;&#10;&#10;    &lt;Box style={{ position: 'absolute', bottom: '20px', right: '56px' }}&gt;&#10;      &lt;Text style={{ fontSize: '12px', color: '#475569' }}&gt;03 / 12&lt;/Text&gt;&#10;    &lt;/Box&gt;&#10;  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/>
        </p:spPr>
        <p:txBody>
          <a:bodyPr/>
          <a:p/>
        </p:txBody>
      </p:sp>
      <p:sp>
        <p:nvSpPr>
          <p:cNvPr id="148" name="" descr="{&quot;isTemplate&quot;:true,&quot;type&quot;:&quot;text&quot;}"/>
          <p:cNvSpPr txBox="1"/>
          <p:nvPr/>
        </p:nvSpPr>
        <p:spPr>
          <a:xfrm rot="0" flipH="0" flipV="0">
            <a:off x="533400" y="381000"/>
            <a:ext cx="2695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225">
                <a:solidFill>
                  <a:srgbClr val="06B6D4"/>
                </a:solidFill>
                <a:latin typeface="Microsoft YaHei"/>
                <a:ea typeface="Microsoft YaHei"/>
              </a:rPr>
              <a:t>BACKGROUND &amp; PAIN POINTS</a:t>
            </a:r>
            <a:endParaRPr/>
          </a:p>
        </p:txBody>
      </p:sp>
      <p:sp>
        <p:nvSpPr>
          <p:cNvPr id="149" name=""/>
          <p:cNvSpPr/>
          <p:nvPr/>
        </p:nvSpPr>
        <p:spPr>
          <a:xfrm rot="0" flipH="0" flipV="0">
            <a:off x="3419475" y="457200"/>
            <a:ext cx="8239125" cy="9525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p/>
        </p:txBody>
      </p:sp>
      <p:sp>
        <p:nvSpPr>
          <p:cNvPr id="150" name="" descr="{&quot;isTemplate&quot;:true,&quot;type&quot;:&quot;text&quot;}"/>
          <p:cNvSpPr txBox="1"/>
          <p:nvPr/>
        </p:nvSpPr>
        <p:spPr>
          <a:xfrm rot="0" flipH="0" flipV="0">
            <a:off x="533400" y="771525"/>
            <a:ext cx="11125200" cy="4191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700" b="1">
                <a:solidFill>
                  <a:srgbClr val="E2E8F0"/>
                </a:solidFill>
                <a:latin typeface="Microsoft YaHei"/>
                <a:ea typeface="Microsoft YaHei"/>
              </a:rPr>
              <a:t>传统设备维修的</a:t>
            </a:r>
            <a:r>
              <a:rPr lang="zh-CN" sz="2700" b="1">
                <a:solidFill>
                  <a:srgbClr val="F43F5E"/>
                </a:solidFill>
                <a:latin typeface="Microsoft YaHei"/>
                <a:ea typeface="Microsoft YaHei"/>
              </a:rPr>
              <a:t>三大痛点</a:t>
            </a:r>
            <a:endParaRPr/>
          </a:p>
        </p:txBody>
      </p:sp>
      <p:sp>
        <p:nvSpPr>
          <p:cNvPr id="151" name="" descr="{&quot;isTemplate&quot;:true,&quot;type&quot;:&quot;text&quot;}"/>
          <p:cNvSpPr txBox="1"/>
          <p:nvPr/>
        </p:nvSpPr>
        <p:spPr>
          <a:xfrm rot="0" flipH="0" flipV="0">
            <a:off x="533400" y="1266825"/>
            <a:ext cx="111252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94A3B8"/>
                </a:solidFill>
                <a:latin typeface="Microsoft YaHei"/>
                <a:ea typeface="Microsoft YaHei"/>
              </a:rPr>
              <a:t>流程制造企业普遍存在的共性问题，制约维修效率与质量</a:t>
            </a:r>
            <a:endParaRPr/>
          </a:p>
        </p:txBody>
      </p:sp>
      <p:sp>
        <p:nvSpPr>
          <p:cNvPr id="152" name=""/>
          <p:cNvSpPr/>
          <p:nvPr/>
        </p:nvSpPr>
        <p:spPr>
          <a:xfrm rot="0" flipH="0" flipV="0">
            <a:off x="533400" y="1866900"/>
            <a:ext cx="3581400" cy="4000500"/>
          </a:xfrm>
          <a:prstGeom prst="roundRect">
            <a:avLst>
              <a:gd name="adj" fmla="val 2128"/>
            </a:avLst>
          </a:prstGeom>
          <a:solidFill>
            <a:srgbClr val="0F172A"/>
          </a:solidFill>
          <a:ln/>
        </p:spPr>
        <p:txBody>
          <a:bodyPr/>
          <a:p/>
        </p:txBody>
      </p:sp>
      <p:sp>
        <p:nvSpPr>
          <p:cNvPr id="153" name=""/>
          <p:cNvSpPr/>
          <p:nvPr/>
        </p:nvSpPr>
        <p:spPr>
          <a:xfrm rot="0" flipH="0" flipV="0">
            <a:off x="533400" y="1866900"/>
            <a:ext cx="3581400" cy="4000500"/>
          </a:xfrm>
          <a:custGeom>
            <a:pathLst>
              <a:path w="376" h="420">
                <a:moveTo>
                  <a:pt x="368" y="0"/>
                </a:moveTo>
                <a:cubicBezTo>
                  <a:pt x="372" y="0"/>
                  <a:pt x="375" y="3"/>
                  <a:pt x="376" y="7"/>
                </a:cubicBezTo>
                <a:cubicBezTo>
                  <a:pt x="375" y="4"/>
                  <a:pt x="373" y="3"/>
                  <a:pt x="371" y="3"/>
                </a:cubicBezTo>
                <a:lnTo>
                  <a:pt x="5" y="3"/>
                </a:lnTo>
                <a:cubicBezTo>
                  <a:pt x="3" y="3"/>
                  <a:pt x="1" y="5"/>
                  <a:pt x="0" y="7"/>
                </a:cubicBezTo>
                <a:cubicBezTo>
                  <a:pt x="1" y="3"/>
                  <a:pt x="4" y="0"/>
                  <a:pt x="8" y="0"/>
                </a:cubicBezTo>
                <a:lnTo>
                  <a:pt x="368" y="0"/>
                </a:lnTo>
                <a:close/>
              </a:path>
            </a:pathLst>
          </a:custGeom>
          <a:solidFill>
            <a:srgbClr val="06B6D4"/>
          </a:solidFill>
          <a:ln/>
        </p:spPr>
        <p:txBody>
          <a:bodyPr/>
          <a:p/>
        </p:txBody>
      </p:sp>
      <p:sp>
        <p:nvSpPr>
          <p:cNvPr id="154" name=""/>
          <p:cNvSpPr/>
          <p:nvPr/>
        </p:nvSpPr>
        <p:spPr>
          <a:xfrm rot="0" flipH="0" flipV="0">
            <a:off x="838200" y="2171700"/>
            <a:ext cx="457200" cy="457200"/>
          </a:xfrm>
          <a:custGeom>
            <a:pathLst>
              <a:path w="48" h="48">
                <a:moveTo>
                  <a:pt x="24" y="0"/>
                </a:moveTo>
                <a:lnTo>
                  <a:pt x="24" y="0"/>
                </a:lnTo>
                <a:cubicBezTo>
                  <a:pt x="37" y="0"/>
                  <a:pt x="48" y="11"/>
                  <a:pt x="48" y="24"/>
                </a:cubicBezTo>
                <a:lnTo>
                  <a:pt x="48" y="24"/>
                </a:lnTo>
                <a:cubicBezTo>
                  <a:pt x="48" y="37"/>
                  <a:pt x="37" y="48"/>
                  <a:pt x="24" y="48"/>
                </a:cubicBezTo>
                <a:lnTo>
                  <a:pt x="24" y="48"/>
                </a:lnTo>
                <a:cubicBezTo>
                  <a:pt x="11" y="48"/>
                  <a:pt x="0" y="37"/>
                  <a:pt x="0" y="24"/>
                </a:cubicBezTo>
                <a:lnTo>
                  <a:pt x="0" y="24"/>
                </a:lnTo>
                <a:cubicBezTo>
                  <a:pt x="0" y="11"/>
                  <a:pt x="11" y="0"/>
                  <a:pt x="24" y="0"/>
                </a:cubicBezTo>
                <a:close/>
              </a:path>
            </a:pathLst>
          </a:custGeom>
          <a:solidFill>
            <a:srgbClr val="06B6D4"/>
          </a:solidFill>
          <a:ln/>
        </p:spPr>
        <p:txBody>
          <a:bodyPr/>
          <a:p/>
        </p:txBody>
      </p:sp>
      <p:sp>
        <p:nvSpPr>
          <p:cNvPr id="155" name="" descr="{&quot;isTemplate&quot;:true,&quot;type&quot;:&quot;text&quot;}"/>
          <p:cNvSpPr txBox="1"/>
          <p:nvPr/>
        </p:nvSpPr>
        <p:spPr>
          <a:xfrm rot="0" flipH="0" flipV="0">
            <a:off x="1009650" y="2286000"/>
            <a:ext cx="1238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0B1220"/>
                </a:solidFill>
                <a:latin typeface="Microsoft YaHei"/>
                <a:ea typeface="Microsoft YaHei"/>
              </a:rPr>
              <a:t>1</a:t>
            </a:r>
            <a:endParaRPr/>
          </a:p>
        </p:txBody>
      </p:sp>
      <p:sp>
        <p:nvSpPr>
          <p:cNvPr id="156" name="" descr="{&quot;isTemplate&quot;:true,&quot;type&quot;:&quot;text&quot;}"/>
          <p:cNvSpPr txBox="1"/>
          <p:nvPr/>
        </p:nvSpPr>
        <p:spPr>
          <a:xfrm rot="0" flipH="0" flipV="0">
            <a:off x="1409700" y="2266950"/>
            <a:ext cx="9144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E2E8F0"/>
                </a:solidFill>
                <a:latin typeface="Microsoft YaHei"/>
                <a:ea typeface="Microsoft YaHei"/>
              </a:rPr>
              <a:t>信息孤岛</a:t>
            </a:r>
            <a:endParaRPr/>
          </a:p>
        </p:txBody>
      </p:sp>
      <p:sp>
        <p:nvSpPr>
          <p:cNvPr id="157" name="" descr="{&quot;isTemplate&quot;:true,&quot;type&quot;:&quot;text&quot;}"/>
          <p:cNvSpPr txBox="1"/>
          <p:nvPr/>
        </p:nvSpPr>
        <p:spPr>
          <a:xfrm rot="0" flipH="0" flipV="0">
            <a:off x="838200" y="2819400"/>
            <a:ext cx="2971800" cy="6286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200">
                <a:solidFill>
                  <a:srgbClr val="CBD5E1"/>
                </a:solidFill>
                <a:latin typeface="Microsoft YaHei"/>
                <a:ea typeface="Microsoft YaHei"/>
              </a:rPr>
              <a:t>工单</a:t>
            </a:r>
            <a:r>
              <a:rPr lang="en-US" sz="1200">
                <a:solidFill>
                  <a:srgbClr val="CBD5E1"/>
                </a:solidFill>
                <a:latin typeface="Microsoft YaHei"/>
                <a:ea typeface="Microsoft YaHei"/>
              </a:rPr>
              <a:t> / </a:t>
            </a:r>
            <a:r>
              <a:rPr lang="zh-CN" sz="1200">
                <a:solidFill>
                  <a:srgbClr val="CBD5E1"/>
                </a:solidFill>
                <a:latin typeface="Microsoft YaHei"/>
                <a:ea typeface="Microsoft YaHei"/>
              </a:rPr>
              <a:t>巡检</a:t>
            </a:r>
            <a:r>
              <a:rPr lang="en-US" sz="1200">
                <a:solidFill>
                  <a:srgbClr val="CBD5E1"/>
                </a:solidFill>
                <a:latin typeface="Microsoft YaHei"/>
                <a:ea typeface="Microsoft YaHei"/>
              </a:rPr>
              <a:t> / </a:t>
            </a:r>
            <a:r>
              <a:rPr lang="zh-CN" sz="1200">
                <a:solidFill>
                  <a:srgbClr val="CBD5E1"/>
                </a:solidFill>
                <a:latin typeface="Microsoft YaHei"/>
                <a:ea typeface="Microsoft YaHei"/>
              </a:rPr>
              <a:t>知识</a:t>
            </a:r>
            <a:r>
              <a:rPr lang="en-US" sz="1200">
                <a:solidFill>
                  <a:srgbClr val="CBD5E1"/>
                </a:solidFill>
                <a:latin typeface="Microsoft YaHei"/>
                <a:ea typeface="Microsoft YaHei"/>
              </a:rPr>
              <a:t> / </a:t>
            </a:r>
            <a:r>
              <a:rPr lang="zh-CN" sz="1200">
                <a:solidFill>
                  <a:srgbClr val="CBD5E1"/>
                </a:solidFill>
                <a:latin typeface="Microsoft YaHei"/>
                <a:ea typeface="Microsoft YaHei"/>
              </a:rPr>
              <a:t>备件</a:t>
            </a:r>
            <a:r>
              <a:rPr lang="en-US" sz="1200">
                <a:solidFill>
                  <a:srgbClr val="CBD5E1"/>
                </a:solidFill>
                <a:latin typeface="Microsoft YaHei"/>
                <a:ea typeface="Microsoft YaHei"/>
              </a:rPr>
              <a:t> / </a:t>
            </a:r>
            <a:r>
              <a:rPr lang="zh-CN" sz="1200">
                <a:solidFill>
                  <a:srgbClr val="CBD5E1"/>
                </a:solidFill>
                <a:latin typeface="Microsoft YaHei"/>
                <a:ea typeface="Microsoft YaHei"/>
              </a:rPr>
              <a:t>安全模块独立运行</a:t>
            </a:r>
            <a:endParaRPr/>
          </a:p>
        </p:txBody>
      </p:sp>
      <p:sp>
        <p:nvSpPr>
          <p:cNvPr id="158" name=""/>
          <p:cNvSpPr/>
          <p:nvPr/>
        </p:nvSpPr>
        <p:spPr>
          <a:xfrm rot="0" flipH="0" flipV="0">
            <a:off x="838200" y="4791075"/>
            <a:ext cx="2971800" cy="742950"/>
          </a:xfrm>
          <a:prstGeom prst="roundRect">
            <a:avLst>
              <a:gd name="adj" fmla="val 7692"/>
            </a:avLst>
          </a:prstGeom>
          <a:solidFill>
            <a:srgbClr val="1E293B"/>
          </a:solidFill>
          <a:ln/>
        </p:spPr>
        <p:txBody>
          <a:bodyPr/>
          <a:p/>
        </p:txBody>
      </p:sp>
      <p:sp>
        <p:nvSpPr>
          <p:cNvPr id="159" name="" descr="{&quot;isTemplate&quot;:true,&quot;type&quot;:&quot;text&quot;}"/>
          <p:cNvSpPr txBox="1"/>
          <p:nvPr/>
        </p:nvSpPr>
        <p:spPr>
          <a:xfrm rot="0" flipH="0" flipV="0">
            <a:off x="990600" y="4943475"/>
            <a:ext cx="26670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spc="75">
                <a:solidFill>
                  <a:srgbClr val="06B6D4"/>
                </a:solidFill>
                <a:latin typeface="Microsoft YaHei"/>
                <a:ea typeface="Microsoft YaHei"/>
              </a:rPr>
              <a:t>影响</a:t>
            </a:r>
            <a:endParaRPr/>
          </a:p>
        </p:txBody>
      </p:sp>
      <p:sp>
        <p:nvSpPr>
          <p:cNvPr id="160" name="" descr="{&quot;isTemplate&quot;:true,&quot;type&quot;:&quot;text&quot;}"/>
          <p:cNvSpPr txBox="1"/>
          <p:nvPr/>
        </p:nvSpPr>
        <p:spPr>
          <a:xfrm rot="0" flipH="0" flipV="0">
            <a:off x="990600" y="5124450"/>
            <a:ext cx="2667000" cy="2571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050">
                <a:solidFill>
                  <a:srgbClr val="E2E8F0"/>
                </a:solidFill>
                <a:latin typeface="Microsoft YaHei"/>
                <a:ea typeface="Microsoft YaHei"/>
              </a:rPr>
              <a:t>数据互不相通，维修人员需切换</a:t>
            </a:r>
            <a:r>
              <a:rPr lang="en-US" sz="1050">
                <a:solidFill>
                  <a:srgbClr val="E2E8F0"/>
                </a:solidFill>
                <a:latin typeface="Microsoft YaHei"/>
                <a:ea typeface="Microsoft YaHei"/>
              </a:rPr>
              <a:t> 5+ </a:t>
            </a:r>
            <a:r>
              <a:rPr lang="zh-CN" sz="1050">
                <a:solidFill>
                  <a:srgbClr val="E2E8F0"/>
                </a:solidFill>
                <a:latin typeface="Microsoft YaHei"/>
                <a:ea typeface="Microsoft YaHei"/>
              </a:rPr>
              <a:t>系统</a:t>
            </a:r>
            <a:endParaRPr/>
          </a:p>
        </p:txBody>
      </p:sp>
      <p:sp>
        <p:nvSpPr>
          <p:cNvPr id="161" name=""/>
          <p:cNvSpPr/>
          <p:nvPr/>
        </p:nvSpPr>
        <p:spPr>
          <a:xfrm rot="0" flipH="0" flipV="0">
            <a:off x="4305300" y="1866900"/>
            <a:ext cx="3581400" cy="4000500"/>
          </a:xfrm>
          <a:prstGeom prst="roundRect">
            <a:avLst>
              <a:gd name="adj" fmla="val 2128"/>
            </a:avLst>
          </a:prstGeom>
          <a:solidFill>
            <a:srgbClr val="0F172A"/>
          </a:solidFill>
          <a:ln/>
        </p:spPr>
        <p:txBody>
          <a:bodyPr/>
          <a:p/>
        </p:txBody>
      </p:sp>
      <p:sp>
        <p:nvSpPr>
          <p:cNvPr id="162" name=""/>
          <p:cNvSpPr/>
          <p:nvPr/>
        </p:nvSpPr>
        <p:spPr>
          <a:xfrm rot="0" flipH="0" flipV="0">
            <a:off x="4305300" y="1866900"/>
            <a:ext cx="3581400" cy="4000500"/>
          </a:xfrm>
          <a:custGeom>
            <a:pathLst>
              <a:path w="376" h="420">
                <a:moveTo>
                  <a:pt x="368" y="0"/>
                </a:moveTo>
                <a:cubicBezTo>
                  <a:pt x="372" y="0"/>
                  <a:pt x="375" y="3"/>
                  <a:pt x="376" y="7"/>
                </a:cubicBezTo>
                <a:cubicBezTo>
                  <a:pt x="375" y="4"/>
                  <a:pt x="373" y="3"/>
                  <a:pt x="371" y="3"/>
                </a:cubicBezTo>
                <a:lnTo>
                  <a:pt x="5" y="3"/>
                </a:lnTo>
                <a:cubicBezTo>
                  <a:pt x="3" y="3"/>
                  <a:pt x="1" y="5"/>
                  <a:pt x="0" y="7"/>
                </a:cubicBezTo>
                <a:cubicBezTo>
                  <a:pt x="1" y="3"/>
                  <a:pt x="4" y="0"/>
                  <a:pt x="8" y="0"/>
                </a:cubicBezTo>
                <a:lnTo>
                  <a:pt x="368" y="0"/>
                </a:lnTo>
                <a:close/>
              </a:path>
            </a:pathLst>
          </a:custGeom>
          <a:solidFill>
            <a:srgbClr val="F59E0B"/>
          </a:solidFill>
          <a:ln/>
        </p:spPr>
        <p:txBody>
          <a:bodyPr/>
          <a:p/>
        </p:txBody>
      </p:sp>
      <p:sp>
        <p:nvSpPr>
          <p:cNvPr id="163" name=""/>
          <p:cNvSpPr/>
          <p:nvPr/>
        </p:nvSpPr>
        <p:spPr>
          <a:xfrm rot="0" flipH="0" flipV="0">
            <a:off x="4610100" y="2171700"/>
            <a:ext cx="457200" cy="457200"/>
          </a:xfrm>
          <a:custGeom>
            <a:pathLst>
              <a:path w="48" h="48">
                <a:moveTo>
                  <a:pt x="24" y="0"/>
                </a:moveTo>
                <a:lnTo>
                  <a:pt x="24" y="0"/>
                </a:lnTo>
                <a:cubicBezTo>
                  <a:pt x="37" y="0"/>
                  <a:pt x="48" y="11"/>
                  <a:pt x="48" y="24"/>
                </a:cubicBezTo>
                <a:lnTo>
                  <a:pt x="48" y="24"/>
                </a:lnTo>
                <a:cubicBezTo>
                  <a:pt x="48" y="37"/>
                  <a:pt x="37" y="48"/>
                  <a:pt x="24" y="48"/>
                </a:cubicBezTo>
                <a:lnTo>
                  <a:pt x="24" y="48"/>
                </a:lnTo>
                <a:cubicBezTo>
                  <a:pt x="11" y="48"/>
                  <a:pt x="0" y="37"/>
                  <a:pt x="0" y="24"/>
                </a:cubicBezTo>
                <a:lnTo>
                  <a:pt x="0" y="24"/>
                </a:lnTo>
                <a:cubicBezTo>
                  <a:pt x="0" y="11"/>
                  <a:pt x="11" y="0"/>
                  <a:pt x="24" y="0"/>
                </a:cubicBezTo>
                <a:close/>
              </a:path>
            </a:pathLst>
          </a:custGeom>
          <a:solidFill>
            <a:srgbClr val="F59E0B"/>
          </a:solidFill>
          <a:ln/>
        </p:spPr>
        <p:txBody>
          <a:bodyPr/>
          <a:p/>
        </p:txBody>
      </p:sp>
      <p:sp>
        <p:nvSpPr>
          <p:cNvPr id="164" name="" descr="{&quot;isTemplate&quot;:true,&quot;type&quot;:&quot;text&quot;}"/>
          <p:cNvSpPr txBox="1"/>
          <p:nvPr/>
        </p:nvSpPr>
        <p:spPr>
          <a:xfrm rot="0" flipH="0" flipV="0">
            <a:off x="4781550" y="2286000"/>
            <a:ext cx="1238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0B1220"/>
                </a:solidFill>
                <a:latin typeface="Microsoft YaHei"/>
                <a:ea typeface="Microsoft YaHei"/>
              </a:rPr>
              <a:t>2</a:t>
            </a:r>
            <a:endParaRPr/>
          </a:p>
        </p:txBody>
      </p:sp>
      <p:sp>
        <p:nvSpPr>
          <p:cNvPr id="165" name="" descr="{&quot;isTemplate&quot;:true,&quot;type&quot;:&quot;text&quot;}"/>
          <p:cNvSpPr txBox="1"/>
          <p:nvPr/>
        </p:nvSpPr>
        <p:spPr>
          <a:xfrm rot="0" flipH="0" flipV="0">
            <a:off x="5181600" y="2266950"/>
            <a:ext cx="9144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E2E8F0"/>
                </a:solidFill>
                <a:latin typeface="Microsoft YaHei"/>
                <a:ea typeface="Microsoft YaHei"/>
              </a:rPr>
              <a:t>流程断裂</a:t>
            </a:r>
            <a:endParaRPr/>
          </a:p>
        </p:txBody>
      </p:sp>
      <p:sp>
        <p:nvSpPr>
          <p:cNvPr id="166" name="" descr="{&quot;isTemplate&quot;:true,&quot;type&quot;:&quot;text&quot;}"/>
          <p:cNvSpPr txBox="1"/>
          <p:nvPr/>
        </p:nvSpPr>
        <p:spPr>
          <a:xfrm rot="0" flipH="0" flipV="0">
            <a:off x="4610100" y="2819400"/>
            <a:ext cx="2971800" cy="31432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200">
                <a:solidFill>
                  <a:srgbClr val="CBD5E1"/>
                </a:solidFill>
                <a:latin typeface="Microsoft YaHei"/>
                <a:ea typeface="Microsoft YaHei"/>
              </a:rPr>
              <a:t>报修</a:t>
            </a:r>
            <a:r>
              <a:rPr lang="en-US" sz="1200">
                <a:solidFill>
                  <a:srgbClr val="CBD5E1"/>
                </a:solidFill>
                <a:latin typeface="Microsoft YaHei"/>
                <a:ea typeface="Microsoft YaHei"/>
              </a:rPr>
              <a:t> → </a:t>
            </a:r>
            <a:r>
              <a:rPr lang="zh-CN" sz="1200">
                <a:solidFill>
                  <a:srgbClr val="CBD5E1"/>
                </a:solidFill>
                <a:latin typeface="Microsoft YaHei"/>
                <a:ea typeface="Microsoft YaHei"/>
              </a:rPr>
              <a:t>派工</a:t>
            </a:r>
            <a:r>
              <a:rPr lang="en-US" sz="1200">
                <a:solidFill>
                  <a:srgbClr val="CBD5E1"/>
                </a:solidFill>
                <a:latin typeface="Microsoft YaHei"/>
                <a:ea typeface="Microsoft YaHei"/>
              </a:rPr>
              <a:t> → </a:t>
            </a:r>
            <a:r>
              <a:rPr lang="zh-CN" sz="1200">
                <a:solidFill>
                  <a:srgbClr val="CBD5E1"/>
                </a:solidFill>
                <a:latin typeface="Microsoft YaHei"/>
                <a:ea typeface="Microsoft YaHei"/>
              </a:rPr>
              <a:t>作业票</a:t>
            </a:r>
            <a:r>
              <a:rPr lang="en-US" sz="1200">
                <a:solidFill>
                  <a:srgbClr val="CBD5E1"/>
                </a:solidFill>
                <a:latin typeface="Microsoft YaHei"/>
                <a:ea typeface="Microsoft YaHei"/>
              </a:rPr>
              <a:t> → LOTO → </a:t>
            </a:r>
            <a:r>
              <a:rPr lang="zh-CN" sz="1200">
                <a:solidFill>
                  <a:srgbClr val="CBD5E1"/>
                </a:solidFill>
                <a:latin typeface="Microsoft YaHei"/>
                <a:ea typeface="Microsoft YaHei"/>
              </a:rPr>
              <a:t>验收</a:t>
            </a:r>
            <a:endParaRPr/>
          </a:p>
        </p:txBody>
      </p:sp>
      <p:sp>
        <p:nvSpPr>
          <p:cNvPr id="167" name=""/>
          <p:cNvSpPr/>
          <p:nvPr/>
        </p:nvSpPr>
        <p:spPr>
          <a:xfrm rot="0" flipH="0" flipV="0">
            <a:off x="4610100" y="4791075"/>
            <a:ext cx="2971800" cy="742950"/>
          </a:xfrm>
          <a:prstGeom prst="roundRect">
            <a:avLst>
              <a:gd name="adj" fmla="val 7692"/>
            </a:avLst>
          </a:prstGeom>
          <a:solidFill>
            <a:srgbClr val="1E293B"/>
          </a:solidFill>
          <a:ln/>
        </p:spPr>
        <p:txBody>
          <a:bodyPr/>
          <a:p/>
        </p:txBody>
      </p:sp>
      <p:sp>
        <p:nvSpPr>
          <p:cNvPr id="168" name="" descr="{&quot;isTemplate&quot;:true,&quot;type&quot;:&quot;text&quot;}"/>
          <p:cNvSpPr txBox="1"/>
          <p:nvPr/>
        </p:nvSpPr>
        <p:spPr>
          <a:xfrm rot="0" flipH="0" flipV="0">
            <a:off x="4762500" y="4943475"/>
            <a:ext cx="26670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spc="75">
                <a:solidFill>
                  <a:srgbClr val="F59E0B"/>
                </a:solidFill>
                <a:latin typeface="Microsoft YaHei"/>
                <a:ea typeface="Microsoft YaHei"/>
              </a:rPr>
              <a:t>影响</a:t>
            </a:r>
            <a:endParaRPr/>
          </a:p>
        </p:txBody>
      </p:sp>
      <p:sp>
        <p:nvSpPr>
          <p:cNvPr id="169" name="" descr="{&quot;isTemplate&quot;:true,&quot;type&quot;:&quot;text&quot;}"/>
          <p:cNvSpPr txBox="1"/>
          <p:nvPr/>
        </p:nvSpPr>
        <p:spPr>
          <a:xfrm rot="0" flipH="0" flipV="0">
            <a:off x="4762500" y="5124450"/>
            <a:ext cx="2667000" cy="2571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050">
                <a:solidFill>
                  <a:srgbClr val="E2E8F0"/>
                </a:solidFill>
                <a:latin typeface="Microsoft YaHei"/>
                <a:ea typeface="Microsoft YaHei"/>
              </a:rPr>
              <a:t>纸质单据</a:t>
            </a:r>
            <a:r>
              <a:rPr lang="en-US" sz="1050">
                <a:solidFill>
                  <a:srgbClr val="E2E8F0"/>
                </a:solidFill>
                <a:latin typeface="Microsoft YaHei"/>
                <a:ea typeface="Microsoft YaHei"/>
              </a:rPr>
              <a:t> + </a:t>
            </a:r>
            <a:r>
              <a:rPr lang="zh-CN" sz="1050">
                <a:solidFill>
                  <a:srgbClr val="E2E8F0"/>
                </a:solidFill>
                <a:latin typeface="Microsoft YaHei"/>
                <a:ea typeface="Microsoft YaHei"/>
              </a:rPr>
              <a:t>微信群通知，关键节点丢失</a:t>
            </a:r>
            <a:endParaRPr/>
          </a:p>
        </p:txBody>
      </p:sp>
      <p:sp>
        <p:nvSpPr>
          <p:cNvPr id="170" name=""/>
          <p:cNvSpPr/>
          <p:nvPr/>
        </p:nvSpPr>
        <p:spPr>
          <a:xfrm rot="0" flipH="0" flipV="0">
            <a:off x="8077200" y="1866900"/>
            <a:ext cx="3581400" cy="4000500"/>
          </a:xfrm>
          <a:prstGeom prst="roundRect">
            <a:avLst>
              <a:gd name="adj" fmla="val 2128"/>
            </a:avLst>
          </a:prstGeom>
          <a:solidFill>
            <a:srgbClr val="0F172A"/>
          </a:solidFill>
          <a:ln/>
        </p:spPr>
        <p:txBody>
          <a:bodyPr/>
          <a:p/>
        </p:txBody>
      </p:sp>
      <p:sp>
        <p:nvSpPr>
          <p:cNvPr id="171" name=""/>
          <p:cNvSpPr/>
          <p:nvPr/>
        </p:nvSpPr>
        <p:spPr>
          <a:xfrm rot="0" flipH="0" flipV="0">
            <a:off x="8077200" y="1866900"/>
            <a:ext cx="3581400" cy="4000500"/>
          </a:xfrm>
          <a:custGeom>
            <a:pathLst>
              <a:path w="376" h="420">
                <a:moveTo>
                  <a:pt x="368" y="0"/>
                </a:moveTo>
                <a:cubicBezTo>
                  <a:pt x="372" y="0"/>
                  <a:pt x="375" y="3"/>
                  <a:pt x="376" y="7"/>
                </a:cubicBezTo>
                <a:cubicBezTo>
                  <a:pt x="375" y="4"/>
                  <a:pt x="373" y="3"/>
                  <a:pt x="371" y="3"/>
                </a:cubicBezTo>
                <a:lnTo>
                  <a:pt x="5" y="3"/>
                </a:lnTo>
                <a:cubicBezTo>
                  <a:pt x="3" y="3"/>
                  <a:pt x="1" y="5"/>
                  <a:pt x="0" y="7"/>
                </a:cubicBezTo>
                <a:cubicBezTo>
                  <a:pt x="1" y="3"/>
                  <a:pt x="4" y="0"/>
                  <a:pt x="8" y="0"/>
                </a:cubicBezTo>
                <a:lnTo>
                  <a:pt x="368" y="0"/>
                </a:lnTo>
                <a:close/>
              </a:path>
            </a:pathLst>
          </a:custGeom>
          <a:solidFill>
            <a:srgbClr val="F43F5E"/>
          </a:solidFill>
          <a:ln/>
        </p:spPr>
        <p:txBody>
          <a:bodyPr/>
          <a:p/>
        </p:txBody>
      </p:sp>
      <p:sp>
        <p:nvSpPr>
          <p:cNvPr id="172" name=""/>
          <p:cNvSpPr/>
          <p:nvPr/>
        </p:nvSpPr>
        <p:spPr>
          <a:xfrm rot="0" flipH="0" flipV="0">
            <a:off x="8382000" y="2171700"/>
            <a:ext cx="457200" cy="457200"/>
          </a:xfrm>
          <a:custGeom>
            <a:pathLst>
              <a:path w="48" h="48">
                <a:moveTo>
                  <a:pt x="24" y="0"/>
                </a:moveTo>
                <a:lnTo>
                  <a:pt x="24" y="0"/>
                </a:lnTo>
                <a:cubicBezTo>
                  <a:pt x="37" y="0"/>
                  <a:pt x="48" y="11"/>
                  <a:pt x="48" y="24"/>
                </a:cubicBezTo>
                <a:lnTo>
                  <a:pt x="48" y="24"/>
                </a:lnTo>
                <a:cubicBezTo>
                  <a:pt x="48" y="37"/>
                  <a:pt x="37" y="48"/>
                  <a:pt x="24" y="48"/>
                </a:cubicBezTo>
                <a:lnTo>
                  <a:pt x="24" y="48"/>
                </a:lnTo>
                <a:cubicBezTo>
                  <a:pt x="11" y="48"/>
                  <a:pt x="0" y="37"/>
                  <a:pt x="0" y="24"/>
                </a:cubicBezTo>
                <a:lnTo>
                  <a:pt x="0" y="24"/>
                </a:lnTo>
                <a:cubicBezTo>
                  <a:pt x="0" y="11"/>
                  <a:pt x="11" y="0"/>
                  <a:pt x="24" y="0"/>
                </a:cubicBezTo>
                <a:close/>
              </a:path>
            </a:pathLst>
          </a:custGeom>
          <a:solidFill>
            <a:srgbClr val="F43F5E"/>
          </a:solidFill>
          <a:ln/>
        </p:spPr>
        <p:txBody>
          <a:bodyPr/>
          <a:p/>
        </p:txBody>
      </p:sp>
      <p:sp>
        <p:nvSpPr>
          <p:cNvPr id="173" name="" descr="{&quot;isTemplate&quot;:true,&quot;type&quot;:&quot;text&quot;}"/>
          <p:cNvSpPr txBox="1"/>
          <p:nvPr/>
        </p:nvSpPr>
        <p:spPr>
          <a:xfrm rot="0" flipH="0" flipV="0">
            <a:off x="8553450" y="2286000"/>
            <a:ext cx="1238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0B1220"/>
                </a:solidFill>
                <a:latin typeface="Microsoft YaHei"/>
                <a:ea typeface="Microsoft YaHei"/>
              </a:rPr>
              <a:t>3</a:t>
            </a:r>
            <a:endParaRPr/>
          </a:p>
        </p:txBody>
      </p:sp>
      <p:sp>
        <p:nvSpPr>
          <p:cNvPr id="174" name="" descr="{&quot;isTemplate&quot;:true,&quot;type&quot;:&quot;text&quot;}"/>
          <p:cNvSpPr txBox="1"/>
          <p:nvPr/>
        </p:nvSpPr>
        <p:spPr>
          <a:xfrm rot="0" flipH="0" flipV="0">
            <a:off x="8953500" y="2266950"/>
            <a:ext cx="9144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E2E8F0"/>
                </a:solidFill>
                <a:latin typeface="Microsoft YaHei"/>
                <a:ea typeface="Microsoft YaHei"/>
              </a:rPr>
              <a:t>知识流失</a:t>
            </a:r>
            <a:endParaRPr/>
          </a:p>
        </p:txBody>
      </p:sp>
      <p:sp>
        <p:nvSpPr>
          <p:cNvPr id="175" name="" descr="{&quot;isTemplate&quot;:true,&quot;type&quot;:&quot;text&quot;}"/>
          <p:cNvSpPr txBox="1"/>
          <p:nvPr/>
        </p:nvSpPr>
        <p:spPr>
          <a:xfrm rot="0" flipH="0" flipV="0">
            <a:off x="8382000" y="2819400"/>
            <a:ext cx="2971800" cy="31432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200">
                <a:solidFill>
                  <a:srgbClr val="CBD5E1"/>
                </a:solidFill>
                <a:latin typeface="Microsoft YaHei"/>
                <a:ea typeface="Microsoft YaHei"/>
              </a:rPr>
              <a:t>老师傅经验靠口口相传</a:t>
            </a:r>
            <a:endParaRPr/>
          </a:p>
        </p:txBody>
      </p:sp>
      <p:sp>
        <p:nvSpPr>
          <p:cNvPr id="176" name=""/>
          <p:cNvSpPr/>
          <p:nvPr/>
        </p:nvSpPr>
        <p:spPr>
          <a:xfrm rot="0" flipH="0" flipV="0">
            <a:off x="8382000" y="4791075"/>
            <a:ext cx="2971800" cy="742950"/>
          </a:xfrm>
          <a:prstGeom prst="roundRect">
            <a:avLst>
              <a:gd name="adj" fmla="val 7692"/>
            </a:avLst>
          </a:prstGeom>
          <a:solidFill>
            <a:srgbClr val="1E293B"/>
          </a:solidFill>
          <a:ln/>
        </p:spPr>
        <p:txBody>
          <a:bodyPr/>
          <a:p/>
        </p:txBody>
      </p:sp>
      <p:sp>
        <p:nvSpPr>
          <p:cNvPr id="177" name="" descr="{&quot;isTemplate&quot;:true,&quot;type&quot;:&quot;text&quot;}"/>
          <p:cNvSpPr txBox="1"/>
          <p:nvPr/>
        </p:nvSpPr>
        <p:spPr>
          <a:xfrm rot="0" flipH="0" flipV="0">
            <a:off x="8534400" y="4943475"/>
            <a:ext cx="26670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spc="75">
                <a:solidFill>
                  <a:srgbClr val="F43F5E"/>
                </a:solidFill>
                <a:latin typeface="Microsoft YaHei"/>
                <a:ea typeface="Microsoft YaHei"/>
              </a:rPr>
              <a:t>影响</a:t>
            </a:r>
            <a:endParaRPr/>
          </a:p>
        </p:txBody>
      </p:sp>
      <p:sp>
        <p:nvSpPr>
          <p:cNvPr id="178" name="" descr="{&quot;isTemplate&quot;:true,&quot;type&quot;:&quot;text&quot;}"/>
          <p:cNvSpPr txBox="1"/>
          <p:nvPr/>
        </p:nvSpPr>
        <p:spPr>
          <a:xfrm rot="0" flipH="0" flipV="0">
            <a:off x="8534400" y="5124450"/>
            <a:ext cx="2667000" cy="2571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050">
                <a:solidFill>
                  <a:srgbClr val="E2E8F0"/>
                </a:solidFill>
                <a:latin typeface="Microsoft YaHei"/>
                <a:ea typeface="Microsoft YaHei"/>
              </a:rPr>
              <a:t>人员流动即知识流失，故障反复发生</a:t>
            </a:r>
            <a:endParaRPr/>
          </a:p>
        </p:txBody>
      </p:sp>
      <p:sp>
        <p:nvSpPr>
          <p:cNvPr id="179" name="" descr="{&quot;isTemplate&quot;:true,&quot;type&quot;:&quot;text&quot;}"/>
          <p:cNvSpPr txBox="1"/>
          <p:nvPr/>
        </p:nvSpPr>
        <p:spPr>
          <a:xfrm rot="0" flipH="0" flipV="0">
            <a:off x="11268075" y="6524625"/>
            <a:ext cx="3905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475569"/>
                </a:solidFill>
                <a:latin typeface="Microsoft YaHei"/>
                <a:ea typeface="Microsoft YaHei"/>
              </a:rPr>
              <a:t>03 / 12</a:t>
            </a:r>
            <a:endParaRPr/>
          </a:p>
        </p:txBody>
      </p:sp>
    </p:spTree>
  </p:cSld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180" name="" descr="&lt;Slide style={{ width: '1280px', height: '720px', padding: '40px 56px', backgroundColor: '#0b1220' }}&gt;&#10;    &lt;Box style={{ display: 'flex', alignItems: 'center', marginBottom: '24px' }}&gt;&#10;      &lt;Text style={{ fontSize: '14px', color: '#06b6d4', letterSpacing: '3px' }}&gt;SOLUTION ARCHITECTURE&lt;/Text&gt;&#10;      &lt;Box style={{ flex: 1, height: '1px', backgroundColor: '#1e293b', marginLeft: '20px' }} /&gt;&#10;    &lt;/Box&gt;&#10;&#10;    &lt;Text style={{&#10;      fontSize: '36px', fontWeight: 'bold', color: '#e2e8f0', marginBottom: '8px',&#10;    }}&gt;&#10;      解决方案 · &lt;span style={{ color: '#06b6d4' }}&gt;单进程双形态&lt;/span&gt;&#10;    &lt;/Text&gt;&#10;    &lt;Text style={{ fontSize: '16px', color: '#94a3b8', marginBottom: '32px' }}&gt;&#10;      开发用 PGlite + npm run dev；生产用 PostgreSQL + Docker，一条命令切换&#10;    &lt;/Text&gt;&#10;&#10;    &lt;Box style={{ display: 'flex', flexDirection: 'column', gap: '12px', height: '440px' }}&gt;&#10;      {/* 第一层：浏览器 */}&#10;      &lt;Box style={{&#10;        padding: '20px', backgroundColor: '#0f172a', borderRadius: '6px',&#10;        borderLeft: '3px solid #06b6d4',&#10;      }}&gt;&#10;        &lt;Text style={{ fontSize: '13px', color: '#06b6d4', letterSpacing: '1px', marginBottom: '8px' }}&gt;&#10;          LAYER 1 · BROWSER&#10;        &lt;/Text&gt;&#10;        &lt;Box style={{ display: 'flex', gap: '12px' }}&gt;&#10;          {['React 19 + Vite 6', 'Tailwind 4 + motion 12', 'three.js 0.186 + VRM 3.5', 'Godot 4.7 Web 导出（3 套独立工程）'].map((t, i) =&gt; (&#10;            &lt;Box key={i} style={{ flex: 1, padding: '10px', backgroundColor: '#1e293b', borderRadius: '4px' }}&gt;&#10;              &lt;Text style={{ fontSize: '13px', color: '#e2e8f0' }}&gt;{t}&lt;/Text&gt;&#10;            &lt;/Box&gt;&#10;          ))}&#10;        &lt;/Box&gt;&#10;      &lt;/Box&gt;&#10;&#10;      {/* 箭头 */}&#10;      &lt;Text style={{ fontSize: '14px', color: '#06b6d4', textAlign: 'center' }}&gt;↓ HTTP / SSE / WebSocket&lt;/Text&gt;&#10;&#10;      {/* 第二层：Express */}&#10;      &lt;Box style={{&#10;        padding: '20px', backgroundColor: '#0f172a', borderRadius: '6px',&#10;        borderLeft: '3px solid #06b6d4',&#10;      }}&gt;&#10;        &lt;Text style={{ fontSize: '13px', color: '#06b6d4', letterSpacing: '1px', marginBottom: '8px' }}&gt;&#10;          LAYER 2 · EXPRESS API（src/server/index.ts）&#10;        &lt;/Text&gt;&#10;        &lt;Box style={{ display: 'flex', gap: '12px' }}&gt;&#10;          {['Helmet CSP + CORS + CSRF', 'globalAuthGuard + JWT', '20 个路由模块', 'AI 服务层（OpenAI SDK → DashScope 兼容端点）', 'SSE 流式输出'].map((t, i) =&gt; (&#10;            &lt;Box key={i} style={{ flex: 1, padding: '10px', backgroundColor: '#1e293b', borderRadius: '4px' }}&gt;&#10;              &lt;Text style={{ fontSize: '13px', color: '#e2e8f0' }}&gt;{t}&lt;/Text&gt;&#10;            &lt;/Box&gt;&#10;          ))}&#10;        &lt;/Box&gt;&#10;      &lt;/Box&gt;&#10;&#10;      &lt;Text style={{ fontSize: '14px', color: '#06b6d4', textAlign: 'center' }}&gt;↓ SQL（DatabaseAdapter 双模式）&lt;/Text&gt;&#10;&#10;      {/* 第三层：数据库 */}&#10;      &lt;Box style={{&#10;        padding: '20px', backgroundColor: '#0f172a', borderRadius: '6px',&#10;        borderLeft: '3px solid #f59e0b',&#10;      }}&gt;&#10;        &lt;Text style={{ fontSize: '13px', color: '#f59e0b', letterSpacing: '1px', marginBottom: '8px' }}&gt;&#10;          LAYER 3 · DATABASE（src/db/db.ts 通过 DB_TYPE 切换）&#10;        &lt;/Text&gt;&#10;        &lt;Box style={{ display: 'flex', gap: '12px' }}&gt;&#10;          &lt;Box style={{ flex: 1, padding: '10px', backgroundColor: '#1e293b', borderRadius: '4px' }}&gt;&#10;            &lt;Text style={{ fontSize: '13px', color: '#06b6d4' }}&gt;PGlite 0.5&lt;/Text&gt;&#10;            &lt;Text style={{ fontSize: '11px', color: '#94a3b8', marginTop: '2px' }}&gt;开发 / 测试 · WASM 内嵌&lt;/Text&gt;&#10;          &lt;/Box&gt;&#10;          &lt;Box style={{ flex: 1, padding: '10px', backgroundColor: '#1e293b', borderRadius: '4px' }}&gt;&#10;            &lt;Text style={{ fontSize: '13px', color: '#f59e0b' }}&gt;PostgreSQL 15 + pgvector&lt;/Text&gt;&#10;            &lt;Text style={{ fontSize: '11px', color: '#94a3b8', marginTop: '2px' }}&gt;生产 · 25 个幂等迁移&lt;/Text&gt;&#10;          &lt;/Box&gt;&#10;        &lt;/Box&gt;&#10;      &lt;/Box&gt;&#10;    &lt;/Box&gt;&#10;&#10;    &lt;Box style={{ position: 'absolute', bottom: '20px', right: '56px' }}&gt;&#10;      &lt;Text style={{ fontSize: '12px', color: '#475569' }}&gt;04 / 12&lt;/Text&gt;&#10;    &lt;/Box&gt;&#10;  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/>
        </p:spPr>
        <p:txBody>
          <a:bodyPr/>
          <a:p/>
        </p:txBody>
      </p:sp>
      <p:sp>
        <p:nvSpPr>
          <p:cNvPr id="182" name="" descr="{&quot;isTemplate&quot;:true,&quot;type&quot;:&quot;text&quot;}"/>
          <p:cNvSpPr txBox="1"/>
          <p:nvPr/>
        </p:nvSpPr>
        <p:spPr>
          <a:xfrm rot="0" flipH="0" flipV="0">
            <a:off x="533400" y="381000"/>
            <a:ext cx="2314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225">
                <a:solidFill>
                  <a:srgbClr val="06B6D4"/>
                </a:solidFill>
                <a:latin typeface="Microsoft YaHei"/>
                <a:ea typeface="Microsoft YaHei"/>
              </a:rPr>
              <a:t>SOLUTION ARCHITECTURE</a:t>
            </a:r>
            <a:endParaRPr/>
          </a:p>
        </p:txBody>
      </p:sp>
      <p:sp>
        <p:nvSpPr>
          <p:cNvPr id="183" name=""/>
          <p:cNvSpPr/>
          <p:nvPr/>
        </p:nvSpPr>
        <p:spPr>
          <a:xfrm rot="0" flipH="0" flipV="0">
            <a:off x="3038475" y="457200"/>
            <a:ext cx="8620125" cy="9525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p/>
        </p:txBody>
      </p:sp>
      <p:sp>
        <p:nvSpPr>
          <p:cNvPr id="184" name="" descr="{&quot;isTemplate&quot;:true,&quot;type&quot;:&quot;text&quot;}"/>
          <p:cNvSpPr txBox="1"/>
          <p:nvPr/>
        </p:nvSpPr>
        <p:spPr>
          <a:xfrm rot="0" flipH="0" flipV="0">
            <a:off x="533400" y="771525"/>
            <a:ext cx="11125200" cy="4191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700" b="1">
                <a:solidFill>
                  <a:srgbClr val="E2E8F0"/>
                </a:solidFill>
                <a:latin typeface="Microsoft YaHei"/>
                <a:ea typeface="Microsoft YaHei"/>
              </a:rPr>
              <a:t>解决方案</a:t>
            </a:r>
            <a:r>
              <a:rPr lang="en-US" sz="2700" b="1">
                <a:solidFill>
                  <a:srgbClr val="E2E8F0"/>
                </a:solidFill>
                <a:latin typeface="Microsoft YaHei"/>
                <a:ea typeface="Microsoft YaHei"/>
              </a:rPr>
              <a:t> · </a:t>
            </a:r>
            <a:r>
              <a:rPr lang="zh-CN" sz="2700" b="1">
                <a:solidFill>
                  <a:srgbClr val="06B6D4"/>
                </a:solidFill>
                <a:latin typeface="Microsoft YaHei"/>
                <a:ea typeface="Microsoft YaHei"/>
              </a:rPr>
              <a:t>单进程双形态</a:t>
            </a:r>
            <a:endParaRPr/>
          </a:p>
        </p:txBody>
      </p:sp>
      <p:sp>
        <p:nvSpPr>
          <p:cNvPr id="185" name="" descr="{&quot;isTemplate&quot;:true,&quot;type&quot;:&quot;text&quot;}"/>
          <p:cNvSpPr txBox="1"/>
          <p:nvPr/>
        </p:nvSpPr>
        <p:spPr>
          <a:xfrm rot="0" flipH="0" flipV="0">
            <a:off x="533400" y="1266825"/>
            <a:ext cx="111252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94A3B8"/>
                </a:solidFill>
                <a:latin typeface="Microsoft YaHei"/>
                <a:ea typeface="Microsoft YaHei"/>
              </a:rPr>
              <a:t>开发用</a:t>
            </a:r>
            <a:r>
              <a:rPr lang="en-US" sz="1200">
                <a:solidFill>
                  <a:srgbClr val="94A3B8"/>
                </a:solidFill>
                <a:latin typeface="Microsoft YaHei"/>
                <a:ea typeface="Microsoft YaHei"/>
              </a:rPr>
              <a:t> PGlite + npm run dev</a:t>
            </a:r>
            <a:r>
              <a:rPr lang="zh-CN" sz="1200">
                <a:solidFill>
                  <a:srgbClr val="94A3B8"/>
                </a:solidFill>
                <a:latin typeface="Microsoft YaHei"/>
                <a:ea typeface="Microsoft YaHei"/>
              </a:rPr>
              <a:t>；生产用</a:t>
            </a:r>
            <a:r>
              <a:rPr lang="en-US" sz="1200">
                <a:solidFill>
                  <a:srgbClr val="94A3B8"/>
                </a:solidFill>
                <a:latin typeface="Microsoft YaHei"/>
                <a:ea typeface="Microsoft YaHei"/>
              </a:rPr>
              <a:t> PostgreSQL + Docker</a:t>
            </a:r>
            <a:r>
              <a:rPr lang="zh-CN" sz="1200">
                <a:solidFill>
                  <a:srgbClr val="94A3B8"/>
                </a:solidFill>
                <a:latin typeface="Microsoft YaHei"/>
                <a:ea typeface="Microsoft YaHei"/>
              </a:rPr>
              <a:t>，一条命令切换</a:t>
            </a:r>
            <a:endParaRPr/>
          </a:p>
        </p:txBody>
      </p:sp>
      <p:sp>
        <p:nvSpPr>
          <p:cNvPr id="186" name=""/>
          <p:cNvSpPr/>
          <p:nvPr/>
        </p:nvSpPr>
        <p:spPr>
          <a:xfrm rot="0" flipH="0" flipV="0">
            <a:off x="561975" y="1762125"/>
            <a:ext cx="11125200" cy="952500"/>
          </a:xfrm>
          <a:prstGeom prst="roundRect">
            <a:avLst>
              <a:gd name="adj" fmla="val 6000"/>
            </a:avLst>
          </a:prstGeom>
          <a:solidFill>
            <a:srgbClr val="0F172A"/>
          </a:solidFill>
          <a:ln/>
        </p:spPr>
        <p:txBody>
          <a:bodyPr/>
          <a:p/>
        </p:txBody>
      </p:sp>
      <p:sp>
        <p:nvSpPr>
          <p:cNvPr id="187" name=""/>
          <p:cNvSpPr/>
          <p:nvPr/>
        </p:nvSpPr>
        <p:spPr>
          <a:xfrm rot="0" flipH="0" flipV="0">
            <a:off x="561975" y="1762125"/>
            <a:ext cx="11125200" cy="952500"/>
          </a:xfrm>
          <a:custGeom>
            <a:pathLst>
              <a:path w="1168" h="100">
                <a:moveTo>
                  <a:pt x="6" y="0"/>
                </a:moveTo>
                <a:cubicBezTo>
                  <a:pt x="4" y="0"/>
                  <a:pt x="3" y="1"/>
                  <a:pt x="3" y="3"/>
                </a:cubicBezTo>
                <a:lnTo>
                  <a:pt x="3" y="97"/>
                </a:lnTo>
                <a:cubicBezTo>
                  <a:pt x="3" y="98"/>
                  <a:pt x="4" y="100"/>
                  <a:pt x="5" y="100"/>
                </a:cubicBezTo>
                <a:cubicBezTo>
                  <a:pt x="2" y="100"/>
                  <a:pt x="0" y="97"/>
                  <a:pt x="0" y="94"/>
                </a:cubicBezTo>
                <a:lnTo>
                  <a:pt x="0" y="6"/>
                </a:lnTo>
                <a:cubicBezTo>
                  <a:pt x="0" y="3"/>
                  <a:pt x="3" y="0"/>
                  <a:pt x="6" y="0"/>
                </a:cubicBezTo>
                <a:close/>
              </a:path>
            </a:pathLst>
          </a:custGeom>
          <a:solidFill>
            <a:srgbClr val="06B6D4"/>
          </a:solidFill>
          <a:ln/>
        </p:spPr>
        <p:txBody>
          <a:bodyPr/>
          <a:p/>
        </p:txBody>
      </p:sp>
      <p:sp>
        <p:nvSpPr>
          <p:cNvPr id="188" name="" descr="{&quot;isTemplate&quot;:true,&quot;type&quot;:&quot;text&quot;}"/>
          <p:cNvSpPr txBox="1"/>
          <p:nvPr/>
        </p:nvSpPr>
        <p:spPr>
          <a:xfrm rot="0" flipH="0" flipV="0">
            <a:off x="752475" y="1952625"/>
            <a:ext cx="107156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spc="75">
                <a:solidFill>
                  <a:srgbClr val="06B6D4"/>
                </a:solidFill>
                <a:latin typeface="Microsoft YaHei"/>
                <a:ea typeface="Microsoft YaHei"/>
              </a:rPr>
              <a:t>LAYER 1 · BROWSER</a:t>
            </a:r>
            <a:endParaRPr/>
          </a:p>
        </p:txBody>
      </p:sp>
      <p:sp>
        <p:nvSpPr>
          <p:cNvPr id="189" name=""/>
          <p:cNvSpPr/>
          <p:nvPr/>
        </p:nvSpPr>
        <p:spPr>
          <a:xfrm rot="0" flipH="0" flipV="0">
            <a:off x="752475" y="2181225"/>
            <a:ext cx="2590800" cy="342900"/>
          </a:xfrm>
          <a:prstGeom prst="roundRect">
            <a:avLst>
              <a:gd name="adj" fmla="val 11111"/>
            </a:avLst>
          </a:prstGeom>
          <a:solidFill>
            <a:srgbClr val="1E293B"/>
          </a:solidFill>
          <a:ln/>
        </p:spPr>
        <p:txBody>
          <a:bodyPr/>
          <a:p/>
        </p:txBody>
      </p:sp>
      <p:sp>
        <p:nvSpPr>
          <p:cNvPr id="190" name="" descr="{&quot;isTemplate&quot;:true,&quot;type&quot;:&quot;text&quot;}"/>
          <p:cNvSpPr txBox="1"/>
          <p:nvPr/>
        </p:nvSpPr>
        <p:spPr>
          <a:xfrm rot="0" flipH="0" flipV="0">
            <a:off x="847725" y="2276475"/>
            <a:ext cx="24003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E2E8F0"/>
                </a:solidFill>
                <a:latin typeface="Microsoft YaHei"/>
                <a:ea typeface="Microsoft YaHei"/>
              </a:rPr>
              <a:t>React 19 + Vite 6</a:t>
            </a:r>
            <a:endParaRPr/>
          </a:p>
        </p:txBody>
      </p:sp>
      <p:sp>
        <p:nvSpPr>
          <p:cNvPr id="191" name=""/>
          <p:cNvSpPr/>
          <p:nvPr/>
        </p:nvSpPr>
        <p:spPr>
          <a:xfrm rot="0" flipH="0" flipV="0">
            <a:off x="3457575" y="2181225"/>
            <a:ext cx="2600325" cy="342900"/>
          </a:xfrm>
          <a:prstGeom prst="roundRect">
            <a:avLst>
              <a:gd name="adj" fmla="val 11111"/>
            </a:avLst>
          </a:prstGeom>
          <a:solidFill>
            <a:srgbClr val="1E293B"/>
          </a:solidFill>
          <a:ln/>
        </p:spPr>
        <p:txBody>
          <a:bodyPr/>
          <a:p/>
        </p:txBody>
      </p:sp>
      <p:sp>
        <p:nvSpPr>
          <p:cNvPr id="192" name="" descr="{&quot;isTemplate&quot;:true,&quot;type&quot;:&quot;text&quot;}"/>
          <p:cNvSpPr txBox="1"/>
          <p:nvPr/>
        </p:nvSpPr>
        <p:spPr>
          <a:xfrm rot="0" flipH="0" flipV="0">
            <a:off x="3552825" y="2276475"/>
            <a:ext cx="24098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E2E8F0"/>
                </a:solidFill>
                <a:latin typeface="Microsoft YaHei"/>
                <a:ea typeface="Microsoft YaHei"/>
              </a:rPr>
              <a:t>Tailwind 4 + motion 12</a:t>
            </a:r>
            <a:endParaRPr/>
          </a:p>
        </p:txBody>
      </p:sp>
      <p:sp>
        <p:nvSpPr>
          <p:cNvPr id="193" name=""/>
          <p:cNvSpPr/>
          <p:nvPr/>
        </p:nvSpPr>
        <p:spPr>
          <a:xfrm rot="0" flipH="0" flipV="0">
            <a:off x="6172200" y="2181225"/>
            <a:ext cx="2590800" cy="342900"/>
          </a:xfrm>
          <a:prstGeom prst="roundRect">
            <a:avLst>
              <a:gd name="adj" fmla="val 11111"/>
            </a:avLst>
          </a:prstGeom>
          <a:solidFill>
            <a:srgbClr val="1E293B"/>
          </a:solidFill>
          <a:ln/>
        </p:spPr>
        <p:txBody>
          <a:bodyPr/>
          <a:p/>
        </p:txBody>
      </p:sp>
      <p:sp>
        <p:nvSpPr>
          <p:cNvPr id="194" name="" descr="{&quot;isTemplate&quot;:true,&quot;type&quot;:&quot;text&quot;}"/>
          <p:cNvSpPr txBox="1"/>
          <p:nvPr/>
        </p:nvSpPr>
        <p:spPr>
          <a:xfrm rot="0" flipH="0" flipV="0">
            <a:off x="6267450" y="2276475"/>
            <a:ext cx="24003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E2E8F0"/>
                </a:solidFill>
                <a:latin typeface="Microsoft YaHei"/>
                <a:ea typeface="Microsoft YaHei"/>
              </a:rPr>
              <a:t>three.js 0.186 + VRM 3.5</a:t>
            </a:r>
            <a:endParaRPr/>
          </a:p>
        </p:txBody>
      </p:sp>
      <p:sp>
        <p:nvSpPr>
          <p:cNvPr id="195" name=""/>
          <p:cNvSpPr/>
          <p:nvPr/>
        </p:nvSpPr>
        <p:spPr>
          <a:xfrm rot="0" flipH="0" flipV="0">
            <a:off x="8877300" y="2181225"/>
            <a:ext cx="2590800" cy="342900"/>
          </a:xfrm>
          <a:prstGeom prst="roundRect">
            <a:avLst>
              <a:gd name="adj" fmla="val 11111"/>
            </a:avLst>
          </a:prstGeom>
          <a:solidFill>
            <a:srgbClr val="1E293B"/>
          </a:solidFill>
          <a:ln/>
        </p:spPr>
        <p:txBody>
          <a:bodyPr/>
          <a:p/>
        </p:txBody>
      </p:sp>
      <p:sp>
        <p:nvSpPr>
          <p:cNvPr id="196" name="" descr="{&quot;isTemplate&quot;:true,&quot;type&quot;:&quot;text&quot;}"/>
          <p:cNvSpPr txBox="1"/>
          <p:nvPr/>
        </p:nvSpPr>
        <p:spPr>
          <a:xfrm rot="0" flipH="0" flipV="0">
            <a:off x="8972550" y="2276475"/>
            <a:ext cx="24003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E2E8F0"/>
                </a:solidFill>
                <a:latin typeface="Microsoft YaHei"/>
                <a:ea typeface="Microsoft YaHei"/>
              </a:rPr>
              <a:t>Godot 4.7 Web </a:t>
            </a:r>
            <a:r>
              <a:rPr lang="zh-CN" sz="975">
                <a:solidFill>
                  <a:srgbClr val="E2E8F0"/>
                </a:solidFill>
                <a:latin typeface="Microsoft YaHei"/>
                <a:ea typeface="Microsoft YaHei"/>
              </a:rPr>
              <a:t>导出（</a:t>
            </a:r>
            <a:r>
              <a:rPr lang="en-US" sz="975">
                <a:solidFill>
                  <a:srgbClr val="E2E8F0"/>
                </a:solidFill>
                <a:latin typeface="Microsoft YaHei"/>
                <a:ea typeface="Microsoft YaHei"/>
              </a:rPr>
              <a:t>3 </a:t>
            </a:r>
            <a:r>
              <a:rPr lang="zh-CN" sz="975">
                <a:solidFill>
                  <a:srgbClr val="E2E8F0"/>
                </a:solidFill>
                <a:latin typeface="Microsoft YaHei"/>
                <a:ea typeface="Microsoft YaHei"/>
              </a:rPr>
              <a:t>套独立工程）</a:t>
            </a:r>
            <a:endParaRPr/>
          </a:p>
        </p:txBody>
      </p:sp>
      <p:sp>
        <p:nvSpPr>
          <p:cNvPr id="197" name="" descr="{&quot;isTemplate&quot;:true,&quot;type&quot;:&quot;text&quot;}"/>
          <p:cNvSpPr txBox="1"/>
          <p:nvPr/>
        </p:nvSpPr>
        <p:spPr>
          <a:xfrm rot="0" flipH="0" flipV="0">
            <a:off x="533400" y="2828925"/>
            <a:ext cx="11125200" cy="16192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1050">
                <a:solidFill>
                  <a:srgbClr val="06B6D4"/>
                </a:solidFill>
                <a:latin typeface="Microsoft YaHei"/>
                <a:ea typeface="Microsoft YaHei"/>
              </a:rPr>
              <a:t>↓ HTTP / SSE / WebSocket</a:t>
            </a:r>
            <a:endParaRPr/>
          </a:p>
        </p:txBody>
      </p:sp>
      <p:sp>
        <p:nvSpPr>
          <p:cNvPr id="198" name=""/>
          <p:cNvSpPr/>
          <p:nvPr/>
        </p:nvSpPr>
        <p:spPr>
          <a:xfrm rot="0" flipH="0" flipV="0">
            <a:off x="561975" y="3105150"/>
            <a:ext cx="11125200" cy="1104900"/>
          </a:xfrm>
          <a:prstGeom prst="roundRect">
            <a:avLst>
              <a:gd name="adj" fmla="val 5172"/>
            </a:avLst>
          </a:prstGeom>
          <a:solidFill>
            <a:srgbClr val="0F172A"/>
          </a:solidFill>
          <a:ln/>
        </p:spPr>
        <p:txBody>
          <a:bodyPr/>
          <a:p/>
        </p:txBody>
      </p:sp>
      <p:sp>
        <p:nvSpPr>
          <p:cNvPr id="199" name=""/>
          <p:cNvSpPr/>
          <p:nvPr/>
        </p:nvSpPr>
        <p:spPr>
          <a:xfrm rot="0" flipH="0" flipV="0">
            <a:off x="561975" y="3105150"/>
            <a:ext cx="11125200" cy="1104900"/>
          </a:xfrm>
          <a:custGeom>
            <a:pathLst>
              <a:path w="1168" h="116">
                <a:moveTo>
                  <a:pt x="6" y="0"/>
                </a:moveTo>
                <a:cubicBezTo>
                  <a:pt x="4" y="0"/>
                  <a:pt x="3" y="1"/>
                  <a:pt x="3" y="3"/>
                </a:cubicBezTo>
                <a:lnTo>
                  <a:pt x="3" y="113"/>
                </a:lnTo>
                <a:cubicBezTo>
                  <a:pt x="3" y="114"/>
                  <a:pt x="4" y="116"/>
                  <a:pt x="5" y="116"/>
                </a:cubicBezTo>
                <a:cubicBezTo>
                  <a:pt x="2" y="116"/>
                  <a:pt x="0" y="113"/>
                  <a:pt x="0" y="110"/>
                </a:cubicBezTo>
                <a:lnTo>
                  <a:pt x="0" y="6"/>
                </a:lnTo>
                <a:cubicBezTo>
                  <a:pt x="0" y="3"/>
                  <a:pt x="3" y="0"/>
                  <a:pt x="6" y="0"/>
                </a:cubicBezTo>
                <a:close/>
              </a:path>
            </a:pathLst>
          </a:custGeom>
          <a:solidFill>
            <a:srgbClr val="06B6D4"/>
          </a:solidFill>
          <a:ln/>
        </p:spPr>
        <p:txBody>
          <a:bodyPr/>
          <a:p/>
        </p:txBody>
      </p:sp>
      <p:sp>
        <p:nvSpPr>
          <p:cNvPr id="200" name="" descr="{&quot;isTemplate&quot;:true,&quot;type&quot;:&quot;text&quot;}"/>
          <p:cNvSpPr txBox="1"/>
          <p:nvPr/>
        </p:nvSpPr>
        <p:spPr>
          <a:xfrm rot="0" flipH="0" flipV="0">
            <a:off x="752475" y="3295650"/>
            <a:ext cx="107156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spc="75">
                <a:solidFill>
                  <a:srgbClr val="06B6D4"/>
                </a:solidFill>
                <a:latin typeface="Microsoft YaHei"/>
                <a:ea typeface="Microsoft YaHei"/>
              </a:rPr>
              <a:t>LAYER 2 · EXPRESS API</a:t>
            </a:r>
            <a:r>
              <a:rPr lang="zh-CN" sz="975" spc="75">
                <a:solidFill>
                  <a:srgbClr val="06B6D4"/>
                </a:solidFill>
                <a:latin typeface="Microsoft YaHei"/>
                <a:ea typeface="Microsoft YaHei"/>
              </a:rPr>
              <a:t>（</a:t>
            </a:r>
            <a:r>
              <a:rPr lang="en-US" sz="975" spc="75">
                <a:solidFill>
                  <a:srgbClr val="06B6D4"/>
                </a:solidFill>
                <a:latin typeface="Microsoft YaHei"/>
                <a:ea typeface="Microsoft YaHei"/>
              </a:rPr>
              <a:t>src/server/index.ts</a:t>
            </a:r>
            <a:r>
              <a:rPr lang="zh-CN" sz="975" spc="75">
                <a:solidFill>
                  <a:srgbClr val="06B6D4"/>
                </a:solidFill>
                <a:latin typeface="Microsoft YaHei"/>
                <a:ea typeface="Microsoft YaHei"/>
              </a:rPr>
              <a:t>）</a:t>
            </a:r>
            <a:endParaRPr/>
          </a:p>
        </p:txBody>
      </p:sp>
      <p:sp>
        <p:nvSpPr>
          <p:cNvPr id="201" name=""/>
          <p:cNvSpPr/>
          <p:nvPr/>
        </p:nvSpPr>
        <p:spPr>
          <a:xfrm rot="0" flipH="0" flipV="0">
            <a:off x="752475" y="3524250"/>
            <a:ext cx="2047875" cy="495300"/>
          </a:xfrm>
          <a:prstGeom prst="roundRect">
            <a:avLst>
              <a:gd name="adj" fmla="val 7692"/>
            </a:avLst>
          </a:prstGeom>
          <a:solidFill>
            <a:srgbClr val="1E293B"/>
          </a:solidFill>
          <a:ln/>
        </p:spPr>
        <p:txBody>
          <a:bodyPr/>
          <a:p/>
        </p:txBody>
      </p:sp>
      <p:sp>
        <p:nvSpPr>
          <p:cNvPr id="202" name="" descr="{&quot;isTemplate&quot;:true,&quot;type&quot;:&quot;text&quot;}"/>
          <p:cNvSpPr txBox="1"/>
          <p:nvPr/>
        </p:nvSpPr>
        <p:spPr>
          <a:xfrm rot="0" flipH="0" flipV="0">
            <a:off x="847725" y="3619500"/>
            <a:ext cx="18573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E2E8F0"/>
                </a:solidFill>
                <a:latin typeface="Microsoft YaHei"/>
                <a:ea typeface="Microsoft YaHei"/>
              </a:rPr>
              <a:t>Helmet CSP + CORS + CSRF</a:t>
            </a:r>
            <a:endParaRPr/>
          </a:p>
        </p:txBody>
      </p:sp>
      <p:sp>
        <p:nvSpPr>
          <p:cNvPr id="203" name=""/>
          <p:cNvSpPr/>
          <p:nvPr/>
        </p:nvSpPr>
        <p:spPr>
          <a:xfrm rot="0" flipH="0" flipV="0">
            <a:off x="2914650" y="3524250"/>
            <a:ext cx="2057400" cy="495300"/>
          </a:xfrm>
          <a:prstGeom prst="roundRect">
            <a:avLst>
              <a:gd name="adj" fmla="val 7692"/>
            </a:avLst>
          </a:prstGeom>
          <a:solidFill>
            <a:srgbClr val="1E293B"/>
          </a:solidFill>
          <a:ln/>
        </p:spPr>
        <p:txBody>
          <a:bodyPr/>
          <a:p/>
        </p:txBody>
      </p:sp>
      <p:sp>
        <p:nvSpPr>
          <p:cNvPr id="204" name="" descr="{&quot;isTemplate&quot;:true,&quot;type&quot;:&quot;text&quot;}"/>
          <p:cNvSpPr txBox="1"/>
          <p:nvPr/>
        </p:nvSpPr>
        <p:spPr>
          <a:xfrm rot="0" flipH="0" flipV="0">
            <a:off x="3009900" y="3619500"/>
            <a:ext cx="18669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E2E8F0"/>
                </a:solidFill>
                <a:latin typeface="Microsoft YaHei"/>
                <a:ea typeface="Microsoft YaHei"/>
              </a:rPr>
              <a:t>globalAuthGuard + JWT</a:t>
            </a:r>
            <a:endParaRPr/>
          </a:p>
        </p:txBody>
      </p:sp>
      <p:sp>
        <p:nvSpPr>
          <p:cNvPr id="205" name=""/>
          <p:cNvSpPr/>
          <p:nvPr/>
        </p:nvSpPr>
        <p:spPr>
          <a:xfrm rot="0" flipH="0" flipV="0">
            <a:off x="5086350" y="3524250"/>
            <a:ext cx="2047875" cy="495300"/>
          </a:xfrm>
          <a:prstGeom prst="roundRect">
            <a:avLst>
              <a:gd name="adj" fmla="val 7692"/>
            </a:avLst>
          </a:prstGeom>
          <a:solidFill>
            <a:srgbClr val="1E293B"/>
          </a:solidFill>
          <a:ln/>
        </p:spPr>
        <p:txBody>
          <a:bodyPr/>
          <a:p/>
        </p:txBody>
      </p:sp>
      <p:sp>
        <p:nvSpPr>
          <p:cNvPr id="206" name="" descr="{&quot;isTemplate&quot;:true,&quot;type&quot;:&quot;text&quot;}"/>
          <p:cNvSpPr txBox="1"/>
          <p:nvPr/>
        </p:nvSpPr>
        <p:spPr>
          <a:xfrm rot="0" flipH="0" flipV="0">
            <a:off x="5181600" y="3619500"/>
            <a:ext cx="18573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E2E8F0"/>
                </a:solidFill>
                <a:latin typeface="Microsoft YaHei"/>
                <a:ea typeface="Microsoft YaHei"/>
              </a:rPr>
              <a:t>20 </a:t>
            </a:r>
            <a:r>
              <a:rPr lang="zh-CN" sz="975">
                <a:solidFill>
                  <a:srgbClr val="E2E8F0"/>
                </a:solidFill>
                <a:latin typeface="Microsoft YaHei"/>
                <a:ea typeface="Microsoft YaHei"/>
              </a:rPr>
              <a:t>个路由模块</a:t>
            </a:r>
            <a:endParaRPr/>
          </a:p>
        </p:txBody>
      </p:sp>
      <p:sp>
        <p:nvSpPr>
          <p:cNvPr id="207" name=""/>
          <p:cNvSpPr/>
          <p:nvPr/>
        </p:nvSpPr>
        <p:spPr>
          <a:xfrm rot="0" flipH="0" flipV="0">
            <a:off x="7248525" y="3524250"/>
            <a:ext cx="2057400" cy="495300"/>
          </a:xfrm>
          <a:prstGeom prst="roundRect">
            <a:avLst>
              <a:gd name="adj" fmla="val 7692"/>
            </a:avLst>
          </a:prstGeom>
          <a:solidFill>
            <a:srgbClr val="1E293B"/>
          </a:solidFill>
          <a:ln/>
        </p:spPr>
        <p:txBody>
          <a:bodyPr/>
          <a:p/>
        </p:txBody>
      </p:sp>
      <p:sp>
        <p:nvSpPr>
          <p:cNvPr id="208" name="" descr="{&quot;isTemplate&quot;:true,&quot;type&quot;:&quot;text&quot;}"/>
          <p:cNvSpPr txBox="1"/>
          <p:nvPr/>
        </p:nvSpPr>
        <p:spPr>
          <a:xfrm rot="0" flipH="0" flipV="0">
            <a:off x="7343775" y="3619500"/>
            <a:ext cx="1866900" cy="3048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00000"/>
              </a:lnSpc>
            </a:pPr>
            <a:r>
              <a:rPr lang="en-US" sz="975">
                <a:solidFill>
                  <a:srgbClr val="E2E8F0"/>
                </a:solidFill>
                <a:latin typeface="Microsoft YaHei"/>
                <a:ea typeface="Microsoft YaHei"/>
              </a:rPr>
              <a:t>AI </a:t>
            </a:r>
            <a:r>
              <a:rPr lang="zh-CN" sz="975">
                <a:solidFill>
                  <a:srgbClr val="E2E8F0"/>
                </a:solidFill>
                <a:latin typeface="Microsoft YaHei"/>
                <a:ea typeface="Microsoft YaHei"/>
              </a:rPr>
              <a:t>服务层（</a:t>
            </a:r>
            <a:r>
              <a:rPr lang="en-US" sz="975">
                <a:solidFill>
                  <a:srgbClr val="E2E8F0"/>
                </a:solidFill>
                <a:latin typeface="Microsoft YaHei"/>
                <a:ea typeface="Microsoft YaHei"/>
              </a:rPr>
              <a:t>OpenAI SDK → DashScope </a:t>
            </a:r>
            <a:r>
              <a:rPr lang="zh-CN" sz="975">
                <a:solidFill>
                  <a:srgbClr val="E2E8F0"/>
                </a:solidFill>
                <a:latin typeface="Microsoft YaHei"/>
                <a:ea typeface="Microsoft YaHei"/>
              </a:rPr>
              <a:t>兼容端点）</a:t>
            </a:r>
            <a:endParaRPr/>
          </a:p>
        </p:txBody>
      </p:sp>
      <p:sp>
        <p:nvSpPr>
          <p:cNvPr id="209" name=""/>
          <p:cNvSpPr/>
          <p:nvPr/>
        </p:nvSpPr>
        <p:spPr>
          <a:xfrm rot="0" flipH="0" flipV="0">
            <a:off x="9420225" y="3524250"/>
            <a:ext cx="2047875" cy="495300"/>
          </a:xfrm>
          <a:prstGeom prst="roundRect">
            <a:avLst>
              <a:gd name="adj" fmla="val 7692"/>
            </a:avLst>
          </a:prstGeom>
          <a:solidFill>
            <a:srgbClr val="1E293B"/>
          </a:solidFill>
          <a:ln/>
        </p:spPr>
        <p:txBody>
          <a:bodyPr/>
          <a:p/>
        </p:txBody>
      </p:sp>
      <p:sp>
        <p:nvSpPr>
          <p:cNvPr id="210" name="" descr="{&quot;isTemplate&quot;:true,&quot;type&quot;:&quot;text&quot;}"/>
          <p:cNvSpPr txBox="1"/>
          <p:nvPr/>
        </p:nvSpPr>
        <p:spPr>
          <a:xfrm rot="0" flipH="0" flipV="0">
            <a:off x="9515475" y="3619500"/>
            <a:ext cx="18573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E2E8F0"/>
                </a:solidFill>
                <a:latin typeface="Microsoft YaHei"/>
                <a:ea typeface="Microsoft YaHei"/>
              </a:rPr>
              <a:t>SSE </a:t>
            </a:r>
            <a:r>
              <a:rPr lang="zh-CN" sz="975">
                <a:solidFill>
                  <a:srgbClr val="E2E8F0"/>
                </a:solidFill>
                <a:latin typeface="Microsoft YaHei"/>
                <a:ea typeface="Microsoft YaHei"/>
              </a:rPr>
              <a:t>流式输出</a:t>
            </a:r>
            <a:endParaRPr/>
          </a:p>
        </p:txBody>
      </p:sp>
      <p:sp>
        <p:nvSpPr>
          <p:cNvPr id="211" name="" descr="{&quot;isTemplate&quot;:true,&quot;type&quot;:&quot;text&quot;}"/>
          <p:cNvSpPr txBox="1"/>
          <p:nvPr/>
        </p:nvSpPr>
        <p:spPr>
          <a:xfrm rot="0" flipH="0" flipV="0">
            <a:off x="533400" y="4324350"/>
            <a:ext cx="11125200" cy="16192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1050">
                <a:solidFill>
                  <a:srgbClr val="06B6D4"/>
                </a:solidFill>
                <a:latin typeface="Microsoft YaHei"/>
                <a:ea typeface="Microsoft YaHei"/>
              </a:rPr>
              <a:t>↓ SQL</a:t>
            </a:r>
            <a:r>
              <a:rPr lang="zh-CN" sz="1050">
                <a:solidFill>
                  <a:srgbClr val="06B6D4"/>
                </a:solidFill>
                <a:latin typeface="Microsoft YaHei"/>
                <a:ea typeface="Microsoft YaHei"/>
              </a:rPr>
              <a:t>（</a:t>
            </a:r>
            <a:r>
              <a:rPr lang="en-US" sz="1050">
                <a:solidFill>
                  <a:srgbClr val="06B6D4"/>
                </a:solidFill>
                <a:latin typeface="Microsoft YaHei"/>
                <a:ea typeface="Microsoft YaHei"/>
              </a:rPr>
              <a:t>DatabaseAdapter </a:t>
            </a:r>
            <a:r>
              <a:rPr lang="zh-CN" sz="1050">
                <a:solidFill>
                  <a:srgbClr val="06B6D4"/>
                </a:solidFill>
                <a:latin typeface="Microsoft YaHei"/>
                <a:ea typeface="Microsoft YaHei"/>
              </a:rPr>
              <a:t>双模式）</a:t>
            </a:r>
            <a:endParaRPr/>
          </a:p>
        </p:txBody>
      </p:sp>
      <p:sp>
        <p:nvSpPr>
          <p:cNvPr id="212" name=""/>
          <p:cNvSpPr/>
          <p:nvPr/>
        </p:nvSpPr>
        <p:spPr>
          <a:xfrm rot="0" flipH="0" flipV="0">
            <a:off x="561975" y="4600575"/>
            <a:ext cx="11125200" cy="1104900"/>
          </a:xfrm>
          <a:prstGeom prst="roundRect">
            <a:avLst>
              <a:gd name="adj" fmla="val 5172"/>
            </a:avLst>
          </a:prstGeom>
          <a:solidFill>
            <a:srgbClr val="0F172A"/>
          </a:solidFill>
          <a:ln/>
        </p:spPr>
        <p:txBody>
          <a:bodyPr/>
          <a:p/>
        </p:txBody>
      </p:sp>
      <p:sp>
        <p:nvSpPr>
          <p:cNvPr id="213" name=""/>
          <p:cNvSpPr/>
          <p:nvPr/>
        </p:nvSpPr>
        <p:spPr>
          <a:xfrm rot="0" flipH="0" flipV="0">
            <a:off x="561975" y="4600575"/>
            <a:ext cx="11125200" cy="1104900"/>
          </a:xfrm>
          <a:custGeom>
            <a:pathLst>
              <a:path w="1168" h="116">
                <a:moveTo>
                  <a:pt x="6" y="0"/>
                </a:moveTo>
                <a:cubicBezTo>
                  <a:pt x="4" y="0"/>
                  <a:pt x="3" y="1"/>
                  <a:pt x="3" y="3"/>
                </a:cubicBezTo>
                <a:lnTo>
                  <a:pt x="3" y="113"/>
                </a:lnTo>
                <a:cubicBezTo>
                  <a:pt x="3" y="114"/>
                  <a:pt x="4" y="116"/>
                  <a:pt x="5" y="116"/>
                </a:cubicBezTo>
                <a:cubicBezTo>
                  <a:pt x="2" y="116"/>
                  <a:pt x="0" y="113"/>
                  <a:pt x="0" y="110"/>
                </a:cubicBezTo>
                <a:lnTo>
                  <a:pt x="0" y="6"/>
                </a:lnTo>
                <a:cubicBezTo>
                  <a:pt x="0" y="3"/>
                  <a:pt x="3" y="0"/>
                  <a:pt x="6" y="0"/>
                </a:cubicBezTo>
                <a:close/>
              </a:path>
            </a:pathLst>
          </a:custGeom>
          <a:solidFill>
            <a:srgbClr val="F59E0B"/>
          </a:solidFill>
          <a:ln/>
        </p:spPr>
        <p:txBody>
          <a:bodyPr/>
          <a:p/>
        </p:txBody>
      </p:sp>
      <p:sp>
        <p:nvSpPr>
          <p:cNvPr id="214" name="" descr="{&quot;isTemplate&quot;:true,&quot;type&quot;:&quot;text&quot;}"/>
          <p:cNvSpPr txBox="1"/>
          <p:nvPr/>
        </p:nvSpPr>
        <p:spPr>
          <a:xfrm rot="0" flipH="0" flipV="0">
            <a:off x="752475" y="4791075"/>
            <a:ext cx="107156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spc="75">
                <a:solidFill>
                  <a:srgbClr val="F59E0B"/>
                </a:solidFill>
                <a:latin typeface="Microsoft YaHei"/>
                <a:ea typeface="Microsoft YaHei"/>
              </a:rPr>
              <a:t>LAYER 3 · DATABASE</a:t>
            </a:r>
            <a:r>
              <a:rPr lang="zh-CN" sz="975" spc="75">
                <a:solidFill>
                  <a:srgbClr val="F59E0B"/>
                </a:solidFill>
                <a:latin typeface="Microsoft YaHei"/>
                <a:ea typeface="Microsoft YaHei"/>
              </a:rPr>
              <a:t>（</a:t>
            </a:r>
            <a:r>
              <a:rPr lang="en-US" sz="975" spc="75">
                <a:solidFill>
                  <a:srgbClr val="F59E0B"/>
                </a:solidFill>
                <a:latin typeface="Microsoft YaHei"/>
                <a:ea typeface="Microsoft YaHei"/>
              </a:rPr>
              <a:t>src/db/db.ts </a:t>
            </a:r>
            <a:r>
              <a:rPr lang="zh-CN" sz="975" spc="75">
                <a:solidFill>
                  <a:srgbClr val="F59E0B"/>
                </a:solidFill>
                <a:latin typeface="Microsoft YaHei"/>
                <a:ea typeface="Microsoft YaHei"/>
              </a:rPr>
              <a:t>通过</a:t>
            </a:r>
            <a:r>
              <a:rPr lang="en-US" sz="975" spc="75">
                <a:solidFill>
                  <a:srgbClr val="F59E0B"/>
                </a:solidFill>
                <a:latin typeface="Microsoft YaHei"/>
                <a:ea typeface="Microsoft YaHei"/>
              </a:rPr>
              <a:t> DB_TYPE </a:t>
            </a:r>
            <a:r>
              <a:rPr lang="zh-CN" sz="975" spc="75">
                <a:solidFill>
                  <a:srgbClr val="F59E0B"/>
                </a:solidFill>
                <a:latin typeface="Microsoft YaHei"/>
                <a:ea typeface="Microsoft YaHei"/>
              </a:rPr>
              <a:t>切换）</a:t>
            </a:r>
            <a:endParaRPr/>
          </a:p>
        </p:txBody>
      </p:sp>
      <p:sp>
        <p:nvSpPr>
          <p:cNvPr id="215" name=""/>
          <p:cNvSpPr/>
          <p:nvPr/>
        </p:nvSpPr>
        <p:spPr>
          <a:xfrm rot="0" flipH="0" flipV="0">
            <a:off x="752475" y="5019675"/>
            <a:ext cx="5305425" cy="495300"/>
          </a:xfrm>
          <a:prstGeom prst="roundRect">
            <a:avLst>
              <a:gd name="adj" fmla="val 7692"/>
            </a:avLst>
          </a:prstGeom>
          <a:solidFill>
            <a:srgbClr val="1E293B"/>
          </a:solidFill>
          <a:ln/>
        </p:spPr>
        <p:txBody>
          <a:bodyPr/>
          <a:p/>
        </p:txBody>
      </p:sp>
      <p:sp>
        <p:nvSpPr>
          <p:cNvPr id="216" name="" descr="{&quot;isTemplate&quot;:true,&quot;type&quot;:&quot;text&quot;}"/>
          <p:cNvSpPr txBox="1"/>
          <p:nvPr/>
        </p:nvSpPr>
        <p:spPr>
          <a:xfrm rot="0" flipH="0" flipV="0">
            <a:off x="847725" y="5114925"/>
            <a:ext cx="51149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06B6D4"/>
                </a:solidFill>
                <a:latin typeface="Microsoft YaHei"/>
                <a:ea typeface="Microsoft YaHei"/>
              </a:rPr>
              <a:t>PGlite 0.5</a:t>
            </a:r>
            <a:endParaRPr/>
          </a:p>
        </p:txBody>
      </p:sp>
      <p:sp>
        <p:nvSpPr>
          <p:cNvPr id="217" name="" descr="{&quot;isTemplate&quot;:true,&quot;type&quot;:&quot;text&quot;}"/>
          <p:cNvSpPr txBox="1"/>
          <p:nvPr/>
        </p:nvSpPr>
        <p:spPr>
          <a:xfrm rot="0" flipH="0" flipV="0">
            <a:off x="847725" y="5286375"/>
            <a:ext cx="511492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94A3B8"/>
                </a:solidFill>
                <a:latin typeface="Microsoft YaHei"/>
                <a:ea typeface="Microsoft YaHei"/>
              </a:rPr>
              <a:t>开发</a:t>
            </a:r>
            <a:r>
              <a:rPr lang="en-US" sz="825">
                <a:solidFill>
                  <a:srgbClr val="94A3B8"/>
                </a:solidFill>
                <a:latin typeface="Microsoft YaHei"/>
                <a:ea typeface="Microsoft YaHei"/>
              </a:rPr>
              <a:t> / </a:t>
            </a:r>
            <a:r>
              <a:rPr lang="zh-CN" sz="825">
                <a:solidFill>
                  <a:srgbClr val="94A3B8"/>
                </a:solidFill>
                <a:latin typeface="Microsoft YaHei"/>
                <a:ea typeface="Microsoft YaHei"/>
              </a:rPr>
              <a:t>测试</a:t>
            </a:r>
            <a:r>
              <a:rPr lang="en-US" sz="825">
                <a:solidFill>
                  <a:srgbClr val="94A3B8"/>
                </a:solidFill>
                <a:latin typeface="Microsoft YaHei"/>
                <a:ea typeface="Microsoft YaHei"/>
              </a:rPr>
              <a:t> · WASM </a:t>
            </a:r>
            <a:r>
              <a:rPr lang="zh-CN" sz="825">
                <a:solidFill>
                  <a:srgbClr val="94A3B8"/>
                </a:solidFill>
                <a:latin typeface="Microsoft YaHei"/>
                <a:ea typeface="Microsoft YaHei"/>
              </a:rPr>
              <a:t>内嵌</a:t>
            </a:r>
            <a:endParaRPr/>
          </a:p>
        </p:txBody>
      </p:sp>
      <p:sp>
        <p:nvSpPr>
          <p:cNvPr id="218" name=""/>
          <p:cNvSpPr/>
          <p:nvPr/>
        </p:nvSpPr>
        <p:spPr>
          <a:xfrm rot="0" flipH="0" flipV="0">
            <a:off x="6172200" y="5019675"/>
            <a:ext cx="5295900" cy="495300"/>
          </a:xfrm>
          <a:prstGeom prst="roundRect">
            <a:avLst>
              <a:gd name="adj" fmla="val 7692"/>
            </a:avLst>
          </a:prstGeom>
          <a:solidFill>
            <a:srgbClr val="1E293B"/>
          </a:solidFill>
          <a:ln/>
        </p:spPr>
        <p:txBody>
          <a:bodyPr/>
          <a:p/>
        </p:txBody>
      </p:sp>
      <p:sp>
        <p:nvSpPr>
          <p:cNvPr id="219" name="" descr="{&quot;isTemplate&quot;:true,&quot;type&quot;:&quot;text&quot;}"/>
          <p:cNvSpPr txBox="1"/>
          <p:nvPr/>
        </p:nvSpPr>
        <p:spPr>
          <a:xfrm rot="0" flipH="0" flipV="0">
            <a:off x="6267450" y="5114925"/>
            <a:ext cx="51054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F59E0B"/>
                </a:solidFill>
                <a:latin typeface="Microsoft YaHei"/>
                <a:ea typeface="Microsoft YaHei"/>
              </a:rPr>
              <a:t>PostgreSQL 15 + pgvector</a:t>
            </a:r>
            <a:endParaRPr/>
          </a:p>
        </p:txBody>
      </p:sp>
      <p:sp>
        <p:nvSpPr>
          <p:cNvPr id="220" name="" descr="{&quot;isTemplate&quot;:true,&quot;type&quot;:&quot;text&quot;}"/>
          <p:cNvSpPr txBox="1"/>
          <p:nvPr/>
        </p:nvSpPr>
        <p:spPr>
          <a:xfrm rot="0" flipH="0" flipV="0">
            <a:off x="6267450" y="5286375"/>
            <a:ext cx="51054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94A3B8"/>
                </a:solidFill>
                <a:latin typeface="Microsoft YaHei"/>
                <a:ea typeface="Microsoft YaHei"/>
              </a:rPr>
              <a:t>生产</a:t>
            </a:r>
            <a:r>
              <a:rPr lang="en-US" sz="825">
                <a:solidFill>
                  <a:srgbClr val="94A3B8"/>
                </a:solidFill>
                <a:latin typeface="Microsoft YaHei"/>
                <a:ea typeface="Microsoft YaHei"/>
              </a:rPr>
              <a:t> · 25 </a:t>
            </a:r>
            <a:r>
              <a:rPr lang="zh-CN" sz="825">
                <a:solidFill>
                  <a:srgbClr val="94A3B8"/>
                </a:solidFill>
                <a:latin typeface="Microsoft YaHei"/>
                <a:ea typeface="Microsoft YaHei"/>
              </a:rPr>
              <a:t>个幂等迁移</a:t>
            </a:r>
            <a:endParaRPr/>
          </a:p>
        </p:txBody>
      </p:sp>
      <p:sp>
        <p:nvSpPr>
          <p:cNvPr id="221" name="" descr="{&quot;isTemplate&quot;:true,&quot;type&quot;:&quot;text&quot;}"/>
          <p:cNvSpPr txBox="1"/>
          <p:nvPr/>
        </p:nvSpPr>
        <p:spPr>
          <a:xfrm rot="0" flipH="0" flipV="0">
            <a:off x="11268075" y="6524625"/>
            <a:ext cx="3905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475569"/>
                </a:solidFill>
                <a:latin typeface="Microsoft YaHei"/>
                <a:ea typeface="Microsoft YaHei"/>
              </a:rPr>
              <a:t>04 / 12</a:t>
            </a:r>
            <a:endParaRPr/>
          </a:p>
        </p:txBody>
      </p:sp>
    </p:spTree>
  </p:cSld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222" name="" descr="&lt;Slide style={{ width: '1280px', height: '720px', padding: '40px 56px', backgroundColor: '#0b1220' }}&gt;&#10;    &lt;Box style={{ display: 'flex', alignItems: 'center', marginBottom: '24px' }}&gt;&#10;      &lt;Text style={{ fontSize: '14px', color: '#06b6d4', letterSpacing: '3px' }}&gt;WORKFLOW &amp; STATE MACHINE&lt;/Text&gt;&#10;      &lt;Box style={{ flex: '1', height: '1px', backgroundColor: '#1e293b', marginLeft: '20px' }} /&gt;&#10;    &lt;/Box&gt;&#10;&#10;    &lt;Text style={{&#10;      fontSize: '36px', fontWeight: 'bold', color: '#e2e8f0', marginBottom: '8px',&#10;    }}&gt;&#10;      全链路业务流程 · &lt;span style={{ color: '#06b6d4' }}&gt;7 角色协同&lt;/span&gt;&#10;    &lt;/Text&gt;&#10;    &lt;Text style={{ fontSize: '16px', color: '#94a3b8', marginBottom: '32px' }}&gt;&#10;      巡检员 → 操作工 → 车间主任 → 安全员 → 检修工 → 质检 → 知识管理员，全闭环&#10;    &lt;/Text&gt;&#10;&#10;    &lt;Box style={{&#10;      padding: '24px', backgroundColor: '#0f172a', borderRadius: '8px', marginBottom: '20px',&#10;    }}&gt;&#10;      &lt;Text style={{ fontSize: '13px', color: '#94a3b8', letterSpacing: '1px', marginBottom: '16px' }}&gt;&#10;        工单状态机（src/utils/orderStatus.ts）&#10;      &lt;/Text&gt;&#10;      &lt;Box style={{ display: 'flex', flexWrap: 'wrap', gap: '8px', alignItems: 'center' }}&gt;&#10;        {[&#10;          { label: 'draft', color: '#64748b' },&#10;          { label: '→', color: '#06b6d4', noBg: true },&#10;          { label: 'submitted', color: '#06b6d4' },&#10;          { label: '→', color: '#06b6d4', noBg: true },&#10;          { label: 'assigned', color: '#06b6d4' },&#10;          { label: '→', color: '#06b6d4', noBg: true },&#10;          { label: 'in_progress', color: '#f59e0b' },&#10;          { label: '→', color: '#06b6d4', noBg: true },&#10;          { label: 'pending_review', color: '#f59e0b' },&#10;          { label: '→', color: '#06b6d4', noBg: true },&#10;          { label: 'completed', color: '#10b981' },&#10;          { label: '→', color: '#06b6d4', noBg: true },&#10;          { label: 'closed', color: '#64748b' },&#10;        ].map((s, i) =&gt; (&#10;          s.noBg&#10;            ? &lt;Text key={i} style={{ fontSize: '18px', color: s.color, fontWeight: 'bold', margin: '0 4px' }}&gt;{s.label}&lt;/Text&gt;&#10;            : &lt;Box key={i} style={{&#10;                padding: '8px 16px', backgroundColor: s.color, borderRadius: '4px',&#10;              }}&gt;&#10;                &lt;Text style={{ fontSize: '14px', color: '#0b1220', fontWeight: 'bold' }}&gt;{s.label}&lt;/Text&gt;&#10;              &lt;/Box&gt;&#10;        ))}&#10;      &lt;/Box&gt;&#10;    &lt;/Box&gt;&#10;&#10;    &lt;Box style={{ display: 'flex', gap: '12px', height: '220px' }}&gt;&#10;      &lt;Box style={{ flex: 1, padding: '20px', backgroundColor: '#0f172a', borderRadius: '6px', borderLeft: '3px solid #06b6d4' }}&gt;&#10;        &lt;Text style={{ fontSize: '14px', color: '#06b6d4', marginBottom: '8px' }}&gt;15 分钟防重复&lt;/Text&gt;&#10;        &lt;Text style={{ fontSize: '13px', color: '#cbd5e1', lineHeight: '1.6' }}&gt;&#10;          同 creator + 同 equipment + 同 fault_type 在 15 分钟内报修，返回 409 DUPLICATE_ORDER&#10;        &lt;/Text&gt;&#10;      &lt;/Box&gt;&#10;      &lt;Box style={{ flex: 1, padding: '20px', backgroundColor: '#0f172a', borderRadius: '6px', borderLeft: '3px solid #f59e0b' }}&gt;&#10;        &lt;Text style={{ fontSize: '14px', color: '#f59e0b', marginBottom: '8px' }}&gt;乐观锁 version&lt;/Text&gt;&#10;        &lt;Text style={{ fontSize: '13px', color: '#cbd5e1', lineHeight: '1.6' }}&gt;&#10;          每次更新携带 version 字段；WHERE id=? AND version=? 匹配失败返回 409 VERSION_CONFLICT&#10;        &lt;/Text&gt;&#10;      &lt;/Box&gt;&#10;      &lt;Box style={{ flex: 1, padding: '20px', backgroundColor: '#0f172a', borderRadius: '6px', borderLeft: '3px solid #10b981' }}&gt;&#10;        &lt;Text style={{ fontSize: '14px', color: '#10b981', marginBottom: '8px' }}&gt;双人会签&lt;/Text&gt;&#10;        &lt;Text style={{ fontSize: '13px', color: '#cbd5e1', lineHeight: '1.6' }}&gt;&#10;          guardian_approval + supervisor_approval 两份 JSONB 都签完，作业票 status='signed'&#10;        &lt;/Text&gt;&#10;      &lt;/Box&gt;&#10;    &lt;/Box&gt;&#10;&#10;    &lt;Box style={{ position: 'absolute', bottom: '20px', right: '56px' }}&gt;&#10;      &lt;Text style={{ fontSize: '12px', color: '#475569' }}&gt;05 / 12&lt;/Text&gt;&#10;    &lt;/Box&gt;&#10;  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/>
        </p:spPr>
        <p:txBody>
          <a:bodyPr/>
          <a:p/>
        </p:txBody>
      </p:sp>
      <p:sp>
        <p:nvSpPr>
          <p:cNvPr id="224" name="" descr="{&quot;isTemplate&quot;:true,&quot;type&quot;:&quot;text&quot;}"/>
          <p:cNvSpPr txBox="1"/>
          <p:nvPr/>
        </p:nvSpPr>
        <p:spPr>
          <a:xfrm rot="0" flipH="0" flipV="0">
            <a:off x="533400" y="381000"/>
            <a:ext cx="2762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225">
                <a:solidFill>
                  <a:srgbClr val="06B6D4"/>
                </a:solidFill>
                <a:latin typeface="Microsoft YaHei"/>
                <a:ea typeface="Microsoft YaHei"/>
              </a:rPr>
              <a:t>WORKFLOW &amp; STATE MACHINE</a:t>
            </a:r>
            <a:endParaRPr/>
          </a:p>
        </p:txBody>
      </p:sp>
      <p:sp>
        <p:nvSpPr>
          <p:cNvPr id="225" name=""/>
          <p:cNvSpPr/>
          <p:nvPr/>
        </p:nvSpPr>
        <p:spPr>
          <a:xfrm rot="0" flipH="0" flipV="0">
            <a:off x="3486150" y="457200"/>
            <a:ext cx="8172450" cy="9525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p/>
        </p:txBody>
      </p:sp>
      <p:sp>
        <p:nvSpPr>
          <p:cNvPr id="226" name="" descr="{&quot;isTemplate&quot;:true,&quot;type&quot;:&quot;text&quot;}"/>
          <p:cNvSpPr txBox="1"/>
          <p:nvPr/>
        </p:nvSpPr>
        <p:spPr>
          <a:xfrm rot="0" flipH="0" flipV="0">
            <a:off x="533400" y="771525"/>
            <a:ext cx="11125200" cy="4191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700" b="1">
                <a:solidFill>
                  <a:srgbClr val="E2E8F0"/>
                </a:solidFill>
                <a:latin typeface="Microsoft YaHei"/>
                <a:ea typeface="Microsoft YaHei"/>
              </a:rPr>
              <a:t>全链路业务流程</a:t>
            </a:r>
            <a:r>
              <a:rPr lang="en-US" sz="2700" b="1">
                <a:solidFill>
                  <a:srgbClr val="E2E8F0"/>
                </a:solidFill>
                <a:latin typeface="Microsoft YaHei"/>
                <a:ea typeface="Microsoft YaHei"/>
              </a:rPr>
              <a:t> · </a:t>
            </a:r>
            <a:r>
              <a:rPr lang="en-US" sz="2700" b="1">
                <a:solidFill>
                  <a:srgbClr val="06B6D4"/>
                </a:solidFill>
                <a:latin typeface="Microsoft YaHei"/>
                <a:ea typeface="Microsoft YaHei"/>
              </a:rPr>
              <a:t>7 </a:t>
            </a:r>
            <a:r>
              <a:rPr lang="zh-CN" sz="2700" b="1">
                <a:solidFill>
                  <a:srgbClr val="06B6D4"/>
                </a:solidFill>
                <a:latin typeface="Microsoft YaHei"/>
                <a:ea typeface="Microsoft YaHei"/>
              </a:rPr>
              <a:t>角色协同</a:t>
            </a:r>
            <a:endParaRPr/>
          </a:p>
        </p:txBody>
      </p:sp>
      <p:sp>
        <p:nvSpPr>
          <p:cNvPr id="227" name="" descr="{&quot;isTemplate&quot;:true,&quot;type&quot;:&quot;text&quot;}"/>
          <p:cNvSpPr txBox="1"/>
          <p:nvPr/>
        </p:nvSpPr>
        <p:spPr>
          <a:xfrm rot="0" flipH="0" flipV="0">
            <a:off x="533400" y="1266825"/>
            <a:ext cx="111252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94A3B8"/>
                </a:solidFill>
                <a:latin typeface="Microsoft YaHei"/>
                <a:ea typeface="Microsoft YaHei"/>
              </a:rPr>
              <a:t>巡检员</a:t>
            </a:r>
            <a:r>
              <a:rPr lang="en-US" sz="1200">
                <a:solidFill>
                  <a:srgbClr val="94A3B8"/>
                </a:solidFill>
                <a:latin typeface="Microsoft YaHei"/>
                <a:ea typeface="Microsoft YaHei"/>
              </a:rPr>
              <a:t> → </a:t>
            </a:r>
            <a:r>
              <a:rPr lang="zh-CN" sz="1200">
                <a:solidFill>
                  <a:srgbClr val="94A3B8"/>
                </a:solidFill>
                <a:latin typeface="Microsoft YaHei"/>
                <a:ea typeface="Microsoft YaHei"/>
              </a:rPr>
              <a:t>操作工</a:t>
            </a:r>
            <a:r>
              <a:rPr lang="en-US" sz="1200">
                <a:solidFill>
                  <a:srgbClr val="94A3B8"/>
                </a:solidFill>
                <a:latin typeface="Microsoft YaHei"/>
                <a:ea typeface="Microsoft YaHei"/>
              </a:rPr>
              <a:t> → </a:t>
            </a:r>
            <a:r>
              <a:rPr lang="zh-CN" sz="1200">
                <a:solidFill>
                  <a:srgbClr val="94A3B8"/>
                </a:solidFill>
                <a:latin typeface="Microsoft YaHei"/>
                <a:ea typeface="Microsoft YaHei"/>
              </a:rPr>
              <a:t>车间主任</a:t>
            </a:r>
            <a:r>
              <a:rPr lang="en-US" sz="1200">
                <a:solidFill>
                  <a:srgbClr val="94A3B8"/>
                </a:solidFill>
                <a:latin typeface="Microsoft YaHei"/>
                <a:ea typeface="Microsoft YaHei"/>
              </a:rPr>
              <a:t> → </a:t>
            </a:r>
            <a:r>
              <a:rPr lang="zh-CN" sz="1200">
                <a:solidFill>
                  <a:srgbClr val="94A3B8"/>
                </a:solidFill>
                <a:latin typeface="Microsoft YaHei"/>
                <a:ea typeface="Microsoft YaHei"/>
              </a:rPr>
              <a:t>安全员</a:t>
            </a:r>
            <a:r>
              <a:rPr lang="en-US" sz="1200">
                <a:solidFill>
                  <a:srgbClr val="94A3B8"/>
                </a:solidFill>
                <a:latin typeface="Microsoft YaHei"/>
                <a:ea typeface="Microsoft YaHei"/>
              </a:rPr>
              <a:t> → </a:t>
            </a:r>
            <a:r>
              <a:rPr lang="zh-CN" sz="1200">
                <a:solidFill>
                  <a:srgbClr val="94A3B8"/>
                </a:solidFill>
                <a:latin typeface="Microsoft YaHei"/>
                <a:ea typeface="Microsoft YaHei"/>
              </a:rPr>
              <a:t>检修工</a:t>
            </a:r>
            <a:r>
              <a:rPr lang="en-US" sz="1200">
                <a:solidFill>
                  <a:srgbClr val="94A3B8"/>
                </a:solidFill>
                <a:latin typeface="Microsoft YaHei"/>
                <a:ea typeface="Microsoft YaHei"/>
              </a:rPr>
              <a:t> → </a:t>
            </a:r>
            <a:r>
              <a:rPr lang="zh-CN" sz="1200">
                <a:solidFill>
                  <a:srgbClr val="94A3B8"/>
                </a:solidFill>
                <a:latin typeface="Microsoft YaHei"/>
                <a:ea typeface="Microsoft YaHei"/>
              </a:rPr>
              <a:t>质检</a:t>
            </a:r>
            <a:r>
              <a:rPr lang="en-US" sz="1200">
                <a:solidFill>
                  <a:srgbClr val="94A3B8"/>
                </a:solidFill>
                <a:latin typeface="Microsoft YaHei"/>
                <a:ea typeface="Microsoft YaHei"/>
              </a:rPr>
              <a:t> → </a:t>
            </a:r>
            <a:r>
              <a:rPr lang="zh-CN" sz="1200">
                <a:solidFill>
                  <a:srgbClr val="94A3B8"/>
                </a:solidFill>
                <a:latin typeface="Microsoft YaHei"/>
                <a:ea typeface="Microsoft YaHei"/>
              </a:rPr>
              <a:t>知识管理员，全闭环</a:t>
            </a:r>
            <a:endParaRPr/>
          </a:p>
        </p:txBody>
      </p:sp>
      <p:sp>
        <p:nvSpPr>
          <p:cNvPr id="228" name=""/>
          <p:cNvSpPr/>
          <p:nvPr/>
        </p:nvSpPr>
        <p:spPr>
          <a:xfrm rot="0" flipH="0" flipV="0">
            <a:off x="533400" y="1762125"/>
            <a:ext cx="11125200" cy="1076325"/>
          </a:xfrm>
          <a:prstGeom prst="roundRect">
            <a:avLst>
              <a:gd name="adj" fmla="val 7080"/>
            </a:avLst>
          </a:prstGeom>
          <a:solidFill>
            <a:srgbClr val="0F172A"/>
          </a:solidFill>
          <a:ln/>
        </p:spPr>
        <p:txBody>
          <a:bodyPr/>
          <a:p/>
        </p:txBody>
      </p:sp>
      <p:sp>
        <p:nvSpPr>
          <p:cNvPr id="229" name="" descr="{&quot;isTemplate&quot;:true,&quot;type&quot;:&quot;text&quot;}"/>
          <p:cNvSpPr txBox="1"/>
          <p:nvPr/>
        </p:nvSpPr>
        <p:spPr>
          <a:xfrm rot="0" flipH="0" flipV="0">
            <a:off x="762000" y="1990725"/>
            <a:ext cx="106680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spc="75">
                <a:solidFill>
                  <a:srgbClr val="94A3B8"/>
                </a:solidFill>
                <a:latin typeface="Microsoft YaHei"/>
                <a:ea typeface="Microsoft YaHei"/>
              </a:rPr>
              <a:t>工单状态机（</a:t>
            </a:r>
            <a:r>
              <a:rPr lang="en-US" sz="975" spc="75">
                <a:solidFill>
                  <a:srgbClr val="94A3B8"/>
                </a:solidFill>
                <a:latin typeface="Microsoft YaHei"/>
                <a:ea typeface="Microsoft YaHei"/>
              </a:rPr>
              <a:t>src/utils/orderStatus.ts</a:t>
            </a:r>
            <a:r>
              <a:rPr lang="zh-CN" sz="975" spc="75">
                <a:solidFill>
                  <a:srgbClr val="94A3B8"/>
                </a:solidFill>
                <a:latin typeface="Microsoft YaHei"/>
                <a:ea typeface="Microsoft YaHei"/>
              </a:rPr>
              <a:t>）</a:t>
            </a:r>
            <a:endParaRPr/>
          </a:p>
        </p:txBody>
      </p:sp>
      <p:sp>
        <p:nvSpPr>
          <p:cNvPr id="230" name=""/>
          <p:cNvSpPr/>
          <p:nvPr/>
        </p:nvSpPr>
        <p:spPr>
          <a:xfrm rot="0" flipH="0" flipV="0">
            <a:off x="762000" y="2295525"/>
            <a:ext cx="647700" cy="314325"/>
          </a:xfrm>
          <a:prstGeom prst="roundRect">
            <a:avLst>
              <a:gd name="adj" fmla="val 12121"/>
            </a:avLst>
          </a:prstGeom>
          <a:solidFill>
            <a:srgbClr val="64748B"/>
          </a:solidFill>
          <a:ln/>
        </p:spPr>
        <p:txBody>
          <a:bodyPr/>
          <a:p/>
        </p:txBody>
      </p:sp>
      <p:sp>
        <p:nvSpPr>
          <p:cNvPr id="231" name="" descr="{&quot;isTemplate&quot;:true,&quot;type&quot;:&quot;text&quot;}"/>
          <p:cNvSpPr txBox="1"/>
          <p:nvPr/>
        </p:nvSpPr>
        <p:spPr>
          <a:xfrm rot="0" flipH="0" flipV="0">
            <a:off x="914400" y="2371725"/>
            <a:ext cx="3429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0B1220"/>
                </a:solidFill>
                <a:latin typeface="Microsoft YaHei"/>
                <a:ea typeface="Microsoft YaHei"/>
              </a:rPr>
              <a:t>draft</a:t>
            </a:r>
            <a:endParaRPr/>
          </a:p>
        </p:txBody>
      </p:sp>
      <p:sp>
        <p:nvSpPr>
          <p:cNvPr id="232" name="" descr="{&quot;isTemplate&quot;:true,&quot;type&quot;:&quot;text&quot;}"/>
          <p:cNvSpPr txBox="1"/>
          <p:nvPr/>
        </p:nvSpPr>
        <p:spPr>
          <a:xfrm rot="0" flipH="0" flipV="0">
            <a:off x="1524000" y="2352675"/>
            <a:ext cx="1714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350" b="1">
                <a:solidFill>
                  <a:srgbClr val="06B6D4"/>
                </a:solidFill>
                <a:latin typeface="Microsoft YaHei"/>
                <a:ea typeface="Microsoft YaHei"/>
              </a:rPr>
              <a:t>→</a:t>
            </a:r>
            <a:endParaRPr/>
          </a:p>
        </p:txBody>
      </p:sp>
      <p:sp>
        <p:nvSpPr>
          <p:cNvPr id="233" name=""/>
          <p:cNvSpPr/>
          <p:nvPr/>
        </p:nvSpPr>
        <p:spPr>
          <a:xfrm rot="0" flipH="0" flipV="0">
            <a:off x="1809750" y="2295525"/>
            <a:ext cx="1000125" cy="314325"/>
          </a:xfrm>
          <a:prstGeom prst="roundRect">
            <a:avLst>
              <a:gd name="adj" fmla="val 12121"/>
            </a:avLst>
          </a:prstGeom>
          <a:solidFill>
            <a:srgbClr val="06B6D4"/>
          </a:solidFill>
          <a:ln/>
        </p:spPr>
        <p:txBody>
          <a:bodyPr/>
          <a:p/>
        </p:txBody>
      </p:sp>
      <p:sp>
        <p:nvSpPr>
          <p:cNvPr id="234" name="" descr="{&quot;isTemplate&quot;:true,&quot;type&quot;:&quot;text&quot;}"/>
          <p:cNvSpPr txBox="1"/>
          <p:nvPr/>
        </p:nvSpPr>
        <p:spPr>
          <a:xfrm rot="0" flipH="0" flipV="0">
            <a:off x="1962150" y="2371725"/>
            <a:ext cx="6953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0B1220"/>
                </a:solidFill>
                <a:latin typeface="Microsoft YaHei"/>
                <a:ea typeface="Microsoft YaHei"/>
              </a:rPr>
              <a:t>submitted</a:t>
            </a:r>
            <a:endParaRPr/>
          </a:p>
        </p:txBody>
      </p:sp>
      <p:sp>
        <p:nvSpPr>
          <p:cNvPr id="235" name="" descr="{&quot;isTemplate&quot;:true,&quot;type&quot;:&quot;text&quot;}"/>
          <p:cNvSpPr txBox="1"/>
          <p:nvPr/>
        </p:nvSpPr>
        <p:spPr>
          <a:xfrm rot="0" flipH="0" flipV="0">
            <a:off x="2924175" y="2352675"/>
            <a:ext cx="1714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350" b="1">
                <a:solidFill>
                  <a:srgbClr val="06B6D4"/>
                </a:solidFill>
                <a:latin typeface="Microsoft YaHei"/>
                <a:ea typeface="Microsoft YaHei"/>
              </a:rPr>
              <a:t>→</a:t>
            </a:r>
            <a:endParaRPr/>
          </a:p>
        </p:txBody>
      </p:sp>
      <p:sp>
        <p:nvSpPr>
          <p:cNvPr id="236" name=""/>
          <p:cNvSpPr/>
          <p:nvPr/>
        </p:nvSpPr>
        <p:spPr>
          <a:xfrm rot="0" flipH="0" flipV="0">
            <a:off x="3209925" y="2295525"/>
            <a:ext cx="895350" cy="314325"/>
          </a:xfrm>
          <a:prstGeom prst="roundRect">
            <a:avLst>
              <a:gd name="adj" fmla="val 12121"/>
            </a:avLst>
          </a:prstGeom>
          <a:solidFill>
            <a:srgbClr val="06B6D4"/>
          </a:solidFill>
          <a:ln/>
        </p:spPr>
        <p:txBody>
          <a:bodyPr/>
          <a:p/>
        </p:txBody>
      </p:sp>
      <p:sp>
        <p:nvSpPr>
          <p:cNvPr id="237" name="" descr="{&quot;isTemplate&quot;:true,&quot;type&quot;:&quot;text&quot;}"/>
          <p:cNvSpPr txBox="1"/>
          <p:nvPr/>
        </p:nvSpPr>
        <p:spPr>
          <a:xfrm rot="0" flipH="0" flipV="0">
            <a:off x="3362325" y="2371725"/>
            <a:ext cx="5905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0B1220"/>
                </a:solidFill>
                <a:latin typeface="Microsoft YaHei"/>
                <a:ea typeface="Microsoft YaHei"/>
              </a:rPr>
              <a:t>assigned</a:t>
            </a:r>
            <a:endParaRPr/>
          </a:p>
        </p:txBody>
      </p:sp>
      <p:sp>
        <p:nvSpPr>
          <p:cNvPr id="238" name="" descr="{&quot;isTemplate&quot;:true,&quot;type&quot;:&quot;text&quot;}"/>
          <p:cNvSpPr txBox="1"/>
          <p:nvPr/>
        </p:nvSpPr>
        <p:spPr>
          <a:xfrm rot="0" flipH="0" flipV="0">
            <a:off x="4219575" y="2352675"/>
            <a:ext cx="1714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350" b="1">
                <a:solidFill>
                  <a:srgbClr val="06B6D4"/>
                </a:solidFill>
                <a:latin typeface="Microsoft YaHei"/>
                <a:ea typeface="Microsoft YaHei"/>
              </a:rPr>
              <a:t>→</a:t>
            </a:r>
            <a:endParaRPr/>
          </a:p>
        </p:txBody>
      </p:sp>
      <p:sp>
        <p:nvSpPr>
          <p:cNvPr id="239" name=""/>
          <p:cNvSpPr/>
          <p:nvPr/>
        </p:nvSpPr>
        <p:spPr>
          <a:xfrm rot="0" flipH="0" flipV="0">
            <a:off x="4505325" y="2295525"/>
            <a:ext cx="1085850" cy="314325"/>
          </a:xfrm>
          <a:prstGeom prst="roundRect">
            <a:avLst>
              <a:gd name="adj" fmla="val 12121"/>
            </a:avLst>
          </a:prstGeom>
          <a:solidFill>
            <a:srgbClr val="F59E0B"/>
          </a:solidFill>
          <a:ln/>
        </p:spPr>
        <p:txBody>
          <a:bodyPr/>
          <a:p/>
        </p:txBody>
      </p:sp>
      <p:sp>
        <p:nvSpPr>
          <p:cNvPr id="240" name="" descr="{&quot;isTemplate&quot;:true,&quot;type&quot;:&quot;text&quot;}"/>
          <p:cNvSpPr txBox="1"/>
          <p:nvPr/>
        </p:nvSpPr>
        <p:spPr>
          <a:xfrm rot="0" flipH="0" flipV="0">
            <a:off x="4657725" y="2371725"/>
            <a:ext cx="781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0B1220"/>
                </a:solidFill>
                <a:latin typeface="Microsoft YaHei"/>
                <a:ea typeface="Microsoft YaHei"/>
              </a:rPr>
              <a:t>in_progress</a:t>
            </a:r>
            <a:endParaRPr/>
          </a:p>
        </p:txBody>
      </p:sp>
      <p:sp>
        <p:nvSpPr>
          <p:cNvPr id="241" name="" descr="{&quot;isTemplate&quot;:true,&quot;type&quot;:&quot;text&quot;}"/>
          <p:cNvSpPr txBox="1"/>
          <p:nvPr/>
        </p:nvSpPr>
        <p:spPr>
          <a:xfrm rot="0" flipH="0" flipV="0">
            <a:off x="5705475" y="2352675"/>
            <a:ext cx="1714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350" b="1">
                <a:solidFill>
                  <a:srgbClr val="06B6D4"/>
                </a:solidFill>
                <a:latin typeface="Microsoft YaHei"/>
                <a:ea typeface="Microsoft YaHei"/>
              </a:rPr>
              <a:t>→</a:t>
            </a:r>
            <a:endParaRPr/>
          </a:p>
        </p:txBody>
      </p:sp>
      <p:sp>
        <p:nvSpPr>
          <p:cNvPr id="242" name=""/>
          <p:cNvSpPr/>
          <p:nvPr/>
        </p:nvSpPr>
        <p:spPr>
          <a:xfrm rot="0" flipH="0" flipV="0">
            <a:off x="5991225" y="2295525"/>
            <a:ext cx="1362075" cy="314325"/>
          </a:xfrm>
          <a:prstGeom prst="roundRect">
            <a:avLst>
              <a:gd name="adj" fmla="val 12121"/>
            </a:avLst>
          </a:prstGeom>
          <a:solidFill>
            <a:srgbClr val="F59E0B"/>
          </a:solidFill>
          <a:ln/>
        </p:spPr>
        <p:txBody>
          <a:bodyPr/>
          <a:p/>
        </p:txBody>
      </p:sp>
      <p:sp>
        <p:nvSpPr>
          <p:cNvPr id="243" name="" descr="{&quot;isTemplate&quot;:true,&quot;type&quot;:&quot;text&quot;}"/>
          <p:cNvSpPr txBox="1"/>
          <p:nvPr/>
        </p:nvSpPr>
        <p:spPr>
          <a:xfrm rot="0" flipH="0" flipV="0">
            <a:off x="6143625" y="2371725"/>
            <a:ext cx="10572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0B1220"/>
                </a:solidFill>
                <a:latin typeface="Microsoft YaHei"/>
                <a:ea typeface="Microsoft YaHei"/>
              </a:rPr>
              <a:t>pending_review</a:t>
            </a:r>
            <a:endParaRPr/>
          </a:p>
        </p:txBody>
      </p:sp>
      <p:sp>
        <p:nvSpPr>
          <p:cNvPr id="244" name="" descr="{&quot;isTemplate&quot;:true,&quot;type&quot;:&quot;text&quot;}"/>
          <p:cNvSpPr txBox="1"/>
          <p:nvPr/>
        </p:nvSpPr>
        <p:spPr>
          <a:xfrm rot="0" flipH="0" flipV="0">
            <a:off x="7467600" y="2352675"/>
            <a:ext cx="1714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350" b="1">
                <a:solidFill>
                  <a:srgbClr val="06B6D4"/>
                </a:solidFill>
                <a:latin typeface="Microsoft YaHei"/>
                <a:ea typeface="Microsoft YaHei"/>
              </a:rPr>
              <a:t>→</a:t>
            </a:r>
            <a:endParaRPr/>
          </a:p>
        </p:txBody>
      </p:sp>
      <p:sp>
        <p:nvSpPr>
          <p:cNvPr id="245" name=""/>
          <p:cNvSpPr/>
          <p:nvPr/>
        </p:nvSpPr>
        <p:spPr>
          <a:xfrm rot="0" flipH="0" flipV="0">
            <a:off x="7753350" y="2295525"/>
            <a:ext cx="1019175" cy="314325"/>
          </a:xfrm>
          <a:prstGeom prst="roundRect">
            <a:avLst>
              <a:gd name="adj" fmla="val 12121"/>
            </a:avLst>
          </a:prstGeom>
          <a:solidFill>
            <a:srgbClr val="10B981"/>
          </a:solidFill>
          <a:ln/>
        </p:spPr>
        <p:txBody>
          <a:bodyPr/>
          <a:p/>
        </p:txBody>
      </p:sp>
      <p:sp>
        <p:nvSpPr>
          <p:cNvPr id="246" name="" descr="{&quot;isTemplate&quot;:true,&quot;type&quot;:&quot;text&quot;}"/>
          <p:cNvSpPr txBox="1"/>
          <p:nvPr/>
        </p:nvSpPr>
        <p:spPr>
          <a:xfrm rot="0" flipH="0" flipV="0">
            <a:off x="7905750" y="2371725"/>
            <a:ext cx="7143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0B1220"/>
                </a:solidFill>
                <a:latin typeface="Microsoft YaHei"/>
                <a:ea typeface="Microsoft YaHei"/>
              </a:rPr>
              <a:t>completed</a:t>
            </a:r>
            <a:endParaRPr/>
          </a:p>
        </p:txBody>
      </p:sp>
      <p:sp>
        <p:nvSpPr>
          <p:cNvPr id="247" name="" descr="{&quot;isTemplate&quot;:true,&quot;type&quot;:&quot;text&quot;}"/>
          <p:cNvSpPr txBox="1"/>
          <p:nvPr/>
        </p:nvSpPr>
        <p:spPr>
          <a:xfrm rot="0" flipH="0" flipV="0">
            <a:off x="8886825" y="2352675"/>
            <a:ext cx="1714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350" b="1">
                <a:solidFill>
                  <a:srgbClr val="06B6D4"/>
                </a:solidFill>
                <a:latin typeface="Microsoft YaHei"/>
                <a:ea typeface="Microsoft YaHei"/>
              </a:rPr>
              <a:t>→</a:t>
            </a:r>
            <a:endParaRPr/>
          </a:p>
        </p:txBody>
      </p:sp>
      <p:sp>
        <p:nvSpPr>
          <p:cNvPr id="248" name=""/>
          <p:cNvSpPr/>
          <p:nvPr/>
        </p:nvSpPr>
        <p:spPr>
          <a:xfrm rot="0" flipH="0" flipV="0">
            <a:off x="9172575" y="2295525"/>
            <a:ext cx="733425" cy="314325"/>
          </a:xfrm>
          <a:prstGeom prst="roundRect">
            <a:avLst>
              <a:gd name="adj" fmla="val 12121"/>
            </a:avLst>
          </a:prstGeom>
          <a:solidFill>
            <a:srgbClr val="64748B"/>
          </a:solidFill>
          <a:ln/>
        </p:spPr>
        <p:txBody>
          <a:bodyPr/>
          <a:p/>
        </p:txBody>
      </p:sp>
      <p:sp>
        <p:nvSpPr>
          <p:cNvPr id="249" name="" descr="{&quot;isTemplate&quot;:true,&quot;type&quot;:&quot;text&quot;}"/>
          <p:cNvSpPr txBox="1"/>
          <p:nvPr/>
        </p:nvSpPr>
        <p:spPr>
          <a:xfrm rot="0" flipH="0" flipV="0">
            <a:off x="9324975" y="2371725"/>
            <a:ext cx="4286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0B1220"/>
                </a:solidFill>
                <a:latin typeface="Microsoft YaHei"/>
                <a:ea typeface="Microsoft YaHei"/>
              </a:rPr>
              <a:t>closed</a:t>
            </a:r>
            <a:endParaRPr/>
          </a:p>
        </p:txBody>
      </p:sp>
      <p:sp>
        <p:nvSpPr>
          <p:cNvPr id="250" name=""/>
          <p:cNvSpPr/>
          <p:nvPr/>
        </p:nvSpPr>
        <p:spPr>
          <a:xfrm rot="0" flipH="0" flipV="0">
            <a:off x="561975" y="3028950"/>
            <a:ext cx="3629025" cy="2095500"/>
          </a:xfrm>
          <a:prstGeom prst="roundRect">
            <a:avLst>
              <a:gd name="adj" fmla="val 2727"/>
            </a:avLst>
          </a:prstGeom>
          <a:solidFill>
            <a:srgbClr val="0F172A"/>
          </a:solidFill>
          <a:ln/>
        </p:spPr>
        <p:txBody>
          <a:bodyPr/>
          <a:p/>
        </p:txBody>
      </p:sp>
      <p:sp>
        <p:nvSpPr>
          <p:cNvPr id="251" name=""/>
          <p:cNvSpPr/>
          <p:nvPr/>
        </p:nvSpPr>
        <p:spPr>
          <a:xfrm rot="0" flipH="0" flipV="0">
            <a:off x="561975" y="3028950"/>
            <a:ext cx="3629025" cy="2095500"/>
          </a:xfrm>
          <a:custGeom>
            <a:pathLst>
              <a:path w="381" h="220">
                <a:moveTo>
                  <a:pt x="6" y="0"/>
                </a:moveTo>
                <a:cubicBezTo>
                  <a:pt x="4" y="0"/>
                  <a:pt x="3" y="1"/>
                  <a:pt x="3" y="3"/>
                </a:cubicBezTo>
                <a:lnTo>
                  <a:pt x="3" y="217"/>
                </a:lnTo>
                <a:cubicBezTo>
                  <a:pt x="3" y="218"/>
                  <a:pt x="4" y="220"/>
                  <a:pt x="5" y="220"/>
                </a:cubicBezTo>
                <a:cubicBezTo>
                  <a:pt x="2" y="220"/>
                  <a:pt x="0" y="217"/>
                  <a:pt x="0" y="214"/>
                </a:cubicBezTo>
                <a:lnTo>
                  <a:pt x="0" y="6"/>
                </a:lnTo>
                <a:cubicBezTo>
                  <a:pt x="0" y="3"/>
                  <a:pt x="3" y="0"/>
                  <a:pt x="6" y="0"/>
                </a:cubicBezTo>
                <a:close/>
              </a:path>
            </a:pathLst>
          </a:custGeom>
          <a:solidFill>
            <a:srgbClr val="06B6D4"/>
          </a:solidFill>
          <a:ln/>
        </p:spPr>
        <p:txBody>
          <a:bodyPr/>
          <a:p/>
        </p:txBody>
      </p:sp>
      <p:sp>
        <p:nvSpPr>
          <p:cNvPr id="252" name="" descr="{&quot;isTemplate&quot;:true,&quot;type&quot;:&quot;text&quot;}"/>
          <p:cNvSpPr txBox="1"/>
          <p:nvPr/>
        </p:nvSpPr>
        <p:spPr>
          <a:xfrm rot="0" flipH="0" flipV="0">
            <a:off x="752475" y="3219450"/>
            <a:ext cx="32194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06B6D4"/>
                </a:solidFill>
                <a:latin typeface="Microsoft YaHei"/>
                <a:ea typeface="Microsoft YaHei"/>
              </a:rPr>
              <a:t>15 </a:t>
            </a:r>
            <a:r>
              <a:rPr lang="zh-CN" sz="1050">
                <a:solidFill>
                  <a:srgbClr val="06B6D4"/>
                </a:solidFill>
                <a:latin typeface="Microsoft YaHei"/>
                <a:ea typeface="Microsoft YaHei"/>
              </a:rPr>
              <a:t>分钟防重复</a:t>
            </a:r>
            <a:endParaRPr/>
          </a:p>
        </p:txBody>
      </p:sp>
      <p:sp>
        <p:nvSpPr>
          <p:cNvPr id="253" name="" descr="{&quot;isTemplate&quot;:true,&quot;type&quot;:&quot;text&quot;}"/>
          <p:cNvSpPr txBox="1"/>
          <p:nvPr/>
        </p:nvSpPr>
        <p:spPr>
          <a:xfrm rot="0" flipH="0" flipV="0">
            <a:off x="752475" y="3457575"/>
            <a:ext cx="3219450" cy="4762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975">
                <a:solidFill>
                  <a:srgbClr val="CBD5E1"/>
                </a:solidFill>
                <a:latin typeface="Microsoft YaHei"/>
                <a:ea typeface="Microsoft YaHei"/>
              </a:rPr>
              <a:t>同</a:t>
            </a:r>
            <a:r>
              <a:rPr lang="en-US" sz="975">
                <a:solidFill>
                  <a:srgbClr val="CBD5E1"/>
                </a:solidFill>
                <a:latin typeface="Microsoft YaHei"/>
                <a:ea typeface="Microsoft YaHei"/>
              </a:rPr>
              <a:t> creator + </a:t>
            </a:r>
            <a:r>
              <a:rPr lang="zh-CN" sz="975">
                <a:solidFill>
                  <a:srgbClr val="CBD5E1"/>
                </a:solidFill>
                <a:latin typeface="Microsoft YaHei"/>
                <a:ea typeface="Microsoft YaHei"/>
              </a:rPr>
              <a:t>同</a:t>
            </a:r>
            <a:r>
              <a:rPr lang="en-US" sz="975">
                <a:solidFill>
                  <a:srgbClr val="CBD5E1"/>
                </a:solidFill>
                <a:latin typeface="Microsoft YaHei"/>
                <a:ea typeface="Microsoft YaHei"/>
              </a:rPr>
              <a:t> equipment + </a:t>
            </a:r>
            <a:r>
              <a:rPr lang="zh-CN" sz="975">
                <a:solidFill>
                  <a:srgbClr val="CBD5E1"/>
                </a:solidFill>
                <a:latin typeface="Microsoft YaHei"/>
                <a:ea typeface="Microsoft YaHei"/>
              </a:rPr>
              <a:t>同</a:t>
            </a:r>
            <a:r>
              <a:rPr lang="en-US" sz="975">
                <a:solidFill>
                  <a:srgbClr val="CBD5E1"/>
                </a:solidFill>
                <a:latin typeface="Microsoft YaHei"/>
                <a:ea typeface="Microsoft YaHei"/>
              </a:rPr>
              <a:t> fault_type </a:t>
            </a:r>
            <a:r>
              <a:rPr lang="zh-CN" sz="975">
                <a:solidFill>
                  <a:srgbClr val="CBD5E1"/>
                </a:solidFill>
                <a:latin typeface="Microsoft YaHei"/>
                <a:ea typeface="Microsoft YaHei"/>
              </a:rPr>
              <a:t>在</a:t>
            </a:r>
            <a:r>
              <a:rPr lang="en-US" sz="975">
                <a:solidFill>
                  <a:srgbClr val="CBD5E1"/>
                </a:solidFill>
                <a:latin typeface="Microsoft YaHei"/>
                <a:ea typeface="Microsoft YaHei"/>
              </a:rPr>
              <a:t> 15 </a:t>
            </a:r>
            <a:r>
              <a:rPr lang="zh-CN" sz="975">
                <a:solidFill>
                  <a:srgbClr val="CBD5E1"/>
                </a:solidFill>
                <a:latin typeface="Microsoft YaHei"/>
                <a:ea typeface="Microsoft YaHei"/>
              </a:rPr>
              <a:t>分钟内报修，返回</a:t>
            </a:r>
            <a:r>
              <a:rPr lang="en-US" sz="975">
                <a:solidFill>
                  <a:srgbClr val="CBD5E1"/>
                </a:solidFill>
                <a:latin typeface="Microsoft YaHei"/>
                <a:ea typeface="Microsoft YaHei"/>
              </a:rPr>
              <a:t> 409 DUPLICATE_ORDER</a:t>
            </a:r>
            <a:endParaRPr/>
          </a:p>
        </p:txBody>
      </p:sp>
      <p:sp>
        <p:nvSpPr>
          <p:cNvPr id="254" name=""/>
          <p:cNvSpPr/>
          <p:nvPr/>
        </p:nvSpPr>
        <p:spPr>
          <a:xfrm rot="0" flipH="0" flipV="0">
            <a:off x="4305300" y="3028950"/>
            <a:ext cx="3638550" cy="2095500"/>
          </a:xfrm>
          <a:prstGeom prst="roundRect">
            <a:avLst>
              <a:gd name="adj" fmla="val 2727"/>
            </a:avLst>
          </a:prstGeom>
          <a:solidFill>
            <a:srgbClr val="0F172A"/>
          </a:solidFill>
          <a:ln/>
        </p:spPr>
        <p:txBody>
          <a:bodyPr/>
          <a:p/>
        </p:txBody>
      </p:sp>
      <p:sp>
        <p:nvSpPr>
          <p:cNvPr id="255" name=""/>
          <p:cNvSpPr/>
          <p:nvPr/>
        </p:nvSpPr>
        <p:spPr>
          <a:xfrm rot="0" flipH="0" flipV="0">
            <a:off x="4305300" y="3028950"/>
            <a:ext cx="3638550" cy="2095500"/>
          </a:xfrm>
          <a:custGeom>
            <a:pathLst>
              <a:path w="382" h="220">
                <a:moveTo>
                  <a:pt x="6" y="0"/>
                </a:moveTo>
                <a:cubicBezTo>
                  <a:pt x="4" y="0"/>
                  <a:pt x="3" y="1"/>
                  <a:pt x="3" y="3"/>
                </a:cubicBezTo>
                <a:lnTo>
                  <a:pt x="3" y="217"/>
                </a:lnTo>
                <a:cubicBezTo>
                  <a:pt x="3" y="218"/>
                  <a:pt x="4" y="220"/>
                  <a:pt x="5" y="220"/>
                </a:cubicBezTo>
                <a:cubicBezTo>
                  <a:pt x="2" y="220"/>
                  <a:pt x="0" y="217"/>
                  <a:pt x="0" y="214"/>
                </a:cubicBezTo>
                <a:lnTo>
                  <a:pt x="0" y="6"/>
                </a:lnTo>
                <a:cubicBezTo>
                  <a:pt x="0" y="3"/>
                  <a:pt x="3" y="0"/>
                  <a:pt x="6" y="0"/>
                </a:cubicBezTo>
                <a:close/>
              </a:path>
            </a:pathLst>
          </a:custGeom>
          <a:solidFill>
            <a:srgbClr val="F59E0B"/>
          </a:solidFill>
          <a:ln/>
        </p:spPr>
        <p:txBody>
          <a:bodyPr/>
          <a:p/>
        </p:txBody>
      </p:sp>
      <p:sp>
        <p:nvSpPr>
          <p:cNvPr id="256" name="" descr="{&quot;isTemplate&quot;:true,&quot;type&quot;:&quot;text&quot;}"/>
          <p:cNvSpPr txBox="1"/>
          <p:nvPr/>
        </p:nvSpPr>
        <p:spPr>
          <a:xfrm rot="0" flipH="0" flipV="0">
            <a:off x="4495800" y="3219450"/>
            <a:ext cx="32289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F59E0B"/>
                </a:solidFill>
                <a:latin typeface="Microsoft YaHei"/>
                <a:ea typeface="Microsoft YaHei"/>
              </a:rPr>
              <a:t>乐观锁</a:t>
            </a:r>
            <a:r>
              <a:rPr lang="en-US" sz="1050">
                <a:solidFill>
                  <a:srgbClr val="F59E0B"/>
                </a:solidFill>
                <a:latin typeface="Microsoft YaHei"/>
                <a:ea typeface="Microsoft YaHei"/>
              </a:rPr>
              <a:t> version</a:t>
            </a:r>
            <a:endParaRPr/>
          </a:p>
        </p:txBody>
      </p:sp>
      <p:sp>
        <p:nvSpPr>
          <p:cNvPr id="257" name="" descr="{&quot;isTemplate&quot;:true,&quot;type&quot;:&quot;text&quot;}"/>
          <p:cNvSpPr txBox="1"/>
          <p:nvPr/>
        </p:nvSpPr>
        <p:spPr>
          <a:xfrm rot="0" flipH="0" flipV="0">
            <a:off x="4495800" y="3457575"/>
            <a:ext cx="3228975" cy="4762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975">
                <a:solidFill>
                  <a:srgbClr val="CBD5E1"/>
                </a:solidFill>
                <a:latin typeface="Microsoft YaHei"/>
                <a:ea typeface="Microsoft YaHei"/>
              </a:rPr>
              <a:t>每次更新携带</a:t>
            </a:r>
            <a:r>
              <a:rPr lang="en-US" sz="975">
                <a:solidFill>
                  <a:srgbClr val="CBD5E1"/>
                </a:solidFill>
                <a:latin typeface="Microsoft YaHei"/>
                <a:ea typeface="Microsoft YaHei"/>
              </a:rPr>
              <a:t> version </a:t>
            </a:r>
            <a:r>
              <a:rPr lang="zh-CN" sz="975">
                <a:solidFill>
                  <a:srgbClr val="CBD5E1"/>
                </a:solidFill>
                <a:latin typeface="Microsoft YaHei"/>
                <a:ea typeface="Microsoft YaHei"/>
              </a:rPr>
              <a:t>字段；</a:t>
            </a:r>
            <a:r>
              <a:rPr lang="en-US" sz="975">
                <a:solidFill>
                  <a:srgbClr val="CBD5E1"/>
                </a:solidFill>
                <a:latin typeface="Microsoft YaHei"/>
                <a:ea typeface="Microsoft YaHei"/>
              </a:rPr>
              <a:t>WHERE id=? AND version=? </a:t>
            </a:r>
            <a:r>
              <a:rPr lang="zh-CN" sz="975">
                <a:solidFill>
                  <a:srgbClr val="CBD5E1"/>
                </a:solidFill>
                <a:latin typeface="Microsoft YaHei"/>
                <a:ea typeface="Microsoft YaHei"/>
              </a:rPr>
              <a:t>匹配失败返回</a:t>
            </a:r>
            <a:r>
              <a:rPr lang="en-US" sz="975">
                <a:solidFill>
                  <a:srgbClr val="CBD5E1"/>
                </a:solidFill>
                <a:latin typeface="Microsoft YaHei"/>
                <a:ea typeface="Microsoft YaHei"/>
              </a:rPr>
              <a:t> 409 VERSION_CONFLICT</a:t>
            </a:r>
            <a:endParaRPr/>
          </a:p>
        </p:txBody>
      </p:sp>
      <p:sp>
        <p:nvSpPr>
          <p:cNvPr id="258" name=""/>
          <p:cNvSpPr/>
          <p:nvPr/>
        </p:nvSpPr>
        <p:spPr>
          <a:xfrm rot="0" flipH="0" flipV="0">
            <a:off x="8058150" y="3028950"/>
            <a:ext cx="3629025" cy="2095500"/>
          </a:xfrm>
          <a:prstGeom prst="roundRect">
            <a:avLst>
              <a:gd name="adj" fmla="val 2727"/>
            </a:avLst>
          </a:prstGeom>
          <a:solidFill>
            <a:srgbClr val="0F172A"/>
          </a:solidFill>
          <a:ln/>
        </p:spPr>
        <p:txBody>
          <a:bodyPr/>
          <a:p/>
        </p:txBody>
      </p:sp>
      <p:sp>
        <p:nvSpPr>
          <p:cNvPr id="259" name=""/>
          <p:cNvSpPr/>
          <p:nvPr/>
        </p:nvSpPr>
        <p:spPr>
          <a:xfrm rot="0" flipH="0" flipV="0">
            <a:off x="8058150" y="3028950"/>
            <a:ext cx="3629025" cy="2095500"/>
          </a:xfrm>
          <a:custGeom>
            <a:pathLst>
              <a:path w="381" h="220">
                <a:moveTo>
                  <a:pt x="6" y="0"/>
                </a:moveTo>
                <a:cubicBezTo>
                  <a:pt x="4" y="0"/>
                  <a:pt x="3" y="1"/>
                  <a:pt x="3" y="3"/>
                </a:cubicBezTo>
                <a:lnTo>
                  <a:pt x="3" y="217"/>
                </a:lnTo>
                <a:cubicBezTo>
                  <a:pt x="3" y="218"/>
                  <a:pt x="4" y="220"/>
                  <a:pt x="5" y="220"/>
                </a:cubicBezTo>
                <a:cubicBezTo>
                  <a:pt x="2" y="220"/>
                  <a:pt x="0" y="217"/>
                  <a:pt x="0" y="214"/>
                </a:cubicBezTo>
                <a:lnTo>
                  <a:pt x="0" y="6"/>
                </a:lnTo>
                <a:cubicBezTo>
                  <a:pt x="0" y="3"/>
                  <a:pt x="3" y="0"/>
                  <a:pt x="6" y="0"/>
                </a:cubicBezTo>
                <a:close/>
              </a:path>
            </a:pathLst>
          </a:custGeom>
          <a:solidFill>
            <a:srgbClr val="10B981"/>
          </a:solidFill>
          <a:ln/>
        </p:spPr>
        <p:txBody>
          <a:bodyPr/>
          <a:p/>
        </p:txBody>
      </p:sp>
      <p:sp>
        <p:nvSpPr>
          <p:cNvPr id="260" name="" descr="{&quot;isTemplate&quot;:true,&quot;type&quot;:&quot;text&quot;}"/>
          <p:cNvSpPr txBox="1"/>
          <p:nvPr/>
        </p:nvSpPr>
        <p:spPr>
          <a:xfrm rot="0" flipH="0" flipV="0">
            <a:off x="8248650" y="3219450"/>
            <a:ext cx="32194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10B981"/>
                </a:solidFill>
                <a:latin typeface="Microsoft YaHei"/>
                <a:ea typeface="Microsoft YaHei"/>
              </a:rPr>
              <a:t>双人会签</a:t>
            </a:r>
            <a:endParaRPr/>
          </a:p>
        </p:txBody>
      </p:sp>
      <p:sp>
        <p:nvSpPr>
          <p:cNvPr id="261" name="" descr="{&quot;isTemplate&quot;:true,&quot;type&quot;:&quot;text&quot;}"/>
          <p:cNvSpPr txBox="1"/>
          <p:nvPr/>
        </p:nvSpPr>
        <p:spPr>
          <a:xfrm rot="0" flipH="0" flipV="0">
            <a:off x="8248650" y="3457575"/>
            <a:ext cx="3219450" cy="4762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en-US" sz="975">
                <a:solidFill>
                  <a:srgbClr val="CBD5E1"/>
                </a:solidFill>
                <a:latin typeface="Microsoft YaHei"/>
                <a:ea typeface="Microsoft YaHei"/>
              </a:rPr>
              <a:t>guardian_approval + supervisor_approval </a:t>
            </a:r>
            <a:r>
              <a:rPr lang="zh-CN" sz="975">
                <a:solidFill>
                  <a:srgbClr val="CBD5E1"/>
                </a:solidFill>
                <a:latin typeface="Microsoft YaHei"/>
                <a:ea typeface="Microsoft YaHei"/>
              </a:rPr>
              <a:t>两份</a:t>
            </a:r>
            <a:r>
              <a:rPr lang="en-US" sz="975">
                <a:solidFill>
                  <a:srgbClr val="CBD5E1"/>
                </a:solidFill>
                <a:latin typeface="Microsoft YaHei"/>
                <a:ea typeface="Microsoft YaHei"/>
              </a:rPr>
              <a:t> JSONB </a:t>
            </a:r>
            <a:r>
              <a:rPr lang="zh-CN" sz="975">
                <a:solidFill>
                  <a:srgbClr val="CBD5E1"/>
                </a:solidFill>
                <a:latin typeface="Microsoft YaHei"/>
                <a:ea typeface="Microsoft YaHei"/>
              </a:rPr>
              <a:t>都签完，作业票</a:t>
            </a:r>
            <a:r>
              <a:rPr lang="en-US" sz="975">
                <a:solidFill>
                  <a:srgbClr val="CBD5E1"/>
                </a:solidFill>
                <a:latin typeface="Microsoft YaHei"/>
                <a:ea typeface="Microsoft YaHei"/>
              </a:rPr>
              <a:t> status='signed'</a:t>
            </a:r>
            <a:endParaRPr/>
          </a:p>
        </p:txBody>
      </p:sp>
      <p:sp>
        <p:nvSpPr>
          <p:cNvPr id="262" name="" descr="{&quot;isTemplate&quot;:true,&quot;type&quot;:&quot;text&quot;}"/>
          <p:cNvSpPr txBox="1"/>
          <p:nvPr/>
        </p:nvSpPr>
        <p:spPr>
          <a:xfrm rot="0" flipH="0" flipV="0">
            <a:off x="11268075" y="6524625"/>
            <a:ext cx="3905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475569"/>
                </a:solidFill>
                <a:latin typeface="Microsoft YaHei"/>
                <a:ea typeface="Microsoft YaHei"/>
              </a:rPr>
              <a:t>05 / 12</a:t>
            </a:r>
            <a:endParaRPr/>
          </a:p>
        </p:txBody>
      </p:sp>
    </p:spTree>
  </p:cSld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263" name="" descr="&lt;Slide style={{ width: '1280px', height: '720px', padding: '40px 56px', backgroundColor: '#0b1220' }}&gt;&#10;    &lt;Box style={{ display: 'flex', alignItems: 'center', marginBottom: '20px' }}&gt;&#10;      &lt;Text style={{ fontSize: '14px', color: '#06b6d4', letterSpacing: '3px' }}&gt;RBAC &amp; ACCESS CONTROL&lt;/Text&gt;&#10;      &lt;Box style={{ flex: '1', height: '1px', backgroundColor: '#1e293b', marginLeft: '20px' }} /&gt;&#10;    &lt;/Box&gt;&#10;&#10;    &lt;Text style={{&#10;      fontSize: '32px', fontWeight: 'bold', color: '#e2e8f0', marginBottom: '6px',&#10;    }}&gt;&#10;      &lt;span style={{ color: '#06b6d4' }}&gt;7 角色 RBAC&lt;/span&gt; · 单一真源&#10;    &lt;/Text&gt;&#10;    &lt;Text style={{ fontSize: '14px', color: '#94a3b8', marginBottom: '24px' }}&gt;&#10;      权限码格式 module:action · 唯一真源 src/utils/rbac.ts · 前端 can() + 后端 globalAuthGuard 双重校验&#10;    &lt;/Text&gt;&#10;&#10;    &lt;Box style={{ display: 'flex', flexWrap: 'wrap', gap: '10px' }}&gt;&#10;      {[&#10;        { name: 'admin', role: '系统管理员', perms: '全部权限 (*)', color: '#06b6d4' },&#10;        { name: 'manager', role: '车间主任', perms: '工单审批 · 作业票审批 · 报表', color: '#06b6d4' },&#10;        { name: 'tech1', role: '检修工 - 主修', perms: '接单 · 执行 · AI 诊断 · 签名', color: '#f59e0b' },&#10;        { name: 'tech2', role: '检修工 - 副修', perms: '执行 · 副签', color: '#f59e0b' },&#10;        { name: 'inspector', role: '巡检员', perms: '巡检 · 创建报修', color: '#10b981' },&#10;        { name: 'operator', role: '操作工', perms: '报修 · 创建作业票', color: '#10b981' },&#10;        { name: 'archivist', role: '知识管理员', perms: '知识 CRUD · RAG 检索', color: '#8b5cf6' },&#10;      ].map((r, i) =&gt; (&#10;        &lt;Box key={i} style={{&#10;          width: 'calc((100% - 30px) / 4)', padding: '14px',&#10;          backgroundColor: '#0f172a', borderRadius: '6px',&#10;          borderLeft: `3px solid ${r.color}`,&#10;        }}&gt;&#10;          &lt;Box style={{ display: 'flex', alignItems: 'baseline', marginBottom: '4px' }}&gt;&#10;            &lt;Text style={{ fontSize: '18px', fontWeight: 'bold', color: r.color, marginRight: '8px', fontFamily: 'monospace' }}&gt;&#10;              {r.name}&#10;            &lt;/Text&gt;&#10;            &lt;Text style={{ fontSize: '12px', color: '#64748b' }}&gt;{r.role}&lt;/Text&gt;&#10;          &lt;/Box&gt;&#10;          &lt;Text style={{ fontSize: '12px', color: '#cbd5e1', lineHeight: '1.5' }}&gt;&#10;            {r.perms}&#10;          &lt;/Text&gt;&#10;        &lt;/Box&gt;&#10;      ))}&#10;    &lt;/Box&gt;&#10;&#10;    &lt;Box style={{ marginTop: '16px', padding: '14px', backgroundColor: '#1e293b', borderRadius: '6px' }}&gt;&#10;      &lt;Text style={{ fontSize: '13px', color: '#06b6d4' }}&gt;&#10;        &lt;span style={{ fontWeight: 'bold' }}&gt;RBAC 关键约束：&lt;/span&gt;&#10;        &lt;span style={{ color: '#cbd5e1' }}&gt;&#10;          {' '}admin 角色恒放行（permissions 含 '*'） · 菜单口径 navConfig.ts 唯一 · 后端 JWT 全局守卫&#10;        &lt;/span&gt;&#10;      &lt;/Text&gt;&#10;    &lt;/Box&gt;&#10;&#10;    &lt;Box style={{ position: 'absolute', bottom: '20px', right: '56px' }}&gt;&#10;      &lt;Text style={{ fontSize: '12px', color: '#475569' }}&gt;06 / 12&lt;/Text&gt;&#10;    &lt;/Box&gt;&#10;  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/>
        </p:spPr>
        <p:txBody>
          <a:bodyPr/>
          <a:p/>
        </p:txBody>
      </p:sp>
      <p:sp>
        <p:nvSpPr>
          <p:cNvPr id="265" name="" descr="{&quot;isTemplate&quot;:true,&quot;type&quot;:&quot;text&quot;}"/>
          <p:cNvSpPr txBox="1"/>
          <p:nvPr/>
        </p:nvSpPr>
        <p:spPr>
          <a:xfrm rot="0" flipH="0" flipV="0">
            <a:off x="533400" y="381000"/>
            <a:ext cx="23431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225">
                <a:solidFill>
                  <a:srgbClr val="06B6D4"/>
                </a:solidFill>
                <a:latin typeface="Microsoft YaHei"/>
                <a:ea typeface="Microsoft YaHei"/>
              </a:rPr>
              <a:t>RBAC &amp; ACCESS CONTROL</a:t>
            </a:r>
            <a:endParaRPr/>
          </a:p>
        </p:txBody>
      </p:sp>
      <p:sp>
        <p:nvSpPr>
          <p:cNvPr id="266" name=""/>
          <p:cNvSpPr/>
          <p:nvPr/>
        </p:nvSpPr>
        <p:spPr>
          <a:xfrm rot="0" flipH="0" flipV="0">
            <a:off x="3067050" y="457200"/>
            <a:ext cx="8591550" cy="9525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p/>
        </p:txBody>
      </p:sp>
      <p:sp>
        <p:nvSpPr>
          <p:cNvPr id="267" name="" descr="{&quot;isTemplate&quot;:true,&quot;type&quot;:&quot;text&quot;}"/>
          <p:cNvSpPr txBox="1"/>
          <p:nvPr/>
        </p:nvSpPr>
        <p:spPr>
          <a:xfrm rot="0" flipH="0" flipV="0">
            <a:off x="533400" y="733425"/>
            <a:ext cx="111252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400" b="1">
                <a:solidFill>
                  <a:srgbClr val="06B6D4"/>
                </a:solidFill>
                <a:latin typeface="Microsoft YaHei"/>
                <a:ea typeface="Microsoft YaHei"/>
              </a:rPr>
              <a:t>7 </a:t>
            </a:r>
            <a:r>
              <a:rPr lang="zh-CN" sz="2400" b="1">
                <a:solidFill>
                  <a:srgbClr val="06B6D4"/>
                </a:solidFill>
                <a:latin typeface="Microsoft YaHei"/>
                <a:ea typeface="Microsoft YaHei"/>
              </a:rPr>
              <a:t>角色</a:t>
            </a:r>
            <a:r>
              <a:rPr lang="en-US" sz="2400" b="1">
                <a:solidFill>
                  <a:srgbClr val="06B6D4"/>
                </a:solidFill>
                <a:latin typeface="Microsoft YaHei"/>
                <a:ea typeface="Microsoft YaHei"/>
              </a:rPr>
              <a:t> RBAC</a:t>
            </a:r>
            <a:r>
              <a:rPr lang="en-US" sz="2400" b="1">
                <a:solidFill>
                  <a:srgbClr val="E2E8F0"/>
                </a:solidFill>
                <a:latin typeface="Microsoft YaHei"/>
                <a:ea typeface="Microsoft YaHei"/>
              </a:rPr>
              <a:t> · </a:t>
            </a:r>
            <a:r>
              <a:rPr lang="zh-CN" sz="2400" b="1">
                <a:solidFill>
                  <a:srgbClr val="E2E8F0"/>
                </a:solidFill>
                <a:latin typeface="Microsoft YaHei"/>
                <a:ea typeface="Microsoft YaHei"/>
              </a:rPr>
              <a:t>单一真源</a:t>
            </a:r>
            <a:endParaRPr/>
          </a:p>
        </p:txBody>
      </p:sp>
      <p:sp>
        <p:nvSpPr>
          <p:cNvPr id="268" name="" descr="{&quot;isTemplate&quot;:true,&quot;type&quot;:&quot;text&quot;}"/>
          <p:cNvSpPr txBox="1"/>
          <p:nvPr/>
        </p:nvSpPr>
        <p:spPr>
          <a:xfrm rot="0" flipH="0" flipV="0">
            <a:off x="533400" y="1162050"/>
            <a:ext cx="11125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94A3B8"/>
                </a:solidFill>
                <a:latin typeface="Microsoft YaHei"/>
                <a:ea typeface="Microsoft YaHei"/>
              </a:rPr>
              <a:t>权限码格式</a:t>
            </a:r>
            <a:r>
              <a:rPr lang="en-US" sz="1050">
                <a:solidFill>
                  <a:srgbClr val="94A3B8"/>
                </a:solidFill>
                <a:latin typeface="Microsoft YaHei"/>
                <a:ea typeface="Microsoft YaHei"/>
              </a:rPr>
              <a:t> module:action · </a:t>
            </a:r>
            <a:r>
              <a:rPr lang="zh-CN" sz="1050">
                <a:solidFill>
                  <a:srgbClr val="94A3B8"/>
                </a:solidFill>
                <a:latin typeface="Microsoft YaHei"/>
                <a:ea typeface="Microsoft YaHei"/>
              </a:rPr>
              <a:t>唯一真源</a:t>
            </a:r>
            <a:r>
              <a:rPr lang="en-US" sz="1050">
                <a:solidFill>
                  <a:srgbClr val="94A3B8"/>
                </a:solidFill>
                <a:latin typeface="Microsoft YaHei"/>
                <a:ea typeface="Microsoft YaHei"/>
              </a:rPr>
              <a:t> src/utils/rbac.ts · </a:t>
            </a:r>
            <a:r>
              <a:rPr lang="zh-CN" sz="1050">
                <a:solidFill>
                  <a:srgbClr val="94A3B8"/>
                </a:solidFill>
                <a:latin typeface="Microsoft YaHei"/>
                <a:ea typeface="Microsoft YaHei"/>
              </a:rPr>
              <a:t>前端</a:t>
            </a:r>
            <a:r>
              <a:rPr lang="en-US" sz="1050">
                <a:solidFill>
                  <a:srgbClr val="94A3B8"/>
                </a:solidFill>
                <a:latin typeface="Microsoft YaHei"/>
                <a:ea typeface="Microsoft YaHei"/>
              </a:rPr>
              <a:t> can() + </a:t>
            </a:r>
            <a:r>
              <a:rPr lang="zh-CN" sz="1050">
                <a:solidFill>
                  <a:srgbClr val="94A3B8"/>
                </a:solidFill>
                <a:latin typeface="Microsoft YaHei"/>
                <a:ea typeface="Microsoft YaHei"/>
              </a:rPr>
              <a:t>后端</a:t>
            </a:r>
            <a:r>
              <a:rPr lang="en-US" sz="1050">
                <a:solidFill>
                  <a:srgbClr val="94A3B8"/>
                </a:solidFill>
                <a:latin typeface="Microsoft YaHei"/>
                <a:ea typeface="Microsoft YaHei"/>
              </a:rPr>
              <a:t> globalAuthGuard </a:t>
            </a:r>
            <a:r>
              <a:rPr lang="zh-CN" sz="1050">
                <a:solidFill>
                  <a:srgbClr val="94A3B8"/>
                </a:solidFill>
                <a:latin typeface="Microsoft YaHei"/>
                <a:ea typeface="Microsoft YaHei"/>
              </a:rPr>
              <a:t>双重校验</a:t>
            </a:r>
            <a:endParaRPr/>
          </a:p>
        </p:txBody>
      </p:sp>
      <p:sp>
        <p:nvSpPr>
          <p:cNvPr id="269" name=""/>
          <p:cNvSpPr/>
          <p:nvPr/>
        </p:nvSpPr>
        <p:spPr>
          <a:xfrm rot="0" flipH="0" flipV="0">
            <a:off x="561975" y="1552575"/>
            <a:ext cx="2714625" cy="723900"/>
          </a:xfrm>
          <a:prstGeom prst="roundRect">
            <a:avLst>
              <a:gd name="adj" fmla="val 7895"/>
            </a:avLst>
          </a:prstGeom>
          <a:solidFill>
            <a:srgbClr val="0F172A"/>
          </a:solidFill>
          <a:ln/>
        </p:spPr>
        <p:txBody>
          <a:bodyPr/>
          <a:p/>
        </p:txBody>
      </p:sp>
      <p:sp>
        <p:nvSpPr>
          <p:cNvPr id="270" name=""/>
          <p:cNvSpPr/>
          <p:nvPr/>
        </p:nvSpPr>
        <p:spPr>
          <a:xfrm rot="0" flipH="0" flipV="0">
            <a:off x="561975" y="1552575"/>
            <a:ext cx="2714625" cy="723900"/>
          </a:xfrm>
          <a:custGeom>
            <a:pathLst>
              <a:path w="285" h="76">
                <a:moveTo>
                  <a:pt x="6" y="0"/>
                </a:moveTo>
                <a:cubicBezTo>
                  <a:pt x="4" y="0"/>
                  <a:pt x="3" y="1"/>
                  <a:pt x="3" y="3"/>
                </a:cubicBezTo>
                <a:lnTo>
                  <a:pt x="3" y="73"/>
                </a:lnTo>
                <a:cubicBezTo>
                  <a:pt x="3" y="74"/>
                  <a:pt x="4" y="76"/>
                  <a:pt x="5" y="76"/>
                </a:cubicBezTo>
                <a:cubicBezTo>
                  <a:pt x="2" y="76"/>
                  <a:pt x="0" y="73"/>
                  <a:pt x="0" y="70"/>
                </a:cubicBezTo>
                <a:lnTo>
                  <a:pt x="0" y="6"/>
                </a:lnTo>
                <a:cubicBezTo>
                  <a:pt x="0" y="3"/>
                  <a:pt x="3" y="0"/>
                  <a:pt x="6" y="0"/>
                </a:cubicBezTo>
                <a:close/>
              </a:path>
            </a:pathLst>
          </a:custGeom>
          <a:solidFill>
            <a:srgbClr val="06B6D4"/>
          </a:solidFill>
          <a:ln/>
        </p:spPr>
        <p:txBody>
          <a:bodyPr/>
          <a:p/>
        </p:txBody>
      </p:sp>
      <p:sp>
        <p:nvSpPr>
          <p:cNvPr id="271" name="" descr="{&quot;isTemplate&quot;:true,&quot;type&quot;:&quot;text&quot;}"/>
          <p:cNvSpPr txBox="1"/>
          <p:nvPr/>
        </p:nvSpPr>
        <p:spPr>
          <a:xfrm rot="0" flipH="0" flipV="0">
            <a:off x="695325" y="1685925"/>
            <a:ext cx="52387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06B6D4"/>
                </a:solidFill>
                <a:latin typeface="monospace"/>
                <a:ea typeface="monospace"/>
              </a:rPr>
              <a:t>admin</a:t>
            </a:r>
            <a:endParaRPr/>
          </a:p>
        </p:txBody>
      </p:sp>
      <p:sp>
        <p:nvSpPr>
          <p:cNvPr id="272" name="" descr="{&quot;isTemplate&quot;:true,&quot;type&quot;:&quot;text&quot;}"/>
          <p:cNvSpPr txBox="1"/>
          <p:nvPr/>
        </p:nvSpPr>
        <p:spPr>
          <a:xfrm rot="0" flipH="0" flipV="0">
            <a:off x="1295400" y="1685925"/>
            <a:ext cx="5715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64748B"/>
                </a:solidFill>
                <a:latin typeface="Microsoft YaHei"/>
                <a:ea typeface="Microsoft YaHei"/>
              </a:rPr>
              <a:t>系统管理员</a:t>
            </a:r>
            <a:endParaRPr/>
          </a:p>
        </p:txBody>
      </p:sp>
      <p:sp>
        <p:nvSpPr>
          <p:cNvPr id="273" name="" descr="{&quot;isTemplate&quot;:true,&quot;type&quot;:&quot;text&quot;}"/>
          <p:cNvSpPr txBox="1"/>
          <p:nvPr/>
        </p:nvSpPr>
        <p:spPr>
          <a:xfrm rot="0" flipH="0" flipV="0">
            <a:off x="695325" y="1933575"/>
            <a:ext cx="2419350" cy="2095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900">
                <a:solidFill>
                  <a:srgbClr val="CBD5E1"/>
                </a:solidFill>
                <a:latin typeface="Microsoft YaHei"/>
                <a:ea typeface="Microsoft YaHei"/>
              </a:rPr>
              <a:t>全部权限</a:t>
            </a:r>
            <a:r>
              <a:rPr lang="en-US" sz="900">
                <a:solidFill>
                  <a:srgbClr val="CBD5E1"/>
                </a:solidFill>
                <a:latin typeface="Microsoft YaHei"/>
                <a:ea typeface="Microsoft YaHei"/>
              </a:rPr>
              <a:t> (*)</a:t>
            </a:r>
            <a:endParaRPr/>
          </a:p>
        </p:txBody>
      </p:sp>
      <p:sp>
        <p:nvSpPr>
          <p:cNvPr id="274" name=""/>
          <p:cNvSpPr/>
          <p:nvPr/>
        </p:nvSpPr>
        <p:spPr>
          <a:xfrm rot="0" flipH="0" flipV="0">
            <a:off x="3371850" y="1552575"/>
            <a:ext cx="2705100" cy="723900"/>
          </a:xfrm>
          <a:prstGeom prst="roundRect">
            <a:avLst>
              <a:gd name="adj" fmla="val 7895"/>
            </a:avLst>
          </a:prstGeom>
          <a:solidFill>
            <a:srgbClr val="0F172A"/>
          </a:solidFill>
          <a:ln/>
        </p:spPr>
        <p:txBody>
          <a:bodyPr/>
          <a:p/>
        </p:txBody>
      </p:sp>
      <p:sp>
        <p:nvSpPr>
          <p:cNvPr id="275" name=""/>
          <p:cNvSpPr/>
          <p:nvPr/>
        </p:nvSpPr>
        <p:spPr>
          <a:xfrm rot="0" flipH="0" flipV="0">
            <a:off x="3371850" y="1552575"/>
            <a:ext cx="2705100" cy="723900"/>
          </a:xfrm>
          <a:custGeom>
            <a:pathLst>
              <a:path w="284" h="76">
                <a:moveTo>
                  <a:pt x="6" y="0"/>
                </a:moveTo>
                <a:cubicBezTo>
                  <a:pt x="4" y="0"/>
                  <a:pt x="3" y="1"/>
                  <a:pt x="3" y="3"/>
                </a:cubicBezTo>
                <a:lnTo>
                  <a:pt x="3" y="73"/>
                </a:lnTo>
                <a:cubicBezTo>
                  <a:pt x="3" y="74"/>
                  <a:pt x="4" y="76"/>
                  <a:pt x="5" y="76"/>
                </a:cubicBezTo>
                <a:cubicBezTo>
                  <a:pt x="2" y="76"/>
                  <a:pt x="0" y="73"/>
                  <a:pt x="0" y="70"/>
                </a:cubicBezTo>
                <a:lnTo>
                  <a:pt x="0" y="6"/>
                </a:lnTo>
                <a:cubicBezTo>
                  <a:pt x="0" y="3"/>
                  <a:pt x="3" y="0"/>
                  <a:pt x="6" y="0"/>
                </a:cubicBezTo>
                <a:close/>
              </a:path>
            </a:pathLst>
          </a:custGeom>
          <a:solidFill>
            <a:srgbClr val="06B6D4"/>
          </a:solidFill>
          <a:ln/>
        </p:spPr>
        <p:txBody>
          <a:bodyPr/>
          <a:p/>
        </p:txBody>
      </p:sp>
      <p:sp>
        <p:nvSpPr>
          <p:cNvPr id="276" name="" descr="{&quot;isTemplate&quot;:true,&quot;type&quot;:&quot;text&quot;}"/>
          <p:cNvSpPr txBox="1"/>
          <p:nvPr/>
        </p:nvSpPr>
        <p:spPr>
          <a:xfrm rot="0" flipH="0" flipV="0">
            <a:off x="3505200" y="1685925"/>
            <a:ext cx="7239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06B6D4"/>
                </a:solidFill>
                <a:latin typeface="monospace"/>
                <a:ea typeface="monospace"/>
              </a:rPr>
              <a:t>manager</a:t>
            </a:r>
            <a:endParaRPr/>
          </a:p>
        </p:txBody>
      </p:sp>
      <p:sp>
        <p:nvSpPr>
          <p:cNvPr id="277" name="" descr="{&quot;isTemplate&quot;:true,&quot;type&quot;:&quot;text&quot;}"/>
          <p:cNvSpPr txBox="1"/>
          <p:nvPr/>
        </p:nvSpPr>
        <p:spPr>
          <a:xfrm rot="0" flipH="0" flipV="0">
            <a:off x="4305300" y="1685925"/>
            <a:ext cx="4572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64748B"/>
                </a:solidFill>
                <a:latin typeface="Microsoft YaHei"/>
                <a:ea typeface="Microsoft YaHei"/>
              </a:rPr>
              <a:t>车间主任</a:t>
            </a:r>
            <a:endParaRPr/>
          </a:p>
        </p:txBody>
      </p:sp>
      <p:sp>
        <p:nvSpPr>
          <p:cNvPr id="278" name="" descr="{&quot;isTemplate&quot;:true,&quot;type&quot;:&quot;text&quot;}"/>
          <p:cNvSpPr txBox="1"/>
          <p:nvPr/>
        </p:nvSpPr>
        <p:spPr>
          <a:xfrm rot="0" flipH="0" flipV="0">
            <a:off x="3505200" y="1933575"/>
            <a:ext cx="2409825" cy="2095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900">
                <a:solidFill>
                  <a:srgbClr val="CBD5E1"/>
                </a:solidFill>
                <a:latin typeface="Microsoft YaHei"/>
                <a:ea typeface="Microsoft YaHei"/>
              </a:rPr>
              <a:t>工单审批</a:t>
            </a:r>
            <a:r>
              <a:rPr lang="en-US" sz="900">
                <a:solidFill>
                  <a:srgbClr val="CBD5E1"/>
                </a:solidFill>
                <a:latin typeface="Microsoft YaHei"/>
                <a:ea typeface="Microsoft YaHei"/>
              </a:rPr>
              <a:t> · </a:t>
            </a:r>
            <a:r>
              <a:rPr lang="zh-CN" sz="900">
                <a:solidFill>
                  <a:srgbClr val="CBD5E1"/>
                </a:solidFill>
                <a:latin typeface="Microsoft YaHei"/>
                <a:ea typeface="Microsoft YaHei"/>
              </a:rPr>
              <a:t>作业票审批</a:t>
            </a:r>
            <a:r>
              <a:rPr lang="en-US" sz="900">
                <a:solidFill>
                  <a:srgbClr val="CBD5E1"/>
                </a:solidFill>
                <a:latin typeface="Microsoft YaHei"/>
                <a:ea typeface="Microsoft YaHei"/>
              </a:rPr>
              <a:t> · </a:t>
            </a:r>
            <a:r>
              <a:rPr lang="zh-CN" sz="900">
                <a:solidFill>
                  <a:srgbClr val="CBD5E1"/>
                </a:solidFill>
                <a:latin typeface="Microsoft YaHei"/>
                <a:ea typeface="Microsoft YaHei"/>
              </a:rPr>
              <a:t>报表</a:t>
            </a:r>
            <a:endParaRPr/>
          </a:p>
        </p:txBody>
      </p:sp>
      <p:sp>
        <p:nvSpPr>
          <p:cNvPr id="279" name=""/>
          <p:cNvSpPr/>
          <p:nvPr/>
        </p:nvSpPr>
        <p:spPr>
          <a:xfrm rot="0" flipH="0" flipV="0">
            <a:off x="6172200" y="1552575"/>
            <a:ext cx="2714625" cy="723900"/>
          </a:xfrm>
          <a:prstGeom prst="roundRect">
            <a:avLst>
              <a:gd name="adj" fmla="val 7895"/>
            </a:avLst>
          </a:prstGeom>
          <a:solidFill>
            <a:srgbClr val="0F172A"/>
          </a:solidFill>
          <a:ln/>
        </p:spPr>
        <p:txBody>
          <a:bodyPr/>
          <a:p/>
        </p:txBody>
      </p:sp>
      <p:sp>
        <p:nvSpPr>
          <p:cNvPr id="280" name=""/>
          <p:cNvSpPr/>
          <p:nvPr/>
        </p:nvSpPr>
        <p:spPr>
          <a:xfrm rot="0" flipH="0" flipV="0">
            <a:off x="6172200" y="1552575"/>
            <a:ext cx="2714625" cy="723900"/>
          </a:xfrm>
          <a:custGeom>
            <a:pathLst>
              <a:path w="285" h="76">
                <a:moveTo>
                  <a:pt x="6" y="0"/>
                </a:moveTo>
                <a:cubicBezTo>
                  <a:pt x="4" y="0"/>
                  <a:pt x="3" y="1"/>
                  <a:pt x="3" y="3"/>
                </a:cubicBezTo>
                <a:lnTo>
                  <a:pt x="3" y="73"/>
                </a:lnTo>
                <a:cubicBezTo>
                  <a:pt x="3" y="74"/>
                  <a:pt x="4" y="76"/>
                  <a:pt x="5" y="76"/>
                </a:cubicBezTo>
                <a:cubicBezTo>
                  <a:pt x="2" y="76"/>
                  <a:pt x="0" y="73"/>
                  <a:pt x="0" y="70"/>
                </a:cubicBezTo>
                <a:lnTo>
                  <a:pt x="0" y="6"/>
                </a:lnTo>
                <a:cubicBezTo>
                  <a:pt x="0" y="3"/>
                  <a:pt x="3" y="0"/>
                  <a:pt x="6" y="0"/>
                </a:cubicBezTo>
                <a:close/>
              </a:path>
            </a:pathLst>
          </a:custGeom>
          <a:solidFill>
            <a:srgbClr val="F59E0B"/>
          </a:solidFill>
          <a:ln/>
        </p:spPr>
        <p:txBody>
          <a:bodyPr/>
          <a:p/>
        </p:txBody>
      </p:sp>
      <p:sp>
        <p:nvSpPr>
          <p:cNvPr id="281" name="" descr="{&quot;isTemplate&quot;:true,&quot;type&quot;:&quot;text&quot;}"/>
          <p:cNvSpPr txBox="1"/>
          <p:nvPr/>
        </p:nvSpPr>
        <p:spPr>
          <a:xfrm rot="0" flipH="0" flipV="0">
            <a:off x="6305550" y="1685925"/>
            <a:ext cx="52387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F59E0B"/>
                </a:solidFill>
                <a:latin typeface="monospace"/>
                <a:ea typeface="monospace"/>
              </a:rPr>
              <a:t>tech1</a:t>
            </a:r>
            <a:endParaRPr/>
          </a:p>
        </p:txBody>
      </p:sp>
      <p:sp>
        <p:nvSpPr>
          <p:cNvPr id="282" name="" descr="{&quot;isTemplate&quot;:true,&quot;type&quot;:&quot;text&quot;}"/>
          <p:cNvSpPr txBox="1"/>
          <p:nvPr/>
        </p:nvSpPr>
        <p:spPr>
          <a:xfrm rot="0" flipH="0" flipV="0">
            <a:off x="6905625" y="1685925"/>
            <a:ext cx="69532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64748B"/>
                </a:solidFill>
                <a:latin typeface="Microsoft YaHei"/>
                <a:ea typeface="Microsoft YaHei"/>
              </a:rPr>
              <a:t>检修工</a:t>
            </a:r>
            <a:r>
              <a:rPr lang="en-US" sz="900">
                <a:solidFill>
                  <a:srgbClr val="64748B"/>
                </a:solidFill>
                <a:latin typeface="Microsoft YaHei"/>
                <a:ea typeface="Microsoft YaHei"/>
              </a:rPr>
              <a:t> - </a:t>
            </a:r>
            <a:r>
              <a:rPr lang="zh-CN" sz="900">
                <a:solidFill>
                  <a:srgbClr val="64748B"/>
                </a:solidFill>
                <a:latin typeface="Microsoft YaHei"/>
                <a:ea typeface="Microsoft YaHei"/>
              </a:rPr>
              <a:t>主修</a:t>
            </a:r>
            <a:endParaRPr/>
          </a:p>
        </p:txBody>
      </p:sp>
      <p:sp>
        <p:nvSpPr>
          <p:cNvPr id="283" name="" descr="{&quot;isTemplate&quot;:true,&quot;type&quot;:&quot;text&quot;}"/>
          <p:cNvSpPr txBox="1"/>
          <p:nvPr/>
        </p:nvSpPr>
        <p:spPr>
          <a:xfrm rot="0" flipH="0" flipV="0">
            <a:off x="6305550" y="1933575"/>
            <a:ext cx="2419350" cy="2095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900">
                <a:solidFill>
                  <a:srgbClr val="CBD5E1"/>
                </a:solidFill>
                <a:latin typeface="Microsoft YaHei"/>
                <a:ea typeface="Microsoft YaHei"/>
              </a:rPr>
              <a:t>接单</a:t>
            </a:r>
            <a:r>
              <a:rPr lang="en-US" sz="900">
                <a:solidFill>
                  <a:srgbClr val="CBD5E1"/>
                </a:solidFill>
                <a:latin typeface="Microsoft YaHei"/>
                <a:ea typeface="Microsoft YaHei"/>
              </a:rPr>
              <a:t> · </a:t>
            </a:r>
            <a:r>
              <a:rPr lang="zh-CN" sz="900">
                <a:solidFill>
                  <a:srgbClr val="CBD5E1"/>
                </a:solidFill>
                <a:latin typeface="Microsoft YaHei"/>
                <a:ea typeface="Microsoft YaHei"/>
              </a:rPr>
              <a:t>执行</a:t>
            </a:r>
            <a:r>
              <a:rPr lang="en-US" sz="900">
                <a:solidFill>
                  <a:srgbClr val="CBD5E1"/>
                </a:solidFill>
                <a:latin typeface="Microsoft YaHei"/>
                <a:ea typeface="Microsoft YaHei"/>
              </a:rPr>
              <a:t> · AI </a:t>
            </a:r>
            <a:r>
              <a:rPr lang="zh-CN" sz="900">
                <a:solidFill>
                  <a:srgbClr val="CBD5E1"/>
                </a:solidFill>
                <a:latin typeface="Microsoft YaHei"/>
                <a:ea typeface="Microsoft YaHei"/>
              </a:rPr>
              <a:t>诊断</a:t>
            </a:r>
            <a:r>
              <a:rPr lang="en-US" sz="900">
                <a:solidFill>
                  <a:srgbClr val="CBD5E1"/>
                </a:solidFill>
                <a:latin typeface="Microsoft YaHei"/>
                <a:ea typeface="Microsoft YaHei"/>
              </a:rPr>
              <a:t> · </a:t>
            </a:r>
            <a:r>
              <a:rPr lang="zh-CN" sz="900">
                <a:solidFill>
                  <a:srgbClr val="CBD5E1"/>
                </a:solidFill>
                <a:latin typeface="Microsoft YaHei"/>
                <a:ea typeface="Microsoft YaHei"/>
              </a:rPr>
              <a:t>签名</a:t>
            </a:r>
            <a:endParaRPr/>
          </a:p>
        </p:txBody>
      </p:sp>
      <p:sp>
        <p:nvSpPr>
          <p:cNvPr id="284" name=""/>
          <p:cNvSpPr/>
          <p:nvPr/>
        </p:nvSpPr>
        <p:spPr>
          <a:xfrm rot="0" flipH="0" flipV="0">
            <a:off x="8982075" y="1552575"/>
            <a:ext cx="2705100" cy="723900"/>
          </a:xfrm>
          <a:prstGeom prst="roundRect">
            <a:avLst>
              <a:gd name="adj" fmla="val 7895"/>
            </a:avLst>
          </a:prstGeom>
          <a:solidFill>
            <a:srgbClr val="0F172A"/>
          </a:solidFill>
          <a:ln/>
        </p:spPr>
        <p:txBody>
          <a:bodyPr/>
          <a:p/>
        </p:txBody>
      </p:sp>
      <p:sp>
        <p:nvSpPr>
          <p:cNvPr id="285" name=""/>
          <p:cNvSpPr/>
          <p:nvPr/>
        </p:nvSpPr>
        <p:spPr>
          <a:xfrm rot="0" flipH="0" flipV="0">
            <a:off x="8982075" y="1552575"/>
            <a:ext cx="2705100" cy="723900"/>
          </a:xfrm>
          <a:custGeom>
            <a:pathLst>
              <a:path w="284" h="76">
                <a:moveTo>
                  <a:pt x="6" y="0"/>
                </a:moveTo>
                <a:cubicBezTo>
                  <a:pt x="4" y="0"/>
                  <a:pt x="3" y="1"/>
                  <a:pt x="3" y="3"/>
                </a:cubicBezTo>
                <a:lnTo>
                  <a:pt x="3" y="73"/>
                </a:lnTo>
                <a:cubicBezTo>
                  <a:pt x="3" y="74"/>
                  <a:pt x="4" y="76"/>
                  <a:pt x="5" y="76"/>
                </a:cubicBezTo>
                <a:cubicBezTo>
                  <a:pt x="2" y="76"/>
                  <a:pt x="0" y="73"/>
                  <a:pt x="0" y="70"/>
                </a:cubicBezTo>
                <a:lnTo>
                  <a:pt x="0" y="6"/>
                </a:lnTo>
                <a:cubicBezTo>
                  <a:pt x="0" y="3"/>
                  <a:pt x="3" y="0"/>
                  <a:pt x="6" y="0"/>
                </a:cubicBezTo>
                <a:close/>
              </a:path>
            </a:pathLst>
          </a:custGeom>
          <a:solidFill>
            <a:srgbClr val="F59E0B"/>
          </a:solidFill>
          <a:ln/>
        </p:spPr>
        <p:txBody>
          <a:bodyPr/>
          <a:p/>
        </p:txBody>
      </p:sp>
      <p:sp>
        <p:nvSpPr>
          <p:cNvPr id="286" name="" descr="{&quot;isTemplate&quot;:true,&quot;type&quot;:&quot;text&quot;}"/>
          <p:cNvSpPr txBox="1"/>
          <p:nvPr/>
        </p:nvSpPr>
        <p:spPr>
          <a:xfrm rot="0" flipH="0" flipV="0">
            <a:off x="9115425" y="1685925"/>
            <a:ext cx="52387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F59E0B"/>
                </a:solidFill>
                <a:latin typeface="monospace"/>
                <a:ea typeface="monospace"/>
              </a:rPr>
              <a:t>tech2</a:t>
            </a:r>
            <a:endParaRPr/>
          </a:p>
        </p:txBody>
      </p:sp>
      <p:sp>
        <p:nvSpPr>
          <p:cNvPr id="287" name="" descr="{&quot;isTemplate&quot;:true,&quot;type&quot;:&quot;text&quot;}"/>
          <p:cNvSpPr txBox="1"/>
          <p:nvPr/>
        </p:nvSpPr>
        <p:spPr>
          <a:xfrm rot="0" flipH="0" flipV="0">
            <a:off x="9715500" y="1685925"/>
            <a:ext cx="69532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64748B"/>
                </a:solidFill>
                <a:latin typeface="Microsoft YaHei"/>
                <a:ea typeface="Microsoft YaHei"/>
              </a:rPr>
              <a:t>检修工</a:t>
            </a:r>
            <a:r>
              <a:rPr lang="en-US" sz="900">
                <a:solidFill>
                  <a:srgbClr val="64748B"/>
                </a:solidFill>
                <a:latin typeface="Microsoft YaHei"/>
                <a:ea typeface="Microsoft YaHei"/>
              </a:rPr>
              <a:t> - </a:t>
            </a:r>
            <a:r>
              <a:rPr lang="zh-CN" sz="900">
                <a:solidFill>
                  <a:srgbClr val="64748B"/>
                </a:solidFill>
                <a:latin typeface="Microsoft YaHei"/>
                <a:ea typeface="Microsoft YaHei"/>
              </a:rPr>
              <a:t>副修</a:t>
            </a:r>
            <a:endParaRPr/>
          </a:p>
        </p:txBody>
      </p:sp>
      <p:sp>
        <p:nvSpPr>
          <p:cNvPr id="288" name="" descr="{&quot;isTemplate&quot;:true,&quot;type&quot;:&quot;text&quot;}"/>
          <p:cNvSpPr txBox="1"/>
          <p:nvPr/>
        </p:nvSpPr>
        <p:spPr>
          <a:xfrm rot="0" flipH="0" flipV="0">
            <a:off x="9115425" y="1933575"/>
            <a:ext cx="2409825" cy="2095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900">
                <a:solidFill>
                  <a:srgbClr val="CBD5E1"/>
                </a:solidFill>
                <a:latin typeface="Microsoft YaHei"/>
                <a:ea typeface="Microsoft YaHei"/>
              </a:rPr>
              <a:t>执行</a:t>
            </a:r>
            <a:r>
              <a:rPr lang="en-US" sz="900">
                <a:solidFill>
                  <a:srgbClr val="CBD5E1"/>
                </a:solidFill>
                <a:latin typeface="Microsoft YaHei"/>
                <a:ea typeface="Microsoft YaHei"/>
              </a:rPr>
              <a:t> · </a:t>
            </a:r>
            <a:r>
              <a:rPr lang="zh-CN" sz="900">
                <a:solidFill>
                  <a:srgbClr val="CBD5E1"/>
                </a:solidFill>
                <a:latin typeface="Microsoft YaHei"/>
                <a:ea typeface="Microsoft YaHei"/>
              </a:rPr>
              <a:t>副签</a:t>
            </a:r>
            <a:endParaRPr/>
          </a:p>
        </p:txBody>
      </p:sp>
      <p:sp>
        <p:nvSpPr>
          <p:cNvPr id="289" name=""/>
          <p:cNvSpPr/>
          <p:nvPr/>
        </p:nvSpPr>
        <p:spPr>
          <a:xfrm rot="0" flipH="0" flipV="0">
            <a:off x="561975" y="2371725"/>
            <a:ext cx="2714625" cy="723900"/>
          </a:xfrm>
          <a:prstGeom prst="roundRect">
            <a:avLst>
              <a:gd name="adj" fmla="val 7895"/>
            </a:avLst>
          </a:prstGeom>
          <a:solidFill>
            <a:srgbClr val="0F172A"/>
          </a:solidFill>
          <a:ln/>
        </p:spPr>
        <p:txBody>
          <a:bodyPr/>
          <a:p/>
        </p:txBody>
      </p:sp>
      <p:sp>
        <p:nvSpPr>
          <p:cNvPr id="290" name=""/>
          <p:cNvSpPr/>
          <p:nvPr/>
        </p:nvSpPr>
        <p:spPr>
          <a:xfrm rot="0" flipH="0" flipV="0">
            <a:off x="561975" y="2371725"/>
            <a:ext cx="2714625" cy="723900"/>
          </a:xfrm>
          <a:custGeom>
            <a:pathLst>
              <a:path w="285" h="76">
                <a:moveTo>
                  <a:pt x="6" y="0"/>
                </a:moveTo>
                <a:cubicBezTo>
                  <a:pt x="4" y="0"/>
                  <a:pt x="3" y="1"/>
                  <a:pt x="3" y="3"/>
                </a:cubicBezTo>
                <a:lnTo>
                  <a:pt x="3" y="73"/>
                </a:lnTo>
                <a:cubicBezTo>
                  <a:pt x="3" y="74"/>
                  <a:pt x="4" y="76"/>
                  <a:pt x="5" y="76"/>
                </a:cubicBezTo>
                <a:cubicBezTo>
                  <a:pt x="2" y="76"/>
                  <a:pt x="0" y="73"/>
                  <a:pt x="0" y="70"/>
                </a:cubicBezTo>
                <a:lnTo>
                  <a:pt x="0" y="6"/>
                </a:lnTo>
                <a:cubicBezTo>
                  <a:pt x="0" y="3"/>
                  <a:pt x="3" y="0"/>
                  <a:pt x="6" y="0"/>
                </a:cubicBezTo>
                <a:close/>
              </a:path>
            </a:pathLst>
          </a:custGeom>
          <a:solidFill>
            <a:srgbClr val="10B981"/>
          </a:solidFill>
          <a:ln/>
        </p:spPr>
        <p:txBody>
          <a:bodyPr/>
          <a:p/>
        </p:txBody>
      </p:sp>
      <p:sp>
        <p:nvSpPr>
          <p:cNvPr id="291" name="" descr="{&quot;isTemplate&quot;:true,&quot;type&quot;:&quot;text&quot;}"/>
          <p:cNvSpPr txBox="1"/>
          <p:nvPr/>
        </p:nvSpPr>
        <p:spPr>
          <a:xfrm rot="0" flipH="0" flipV="0">
            <a:off x="695325" y="2505075"/>
            <a:ext cx="9334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10B981"/>
                </a:solidFill>
                <a:latin typeface="monospace"/>
                <a:ea typeface="monospace"/>
              </a:rPr>
              <a:t>inspector</a:t>
            </a:r>
            <a:endParaRPr/>
          </a:p>
        </p:txBody>
      </p:sp>
      <p:sp>
        <p:nvSpPr>
          <p:cNvPr id="292" name="" descr="{&quot;isTemplate&quot;:true,&quot;type&quot;:&quot;text&quot;}"/>
          <p:cNvSpPr txBox="1"/>
          <p:nvPr/>
        </p:nvSpPr>
        <p:spPr>
          <a:xfrm rot="0" flipH="0" flipV="0">
            <a:off x="1704975" y="2505075"/>
            <a:ext cx="3429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64748B"/>
                </a:solidFill>
                <a:latin typeface="Microsoft YaHei"/>
                <a:ea typeface="Microsoft YaHei"/>
              </a:rPr>
              <a:t>巡检员</a:t>
            </a:r>
            <a:endParaRPr/>
          </a:p>
        </p:txBody>
      </p:sp>
      <p:sp>
        <p:nvSpPr>
          <p:cNvPr id="293" name="" descr="{&quot;isTemplate&quot;:true,&quot;type&quot;:&quot;text&quot;}"/>
          <p:cNvSpPr txBox="1"/>
          <p:nvPr/>
        </p:nvSpPr>
        <p:spPr>
          <a:xfrm rot="0" flipH="0" flipV="0">
            <a:off x="695325" y="2752725"/>
            <a:ext cx="2419350" cy="2095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900">
                <a:solidFill>
                  <a:srgbClr val="CBD5E1"/>
                </a:solidFill>
                <a:latin typeface="Microsoft YaHei"/>
                <a:ea typeface="Microsoft YaHei"/>
              </a:rPr>
              <a:t>巡检</a:t>
            </a:r>
            <a:r>
              <a:rPr lang="en-US" sz="900">
                <a:solidFill>
                  <a:srgbClr val="CBD5E1"/>
                </a:solidFill>
                <a:latin typeface="Microsoft YaHei"/>
                <a:ea typeface="Microsoft YaHei"/>
              </a:rPr>
              <a:t> · </a:t>
            </a:r>
            <a:r>
              <a:rPr lang="zh-CN" sz="900">
                <a:solidFill>
                  <a:srgbClr val="CBD5E1"/>
                </a:solidFill>
                <a:latin typeface="Microsoft YaHei"/>
                <a:ea typeface="Microsoft YaHei"/>
              </a:rPr>
              <a:t>创建报修</a:t>
            </a:r>
            <a:endParaRPr/>
          </a:p>
        </p:txBody>
      </p:sp>
      <p:sp>
        <p:nvSpPr>
          <p:cNvPr id="294" name=""/>
          <p:cNvSpPr/>
          <p:nvPr/>
        </p:nvSpPr>
        <p:spPr>
          <a:xfrm rot="0" flipH="0" flipV="0">
            <a:off x="3371850" y="2371725"/>
            <a:ext cx="2705100" cy="723900"/>
          </a:xfrm>
          <a:prstGeom prst="roundRect">
            <a:avLst>
              <a:gd name="adj" fmla="val 7895"/>
            </a:avLst>
          </a:prstGeom>
          <a:solidFill>
            <a:srgbClr val="0F172A"/>
          </a:solidFill>
          <a:ln/>
        </p:spPr>
        <p:txBody>
          <a:bodyPr/>
          <a:p/>
        </p:txBody>
      </p:sp>
      <p:sp>
        <p:nvSpPr>
          <p:cNvPr id="295" name=""/>
          <p:cNvSpPr/>
          <p:nvPr/>
        </p:nvSpPr>
        <p:spPr>
          <a:xfrm rot="0" flipH="0" flipV="0">
            <a:off x="3371850" y="2371725"/>
            <a:ext cx="2705100" cy="723900"/>
          </a:xfrm>
          <a:custGeom>
            <a:pathLst>
              <a:path w="284" h="76">
                <a:moveTo>
                  <a:pt x="6" y="0"/>
                </a:moveTo>
                <a:cubicBezTo>
                  <a:pt x="4" y="0"/>
                  <a:pt x="3" y="1"/>
                  <a:pt x="3" y="3"/>
                </a:cubicBezTo>
                <a:lnTo>
                  <a:pt x="3" y="73"/>
                </a:lnTo>
                <a:cubicBezTo>
                  <a:pt x="3" y="74"/>
                  <a:pt x="4" y="76"/>
                  <a:pt x="5" y="76"/>
                </a:cubicBezTo>
                <a:cubicBezTo>
                  <a:pt x="2" y="76"/>
                  <a:pt x="0" y="73"/>
                  <a:pt x="0" y="70"/>
                </a:cubicBezTo>
                <a:lnTo>
                  <a:pt x="0" y="6"/>
                </a:lnTo>
                <a:cubicBezTo>
                  <a:pt x="0" y="3"/>
                  <a:pt x="3" y="0"/>
                  <a:pt x="6" y="0"/>
                </a:cubicBezTo>
                <a:close/>
              </a:path>
            </a:pathLst>
          </a:custGeom>
          <a:solidFill>
            <a:srgbClr val="10B981"/>
          </a:solidFill>
          <a:ln/>
        </p:spPr>
        <p:txBody>
          <a:bodyPr/>
          <a:p/>
        </p:txBody>
      </p:sp>
      <p:sp>
        <p:nvSpPr>
          <p:cNvPr id="296" name="" descr="{&quot;isTemplate&quot;:true,&quot;type&quot;:&quot;text&quot;}"/>
          <p:cNvSpPr txBox="1"/>
          <p:nvPr/>
        </p:nvSpPr>
        <p:spPr>
          <a:xfrm rot="0" flipH="0" flipV="0">
            <a:off x="3505200" y="2505075"/>
            <a:ext cx="82867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10B981"/>
                </a:solidFill>
                <a:latin typeface="monospace"/>
                <a:ea typeface="monospace"/>
              </a:rPr>
              <a:t>operator</a:t>
            </a:r>
            <a:endParaRPr/>
          </a:p>
        </p:txBody>
      </p:sp>
      <p:sp>
        <p:nvSpPr>
          <p:cNvPr id="297" name="" descr="{&quot;isTemplate&quot;:true,&quot;type&quot;:&quot;text&quot;}"/>
          <p:cNvSpPr txBox="1"/>
          <p:nvPr/>
        </p:nvSpPr>
        <p:spPr>
          <a:xfrm rot="0" flipH="0" flipV="0">
            <a:off x="4410075" y="2505075"/>
            <a:ext cx="3429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64748B"/>
                </a:solidFill>
                <a:latin typeface="Microsoft YaHei"/>
                <a:ea typeface="Microsoft YaHei"/>
              </a:rPr>
              <a:t>操作工</a:t>
            </a:r>
            <a:endParaRPr/>
          </a:p>
        </p:txBody>
      </p:sp>
      <p:sp>
        <p:nvSpPr>
          <p:cNvPr id="298" name="" descr="{&quot;isTemplate&quot;:true,&quot;type&quot;:&quot;text&quot;}"/>
          <p:cNvSpPr txBox="1"/>
          <p:nvPr/>
        </p:nvSpPr>
        <p:spPr>
          <a:xfrm rot="0" flipH="0" flipV="0">
            <a:off x="3505200" y="2752725"/>
            <a:ext cx="2409825" cy="2095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900">
                <a:solidFill>
                  <a:srgbClr val="CBD5E1"/>
                </a:solidFill>
                <a:latin typeface="Microsoft YaHei"/>
                <a:ea typeface="Microsoft YaHei"/>
              </a:rPr>
              <a:t>报修</a:t>
            </a:r>
            <a:r>
              <a:rPr lang="en-US" sz="900">
                <a:solidFill>
                  <a:srgbClr val="CBD5E1"/>
                </a:solidFill>
                <a:latin typeface="Microsoft YaHei"/>
                <a:ea typeface="Microsoft YaHei"/>
              </a:rPr>
              <a:t> · </a:t>
            </a:r>
            <a:r>
              <a:rPr lang="zh-CN" sz="900">
                <a:solidFill>
                  <a:srgbClr val="CBD5E1"/>
                </a:solidFill>
                <a:latin typeface="Microsoft YaHei"/>
                <a:ea typeface="Microsoft YaHei"/>
              </a:rPr>
              <a:t>创建作业票</a:t>
            </a:r>
            <a:endParaRPr/>
          </a:p>
        </p:txBody>
      </p:sp>
      <p:sp>
        <p:nvSpPr>
          <p:cNvPr id="299" name=""/>
          <p:cNvSpPr/>
          <p:nvPr/>
        </p:nvSpPr>
        <p:spPr>
          <a:xfrm rot="0" flipH="0" flipV="0">
            <a:off x="6172200" y="2371725"/>
            <a:ext cx="2714625" cy="723900"/>
          </a:xfrm>
          <a:prstGeom prst="roundRect">
            <a:avLst>
              <a:gd name="adj" fmla="val 7895"/>
            </a:avLst>
          </a:prstGeom>
          <a:solidFill>
            <a:srgbClr val="0F172A"/>
          </a:solidFill>
          <a:ln/>
        </p:spPr>
        <p:txBody>
          <a:bodyPr/>
          <a:p/>
        </p:txBody>
      </p:sp>
      <p:sp>
        <p:nvSpPr>
          <p:cNvPr id="300" name=""/>
          <p:cNvSpPr/>
          <p:nvPr/>
        </p:nvSpPr>
        <p:spPr>
          <a:xfrm rot="0" flipH="0" flipV="0">
            <a:off x="6172200" y="2371725"/>
            <a:ext cx="2714625" cy="723900"/>
          </a:xfrm>
          <a:custGeom>
            <a:pathLst>
              <a:path w="285" h="76">
                <a:moveTo>
                  <a:pt x="6" y="0"/>
                </a:moveTo>
                <a:cubicBezTo>
                  <a:pt x="4" y="0"/>
                  <a:pt x="3" y="1"/>
                  <a:pt x="3" y="3"/>
                </a:cubicBezTo>
                <a:lnTo>
                  <a:pt x="3" y="73"/>
                </a:lnTo>
                <a:cubicBezTo>
                  <a:pt x="3" y="74"/>
                  <a:pt x="4" y="76"/>
                  <a:pt x="5" y="76"/>
                </a:cubicBezTo>
                <a:cubicBezTo>
                  <a:pt x="2" y="76"/>
                  <a:pt x="0" y="73"/>
                  <a:pt x="0" y="70"/>
                </a:cubicBezTo>
                <a:lnTo>
                  <a:pt x="0" y="6"/>
                </a:lnTo>
                <a:cubicBezTo>
                  <a:pt x="0" y="3"/>
                  <a:pt x="3" y="0"/>
                  <a:pt x="6" y="0"/>
                </a:cubicBezTo>
                <a:close/>
              </a:path>
            </a:pathLst>
          </a:custGeom>
          <a:solidFill>
            <a:srgbClr val="8B5CF6"/>
          </a:solidFill>
          <a:ln/>
        </p:spPr>
        <p:txBody>
          <a:bodyPr/>
          <a:p/>
        </p:txBody>
      </p:sp>
      <p:sp>
        <p:nvSpPr>
          <p:cNvPr id="301" name="" descr="{&quot;isTemplate&quot;:true,&quot;type&quot;:&quot;text&quot;}"/>
          <p:cNvSpPr txBox="1"/>
          <p:nvPr/>
        </p:nvSpPr>
        <p:spPr>
          <a:xfrm rot="0" flipH="0" flipV="0">
            <a:off x="6305550" y="2505075"/>
            <a:ext cx="9334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8B5CF6"/>
                </a:solidFill>
                <a:latin typeface="monospace"/>
                <a:ea typeface="monospace"/>
              </a:rPr>
              <a:t>archivist</a:t>
            </a:r>
            <a:endParaRPr/>
          </a:p>
        </p:txBody>
      </p:sp>
      <p:sp>
        <p:nvSpPr>
          <p:cNvPr id="302" name="" descr="{&quot;isTemplate&quot;:true,&quot;type&quot;:&quot;text&quot;}"/>
          <p:cNvSpPr txBox="1"/>
          <p:nvPr/>
        </p:nvSpPr>
        <p:spPr>
          <a:xfrm rot="0" flipH="0" flipV="0">
            <a:off x="7315200" y="2505075"/>
            <a:ext cx="5715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64748B"/>
                </a:solidFill>
                <a:latin typeface="Microsoft YaHei"/>
                <a:ea typeface="Microsoft YaHei"/>
              </a:rPr>
              <a:t>知识管理员</a:t>
            </a:r>
            <a:endParaRPr/>
          </a:p>
        </p:txBody>
      </p:sp>
      <p:sp>
        <p:nvSpPr>
          <p:cNvPr id="303" name="" descr="{&quot;isTemplate&quot;:true,&quot;type&quot;:&quot;text&quot;}"/>
          <p:cNvSpPr txBox="1"/>
          <p:nvPr/>
        </p:nvSpPr>
        <p:spPr>
          <a:xfrm rot="0" flipH="0" flipV="0">
            <a:off x="6305550" y="2752725"/>
            <a:ext cx="2419350" cy="2095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900">
                <a:solidFill>
                  <a:srgbClr val="CBD5E1"/>
                </a:solidFill>
                <a:latin typeface="Microsoft YaHei"/>
                <a:ea typeface="Microsoft YaHei"/>
              </a:rPr>
              <a:t>知识</a:t>
            </a:r>
            <a:r>
              <a:rPr lang="en-US" sz="900">
                <a:solidFill>
                  <a:srgbClr val="CBD5E1"/>
                </a:solidFill>
                <a:latin typeface="Microsoft YaHei"/>
                <a:ea typeface="Microsoft YaHei"/>
              </a:rPr>
              <a:t> CRUD · RAG </a:t>
            </a:r>
            <a:r>
              <a:rPr lang="zh-CN" sz="900">
                <a:solidFill>
                  <a:srgbClr val="CBD5E1"/>
                </a:solidFill>
                <a:latin typeface="Microsoft YaHei"/>
                <a:ea typeface="Microsoft YaHei"/>
              </a:rPr>
              <a:t>检索</a:t>
            </a:r>
            <a:endParaRPr/>
          </a:p>
        </p:txBody>
      </p:sp>
      <p:sp>
        <p:nvSpPr>
          <p:cNvPr id="304" name=""/>
          <p:cNvSpPr/>
          <p:nvPr/>
        </p:nvSpPr>
        <p:spPr>
          <a:xfrm rot="0" flipH="0" flipV="0">
            <a:off x="533400" y="3248025"/>
            <a:ext cx="11125200" cy="419100"/>
          </a:xfrm>
          <a:prstGeom prst="roundRect">
            <a:avLst>
              <a:gd name="adj" fmla="val 13636"/>
            </a:avLst>
          </a:prstGeom>
          <a:solidFill>
            <a:srgbClr val="1E293B"/>
          </a:solidFill>
          <a:ln/>
        </p:spPr>
        <p:txBody>
          <a:bodyPr/>
          <a:p/>
        </p:txBody>
      </p:sp>
      <p:sp>
        <p:nvSpPr>
          <p:cNvPr id="305" name="" descr="{&quot;isTemplate&quot;:true,&quot;type&quot;:&quot;text&quot;}"/>
          <p:cNvSpPr txBox="1"/>
          <p:nvPr/>
        </p:nvSpPr>
        <p:spPr>
          <a:xfrm rot="0" flipH="0" flipV="0">
            <a:off x="666750" y="3381375"/>
            <a:ext cx="108585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06B6D4"/>
                </a:solidFill>
                <a:latin typeface="Microsoft YaHei"/>
                <a:ea typeface="Microsoft YaHei"/>
              </a:rPr>
              <a:t>RBAC </a:t>
            </a:r>
            <a:r>
              <a:rPr lang="zh-CN" sz="975" b="1">
                <a:solidFill>
                  <a:srgbClr val="06B6D4"/>
                </a:solidFill>
                <a:latin typeface="Microsoft YaHei"/>
                <a:ea typeface="Microsoft YaHei"/>
              </a:rPr>
              <a:t>关键约束：</a:t>
            </a:r>
            <a:r>
              <a:rPr lang="en-US" sz="975">
                <a:solidFill>
                  <a:srgbClr val="CBD5E1"/>
                </a:solidFill>
                <a:latin typeface="Microsoft YaHei"/>
                <a:ea typeface="Microsoft YaHei"/>
              </a:rPr>
              <a:t> </a:t>
            </a:r>
            <a:r>
              <a:rPr lang="en-US" sz="975">
                <a:solidFill>
                  <a:srgbClr val="CBD5E1"/>
                </a:solidFill>
                <a:latin typeface="Microsoft YaHei"/>
                <a:ea typeface="Microsoft YaHei"/>
              </a:rPr>
              <a:t>admin </a:t>
            </a:r>
            <a:r>
              <a:rPr lang="zh-CN" sz="975">
                <a:solidFill>
                  <a:srgbClr val="CBD5E1"/>
                </a:solidFill>
                <a:latin typeface="Microsoft YaHei"/>
                <a:ea typeface="Microsoft YaHei"/>
              </a:rPr>
              <a:t>角色恒放行（</a:t>
            </a:r>
            <a:r>
              <a:rPr lang="en-US" sz="975">
                <a:solidFill>
                  <a:srgbClr val="CBD5E1"/>
                </a:solidFill>
                <a:latin typeface="Microsoft YaHei"/>
                <a:ea typeface="Microsoft YaHei"/>
              </a:rPr>
              <a:t>permissions </a:t>
            </a:r>
            <a:r>
              <a:rPr lang="zh-CN" sz="975">
                <a:solidFill>
                  <a:srgbClr val="CBD5E1"/>
                </a:solidFill>
                <a:latin typeface="Microsoft YaHei"/>
                <a:ea typeface="Microsoft YaHei"/>
              </a:rPr>
              <a:t>含</a:t>
            </a:r>
            <a:r>
              <a:rPr lang="en-US" sz="975">
                <a:solidFill>
                  <a:srgbClr val="CBD5E1"/>
                </a:solidFill>
                <a:latin typeface="Microsoft YaHei"/>
                <a:ea typeface="Microsoft YaHei"/>
              </a:rPr>
              <a:t> '*'</a:t>
            </a:r>
            <a:r>
              <a:rPr lang="zh-CN" sz="975">
                <a:solidFill>
                  <a:srgbClr val="CBD5E1"/>
                </a:solidFill>
                <a:latin typeface="Microsoft YaHei"/>
                <a:ea typeface="Microsoft YaHei"/>
              </a:rPr>
              <a:t>）</a:t>
            </a:r>
            <a:r>
              <a:rPr lang="en-US" sz="975">
                <a:solidFill>
                  <a:srgbClr val="CBD5E1"/>
                </a:solidFill>
                <a:latin typeface="Microsoft YaHei"/>
                <a:ea typeface="Microsoft YaHei"/>
              </a:rPr>
              <a:t> · </a:t>
            </a:r>
            <a:r>
              <a:rPr lang="zh-CN" sz="975">
                <a:solidFill>
                  <a:srgbClr val="CBD5E1"/>
                </a:solidFill>
                <a:latin typeface="Microsoft YaHei"/>
                <a:ea typeface="Microsoft YaHei"/>
              </a:rPr>
              <a:t>菜单口径</a:t>
            </a:r>
            <a:r>
              <a:rPr lang="en-US" sz="975">
                <a:solidFill>
                  <a:srgbClr val="CBD5E1"/>
                </a:solidFill>
                <a:latin typeface="Microsoft YaHei"/>
                <a:ea typeface="Microsoft YaHei"/>
              </a:rPr>
              <a:t> navConfig.ts </a:t>
            </a:r>
            <a:r>
              <a:rPr lang="zh-CN" sz="975">
                <a:solidFill>
                  <a:srgbClr val="CBD5E1"/>
                </a:solidFill>
                <a:latin typeface="Microsoft YaHei"/>
                <a:ea typeface="Microsoft YaHei"/>
              </a:rPr>
              <a:t>唯一</a:t>
            </a:r>
            <a:r>
              <a:rPr lang="en-US" sz="975">
                <a:solidFill>
                  <a:srgbClr val="CBD5E1"/>
                </a:solidFill>
                <a:latin typeface="Microsoft YaHei"/>
                <a:ea typeface="Microsoft YaHei"/>
              </a:rPr>
              <a:t> · </a:t>
            </a:r>
            <a:r>
              <a:rPr lang="zh-CN" sz="975">
                <a:solidFill>
                  <a:srgbClr val="CBD5E1"/>
                </a:solidFill>
                <a:latin typeface="Microsoft YaHei"/>
                <a:ea typeface="Microsoft YaHei"/>
              </a:rPr>
              <a:t>后端</a:t>
            </a:r>
            <a:r>
              <a:rPr lang="en-US" sz="975">
                <a:solidFill>
                  <a:srgbClr val="CBD5E1"/>
                </a:solidFill>
                <a:latin typeface="Microsoft YaHei"/>
                <a:ea typeface="Microsoft YaHei"/>
              </a:rPr>
              <a:t> JWT </a:t>
            </a:r>
            <a:r>
              <a:rPr lang="zh-CN" sz="975">
                <a:solidFill>
                  <a:srgbClr val="CBD5E1"/>
                </a:solidFill>
                <a:latin typeface="Microsoft YaHei"/>
                <a:ea typeface="Microsoft YaHei"/>
              </a:rPr>
              <a:t>全局守卫</a:t>
            </a:r>
            <a:endParaRPr/>
          </a:p>
        </p:txBody>
      </p:sp>
      <p:sp>
        <p:nvSpPr>
          <p:cNvPr id="306" name="" descr="{&quot;isTemplate&quot;:true,&quot;type&quot;:&quot;text&quot;}"/>
          <p:cNvSpPr txBox="1"/>
          <p:nvPr/>
        </p:nvSpPr>
        <p:spPr>
          <a:xfrm rot="0" flipH="0" flipV="0">
            <a:off x="11268075" y="6524625"/>
            <a:ext cx="3905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475569"/>
                </a:solidFill>
                <a:latin typeface="Microsoft YaHei"/>
                <a:ea typeface="Microsoft YaHei"/>
              </a:rPr>
              <a:t>06 / 12</a:t>
            </a:r>
            <a:endParaRPr/>
          </a:p>
        </p:txBody>
      </p:sp>
    </p:spTree>
  </p:cSld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307" name="" descr="&lt;Slide style={{ width: '1280px', height: '720px', padding: '40px 56px', backgroundColor: '#0b1220' }}&gt;&#10;    &lt;Box style={{ display: 'flex', alignItems: 'center', marginBottom: '24px' }}&gt;&#10;      &lt;Text style={{ fontSize: '14px', color: '#06b6d4', letterSpacing: '3px' }}&gt;LIVE DEMO · 5 SCENES&lt;/Text&gt;&#10;      &lt;Box style={{ flex: '1', height: '1px', backgroundColor: '#1e293b', marginLeft: '20px' }} /&gt;&#10;    &lt;/Box&gt;&#10;&#10;    &lt;Text style={{&#10;      fontSize: '36px', fontWeight: 'bold', color: '#e2e8f0', marginBottom: '8px',&#10;    }}&gt;&#10;      现场演示 · &lt;span style={{ color: '#f59e0b' }}&gt;五场景串联&lt;/span&gt;&#10;    &lt;/Text&gt;&#10;    &lt;Text style={{ fontSize: '16px', color: '#94a3b8', marginBottom: '32px' }}&gt;&#10;      从一线操作工到检修工，到车间主任 + 安全员，AI 助手全程在线&#10;    &lt;/Text&gt;&#10;&#10;    &lt;Box style={{ display: 'flex', gap: '12px', height: '420px' }}&gt;&#10;      {[&#10;        { num: '01', role: '操作工', scene: '报修创建', detail: '扫码 + 选设备 + 选故障类型\n15 分钟防重复命中', icon: '报', color: '#06b6d4' },&#10;        { num: '02', role: '车间主任', scene: '作业票审批', detail: '6 类许可证 + 双人会签\nLOTO 自动登记', icon: '票', color: '#f59e0b' },&#10;        { num: '03', role: 'AI 助手', scene: '诊断流式输出', detail: 'POST /chat/stream\n按 token 逐字渲染', icon: 'AI', color: '#06b6d4' },&#10;        { num: '04', role: '数字人', scene: '跨页面拖拽', detail: 'Pointer Capture\n跨 iframe 不卡', icon: '人', color: '#f59e0b' },&#10;        { num: '05', role: '检修闯关', scene: 'Godot 2D', detail: 'A/D 移动 + 空格跳跃\n3 关 × 3 小关键盘作答', icon: '游', color: '#06b6d4' },&#10;      ].map((s, i) =&gt; (&#10;        &lt;Box key={i} style={{&#10;          flex: 1, padding: '20px', backgroundColor: '#0f172a', borderRadius: '6px',&#10;          borderTop: `3px solid ${s.color}`,&#10;          display: 'flex', flexDirection: 'column',&#10;        }}&gt;&#10;          &lt;Text style={{ fontSize: '13px', color: s.color, letterSpacing: '1px' }}&gt;&#10;            {s.num}&#10;          &lt;/Text&gt;&#10;          &lt;Text style={{ fontSize: '18px', fontWeight: 'bold', color: '#e2e8f0', marginTop: '6px', marginBottom: '4px' }}&gt;&#10;            {s.role}&#10;          &lt;/Text&gt;&#10;          &lt;Text style={{ fontSize: '15px', color: s.color, marginBottom: '12px' }}&gt;&#10;            {s.scene}&#10;          &lt;/Text&gt;&#10;          &lt;Text style={{ fontSize: '12px', color: '#94a3b8', lineHeight: '1.6', whiteSpace: 'pre-line' }}&gt;&#10;            {s.detail}&#10;          &lt;/Text&gt;&#10;          &lt;Box style={{&#10;            marginTop: 'auto', padding: '12px', backgroundColor: '#1e293b', borderRadius: '4px',&#10;            textAlign: 'center',&#10;          }}&gt;&#10;            &lt;Text style={{ fontSize: '22px', color: s.color, fontWeight: 'bold' }}&gt;&#10;              {s.icon}&#10;            &lt;/Text&gt;&#10;          &lt;/Box&gt;&#10;        &lt;/Box&gt;&#10;      ))}&#10;    &lt;/Box&gt;&#10;&#10;    &lt;Box style={{ position: 'absolute', bottom: '20px', right: '56px' }}&gt;&#10;      &lt;Text style={{ fontSize: '12px', color: '#475569' }}&gt;07 / 12&lt;/Text&gt;&#10;    &lt;/Box&gt;&#10;  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/>
        </p:spPr>
        <p:txBody>
          <a:bodyPr/>
          <a:p/>
        </p:txBody>
      </p:sp>
      <p:sp>
        <p:nvSpPr>
          <p:cNvPr id="309" name="" descr="{&quot;isTemplate&quot;:true,&quot;type&quot;:&quot;text&quot;}"/>
          <p:cNvSpPr txBox="1"/>
          <p:nvPr/>
        </p:nvSpPr>
        <p:spPr>
          <a:xfrm rot="0" flipH="0" flipV="0">
            <a:off x="533400" y="381000"/>
            <a:ext cx="20288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225">
                <a:solidFill>
                  <a:srgbClr val="06B6D4"/>
                </a:solidFill>
                <a:latin typeface="Microsoft YaHei"/>
                <a:ea typeface="Microsoft YaHei"/>
              </a:rPr>
              <a:t>LIVE DEMO · 5 SCENES</a:t>
            </a:r>
            <a:endParaRPr/>
          </a:p>
        </p:txBody>
      </p:sp>
      <p:sp>
        <p:nvSpPr>
          <p:cNvPr id="310" name=""/>
          <p:cNvSpPr/>
          <p:nvPr/>
        </p:nvSpPr>
        <p:spPr>
          <a:xfrm rot="0" flipH="0" flipV="0">
            <a:off x="2752725" y="457200"/>
            <a:ext cx="8905875" cy="9525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p/>
        </p:txBody>
      </p:sp>
      <p:sp>
        <p:nvSpPr>
          <p:cNvPr id="311" name="" descr="{&quot;isTemplate&quot;:true,&quot;type&quot;:&quot;text&quot;}"/>
          <p:cNvSpPr txBox="1"/>
          <p:nvPr/>
        </p:nvSpPr>
        <p:spPr>
          <a:xfrm rot="0" flipH="0" flipV="0">
            <a:off x="533400" y="771525"/>
            <a:ext cx="11125200" cy="4191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700" b="1">
                <a:solidFill>
                  <a:srgbClr val="E2E8F0"/>
                </a:solidFill>
                <a:latin typeface="Microsoft YaHei"/>
                <a:ea typeface="Microsoft YaHei"/>
              </a:rPr>
              <a:t>现场演示</a:t>
            </a:r>
            <a:r>
              <a:rPr lang="en-US" sz="2700" b="1">
                <a:solidFill>
                  <a:srgbClr val="E2E8F0"/>
                </a:solidFill>
                <a:latin typeface="Microsoft YaHei"/>
                <a:ea typeface="Microsoft YaHei"/>
              </a:rPr>
              <a:t> · </a:t>
            </a:r>
            <a:r>
              <a:rPr lang="zh-CN" sz="2700" b="1">
                <a:solidFill>
                  <a:srgbClr val="F59E0B"/>
                </a:solidFill>
                <a:latin typeface="Microsoft YaHei"/>
                <a:ea typeface="Microsoft YaHei"/>
              </a:rPr>
              <a:t>五场景串联</a:t>
            </a:r>
            <a:endParaRPr/>
          </a:p>
        </p:txBody>
      </p:sp>
      <p:sp>
        <p:nvSpPr>
          <p:cNvPr id="312" name="" descr="{&quot;isTemplate&quot;:true,&quot;type&quot;:&quot;text&quot;}"/>
          <p:cNvSpPr txBox="1"/>
          <p:nvPr/>
        </p:nvSpPr>
        <p:spPr>
          <a:xfrm rot="0" flipH="0" flipV="0">
            <a:off x="533400" y="1266825"/>
            <a:ext cx="111252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94A3B8"/>
                </a:solidFill>
                <a:latin typeface="Microsoft YaHei"/>
                <a:ea typeface="Microsoft YaHei"/>
              </a:rPr>
              <a:t>从一线操作工到检修工，到车间主任</a:t>
            </a:r>
            <a:r>
              <a:rPr lang="en-US" sz="1200">
                <a:solidFill>
                  <a:srgbClr val="94A3B8"/>
                </a:solidFill>
                <a:latin typeface="Microsoft YaHei"/>
                <a:ea typeface="Microsoft YaHei"/>
              </a:rPr>
              <a:t> + </a:t>
            </a:r>
            <a:r>
              <a:rPr lang="zh-CN" sz="1200">
                <a:solidFill>
                  <a:srgbClr val="94A3B8"/>
                </a:solidFill>
                <a:latin typeface="Microsoft YaHei"/>
                <a:ea typeface="Microsoft YaHei"/>
              </a:rPr>
              <a:t>安全员，</a:t>
            </a:r>
            <a:r>
              <a:rPr lang="en-US" sz="1200">
                <a:solidFill>
                  <a:srgbClr val="94A3B8"/>
                </a:solidFill>
                <a:latin typeface="Microsoft YaHei"/>
                <a:ea typeface="Microsoft YaHei"/>
              </a:rPr>
              <a:t>AI </a:t>
            </a:r>
            <a:r>
              <a:rPr lang="zh-CN" sz="1200">
                <a:solidFill>
                  <a:srgbClr val="94A3B8"/>
                </a:solidFill>
                <a:latin typeface="Microsoft YaHei"/>
                <a:ea typeface="Microsoft YaHei"/>
              </a:rPr>
              <a:t>助手全程在线</a:t>
            </a:r>
            <a:endParaRPr/>
          </a:p>
        </p:txBody>
      </p:sp>
      <p:sp>
        <p:nvSpPr>
          <p:cNvPr id="313" name=""/>
          <p:cNvSpPr/>
          <p:nvPr/>
        </p:nvSpPr>
        <p:spPr>
          <a:xfrm rot="0" flipH="0" flipV="0">
            <a:off x="533400" y="1790700"/>
            <a:ext cx="2133600" cy="4000500"/>
          </a:xfrm>
          <a:prstGeom prst="roundRect">
            <a:avLst>
              <a:gd name="adj" fmla="val 2679"/>
            </a:avLst>
          </a:prstGeom>
          <a:solidFill>
            <a:srgbClr val="0F172A"/>
          </a:solidFill>
          <a:ln/>
        </p:spPr>
        <p:txBody>
          <a:bodyPr/>
          <a:p/>
        </p:txBody>
      </p:sp>
      <p:sp>
        <p:nvSpPr>
          <p:cNvPr id="314" name=""/>
          <p:cNvSpPr/>
          <p:nvPr/>
        </p:nvSpPr>
        <p:spPr>
          <a:xfrm rot="0" flipH="0" flipV="0">
            <a:off x="533400" y="1790700"/>
            <a:ext cx="2133600" cy="4000500"/>
          </a:xfrm>
          <a:custGeom>
            <a:pathLst>
              <a:path w="224" h="420">
                <a:moveTo>
                  <a:pt x="218" y="0"/>
                </a:moveTo>
                <a:cubicBezTo>
                  <a:pt x="221" y="0"/>
                  <a:pt x="224" y="2"/>
                  <a:pt x="224" y="5"/>
                </a:cubicBezTo>
                <a:cubicBezTo>
                  <a:pt x="223" y="4"/>
                  <a:pt x="222" y="3"/>
                  <a:pt x="221" y="3"/>
                </a:cubicBezTo>
                <a:lnTo>
                  <a:pt x="3" y="3"/>
                </a:lnTo>
                <a:cubicBezTo>
                  <a:pt x="2" y="3"/>
                  <a:pt x="0" y="4"/>
                  <a:pt x="0" y="5"/>
                </a:cubicBezTo>
                <a:cubicBezTo>
                  <a:pt x="0" y="2"/>
                  <a:pt x="3" y="0"/>
                  <a:pt x="6" y="0"/>
                </a:cubicBezTo>
                <a:lnTo>
                  <a:pt x="218" y="0"/>
                </a:lnTo>
                <a:close/>
              </a:path>
            </a:pathLst>
          </a:custGeom>
          <a:solidFill>
            <a:srgbClr val="06B6D4"/>
          </a:solidFill>
          <a:ln/>
        </p:spPr>
        <p:txBody>
          <a:bodyPr/>
          <a:p/>
        </p:txBody>
      </p:sp>
      <p:sp>
        <p:nvSpPr>
          <p:cNvPr id="315" name="" descr="{&quot;isTemplate&quot;:true,&quot;type&quot;:&quot;text&quot;}"/>
          <p:cNvSpPr txBox="1"/>
          <p:nvPr/>
        </p:nvSpPr>
        <p:spPr>
          <a:xfrm rot="0" flipH="0" flipV="0">
            <a:off x="723900" y="1981200"/>
            <a:ext cx="17526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spc="75">
                <a:solidFill>
                  <a:srgbClr val="06B6D4"/>
                </a:solidFill>
                <a:latin typeface="Microsoft YaHei"/>
                <a:ea typeface="Microsoft YaHei"/>
              </a:rPr>
              <a:t>01</a:t>
            </a:r>
            <a:endParaRPr/>
          </a:p>
        </p:txBody>
      </p:sp>
      <p:sp>
        <p:nvSpPr>
          <p:cNvPr id="316" name="" descr="{&quot;isTemplate&quot;:true,&quot;type&quot;:&quot;text&quot;}"/>
          <p:cNvSpPr txBox="1"/>
          <p:nvPr/>
        </p:nvSpPr>
        <p:spPr>
          <a:xfrm rot="0" flipH="0" flipV="0">
            <a:off x="723900" y="2190750"/>
            <a:ext cx="17526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E2E8F0"/>
                </a:solidFill>
                <a:latin typeface="Microsoft YaHei"/>
                <a:ea typeface="Microsoft YaHei"/>
              </a:rPr>
              <a:t>操作工</a:t>
            </a:r>
            <a:endParaRPr/>
          </a:p>
        </p:txBody>
      </p:sp>
      <p:sp>
        <p:nvSpPr>
          <p:cNvPr id="317" name="" descr="{&quot;isTemplate&quot;:true,&quot;type&quot;:&quot;text&quot;}"/>
          <p:cNvSpPr txBox="1"/>
          <p:nvPr/>
        </p:nvSpPr>
        <p:spPr>
          <a:xfrm rot="0" flipH="0" flipV="0">
            <a:off x="723900" y="2438400"/>
            <a:ext cx="17526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06B6D4"/>
                </a:solidFill>
                <a:latin typeface="Microsoft YaHei"/>
                <a:ea typeface="Microsoft YaHei"/>
              </a:rPr>
              <a:t>报修创建</a:t>
            </a:r>
            <a:endParaRPr/>
          </a:p>
        </p:txBody>
      </p:sp>
      <p:sp>
        <p:nvSpPr>
          <p:cNvPr id="318" name="" descr="{&quot;isTemplate&quot;:true,&quot;type&quot;:&quot;text&quot;}"/>
          <p:cNvSpPr txBox="1"/>
          <p:nvPr/>
        </p:nvSpPr>
        <p:spPr>
          <a:xfrm rot="0" flipH="0" flipV="0">
            <a:off x="723900" y="2724150"/>
            <a:ext cx="1752600" cy="4476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900">
                <a:solidFill>
                  <a:srgbClr val="94A3B8"/>
                </a:solidFill>
                <a:latin typeface="Microsoft YaHei"/>
                <a:ea typeface="Microsoft YaHei"/>
              </a:rPr>
              <a:t>扫码</a:t>
            </a:r>
            <a:r>
              <a:rPr lang="en-US" sz="900">
                <a:solidFill>
                  <a:srgbClr val="94A3B8"/>
                </a:solidFill>
                <a:latin typeface="Microsoft YaHei"/>
                <a:ea typeface="Microsoft YaHei"/>
              </a:rPr>
              <a:t> + </a:t>
            </a:r>
            <a:r>
              <a:rPr lang="zh-CN" sz="900">
                <a:solidFill>
                  <a:srgbClr val="94A3B8"/>
                </a:solidFill>
                <a:latin typeface="Microsoft YaHei"/>
                <a:ea typeface="Microsoft YaHei"/>
              </a:rPr>
              <a:t>选设备</a:t>
            </a:r>
            <a:r>
              <a:rPr lang="en-US" sz="900">
                <a:solidFill>
                  <a:srgbClr val="94A3B8"/>
                </a:solidFill>
                <a:latin typeface="Microsoft YaHei"/>
                <a:ea typeface="Microsoft YaHei"/>
              </a:rPr>
              <a:t> + </a:t>
            </a:r>
            <a:r>
              <a:rPr lang="zh-CN" sz="900">
                <a:solidFill>
                  <a:srgbClr val="94A3B8"/>
                </a:solidFill>
                <a:latin typeface="Microsoft YaHei"/>
                <a:ea typeface="Microsoft YaHei"/>
              </a:rPr>
              <a:t>选故障类型
</a:t>
            </a:r>
            <a:r>
              <a:rPr lang="en-US" sz="900">
                <a:solidFill>
                  <a:srgbClr val="94A3B8"/>
                </a:solidFill>
                <a:latin typeface="Microsoft YaHei"/>
                <a:ea typeface="Microsoft YaHei"/>
              </a:rPr>
              <a:t>15 </a:t>
            </a:r>
            <a:r>
              <a:rPr lang="zh-CN" sz="900">
                <a:solidFill>
                  <a:srgbClr val="94A3B8"/>
                </a:solidFill>
                <a:latin typeface="Microsoft YaHei"/>
                <a:ea typeface="Microsoft YaHei"/>
              </a:rPr>
              <a:t>分钟防重复命中</a:t>
            </a:r>
            <a:endParaRPr/>
          </a:p>
        </p:txBody>
      </p:sp>
      <p:sp>
        <p:nvSpPr>
          <p:cNvPr id="319" name=""/>
          <p:cNvSpPr/>
          <p:nvPr/>
        </p:nvSpPr>
        <p:spPr>
          <a:xfrm rot="0" flipH="0" flipV="0">
            <a:off x="723900" y="5086350"/>
            <a:ext cx="1752600" cy="485775"/>
          </a:xfrm>
          <a:prstGeom prst="roundRect">
            <a:avLst>
              <a:gd name="adj" fmla="val 7843"/>
            </a:avLst>
          </a:prstGeom>
          <a:solidFill>
            <a:srgbClr val="1E293B"/>
          </a:solidFill>
          <a:ln/>
        </p:spPr>
        <p:txBody>
          <a:bodyPr/>
          <a:p/>
        </p:txBody>
      </p:sp>
      <p:sp>
        <p:nvSpPr>
          <p:cNvPr id="320" name="" descr="{&quot;isTemplate&quot;:true,&quot;type&quot;:&quot;text&quot;}"/>
          <p:cNvSpPr txBox="1"/>
          <p:nvPr/>
        </p:nvSpPr>
        <p:spPr>
          <a:xfrm rot="0" flipH="0" flipV="0">
            <a:off x="838200" y="5200650"/>
            <a:ext cx="1524000" cy="25717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1650" b="1">
                <a:solidFill>
                  <a:srgbClr val="06B6D4"/>
                </a:solidFill>
                <a:latin typeface="Microsoft YaHei"/>
                <a:ea typeface="Microsoft YaHei"/>
              </a:rPr>
              <a:t>报</a:t>
            </a:r>
            <a:endParaRPr/>
          </a:p>
        </p:txBody>
      </p:sp>
      <p:sp>
        <p:nvSpPr>
          <p:cNvPr id="321" name=""/>
          <p:cNvSpPr/>
          <p:nvPr/>
        </p:nvSpPr>
        <p:spPr>
          <a:xfrm rot="0" flipH="0" flipV="0">
            <a:off x="2781300" y="1790700"/>
            <a:ext cx="2133600" cy="4000500"/>
          </a:xfrm>
          <a:prstGeom prst="roundRect">
            <a:avLst>
              <a:gd name="adj" fmla="val 2679"/>
            </a:avLst>
          </a:prstGeom>
          <a:solidFill>
            <a:srgbClr val="0F172A"/>
          </a:solidFill>
          <a:ln/>
        </p:spPr>
        <p:txBody>
          <a:bodyPr/>
          <a:p/>
        </p:txBody>
      </p:sp>
      <p:sp>
        <p:nvSpPr>
          <p:cNvPr id="322" name=""/>
          <p:cNvSpPr/>
          <p:nvPr/>
        </p:nvSpPr>
        <p:spPr>
          <a:xfrm rot="0" flipH="0" flipV="0">
            <a:off x="2781300" y="1790700"/>
            <a:ext cx="2133600" cy="4000500"/>
          </a:xfrm>
          <a:custGeom>
            <a:pathLst>
              <a:path w="224" h="420">
                <a:moveTo>
                  <a:pt x="218" y="0"/>
                </a:moveTo>
                <a:cubicBezTo>
                  <a:pt x="221" y="0"/>
                  <a:pt x="224" y="2"/>
                  <a:pt x="224" y="5"/>
                </a:cubicBezTo>
                <a:cubicBezTo>
                  <a:pt x="223" y="4"/>
                  <a:pt x="222" y="3"/>
                  <a:pt x="221" y="3"/>
                </a:cubicBezTo>
                <a:lnTo>
                  <a:pt x="3" y="3"/>
                </a:lnTo>
                <a:cubicBezTo>
                  <a:pt x="2" y="3"/>
                  <a:pt x="0" y="4"/>
                  <a:pt x="0" y="5"/>
                </a:cubicBezTo>
                <a:cubicBezTo>
                  <a:pt x="0" y="2"/>
                  <a:pt x="3" y="0"/>
                  <a:pt x="6" y="0"/>
                </a:cubicBezTo>
                <a:lnTo>
                  <a:pt x="218" y="0"/>
                </a:lnTo>
                <a:close/>
              </a:path>
            </a:pathLst>
          </a:custGeom>
          <a:solidFill>
            <a:srgbClr val="F59E0B"/>
          </a:solidFill>
          <a:ln/>
        </p:spPr>
        <p:txBody>
          <a:bodyPr/>
          <a:p/>
        </p:txBody>
      </p:sp>
      <p:sp>
        <p:nvSpPr>
          <p:cNvPr id="323" name="" descr="{&quot;isTemplate&quot;:true,&quot;type&quot;:&quot;text&quot;}"/>
          <p:cNvSpPr txBox="1"/>
          <p:nvPr/>
        </p:nvSpPr>
        <p:spPr>
          <a:xfrm rot="0" flipH="0" flipV="0">
            <a:off x="2971800" y="1981200"/>
            <a:ext cx="17526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spc="75">
                <a:solidFill>
                  <a:srgbClr val="F59E0B"/>
                </a:solidFill>
                <a:latin typeface="Microsoft YaHei"/>
                <a:ea typeface="Microsoft YaHei"/>
              </a:rPr>
              <a:t>02</a:t>
            </a:r>
            <a:endParaRPr/>
          </a:p>
        </p:txBody>
      </p:sp>
      <p:sp>
        <p:nvSpPr>
          <p:cNvPr id="324" name="" descr="{&quot;isTemplate&quot;:true,&quot;type&quot;:&quot;text&quot;}"/>
          <p:cNvSpPr txBox="1"/>
          <p:nvPr/>
        </p:nvSpPr>
        <p:spPr>
          <a:xfrm rot="0" flipH="0" flipV="0">
            <a:off x="2971800" y="2190750"/>
            <a:ext cx="17526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E2E8F0"/>
                </a:solidFill>
                <a:latin typeface="Microsoft YaHei"/>
                <a:ea typeface="Microsoft YaHei"/>
              </a:rPr>
              <a:t>车间主任</a:t>
            </a:r>
            <a:endParaRPr/>
          </a:p>
        </p:txBody>
      </p:sp>
      <p:sp>
        <p:nvSpPr>
          <p:cNvPr id="325" name="" descr="{&quot;isTemplate&quot;:true,&quot;type&quot;:&quot;text&quot;}"/>
          <p:cNvSpPr txBox="1"/>
          <p:nvPr/>
        </p:nvSpPr>
        <p:spPr>
          <a:xfrm rot="0" flipH="0" flipV="0">
            <a:off x="2971800" y="2438400"/>
            <a:ext cx="17526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F59E0B"/>
                </a:solidFill>
                <a:latin typeface="Microsoft YaHei"/>
                <a:ea typeface="Microsoft YaHei"/>
              </a:rPr>
              <a:t>作业票审批</a:t>
            </a:r>
            <a:endParaRPr/>
          </a:p>
        </p:txBody>
      </p:sp>
      <p:sp>
        <p:nvSpPr>
          <p:cNvPr id="326" name="" descr="{&quot;isTemplate&quot;:true,&quot;type&quot;:&quot;text&quot;}"/>
          <p:cNvSpPr txBox="1"/>
          <p:nvPr/>
        </p:nvSpPr>
        <p:spPr>
          <a:xfrm rot="0" flipH="0" flipV="0">
            <a:off x="2971800" y="2724150"/>
            <a:ext cx="1752600" cy="4476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900">
                <a:solidFill>
                  <a:srgbClr val="94A3B8"/>
                </a:solidFill>
                <a:latin typeface="Microsoft YaHei"/>
                <a:ea typeface="Microsoft YaHei"/>
              </a:rPr>
              <a:t>6 </a:t>
            </a:r>
            <a:r>
              <a:rPr lang="zh-CN" sz="900">
                <a:solidFill>
                  <a:srgbClr val="94A3B8"/>
                </a:solidFill>
                <a:latin typeface="Microsoft YaHei"/>
                <a:ea typeface="Microsoft YaHei"/>
              </a:rPr>
              <a:t>类许可证</a:t>
            </a:r>
            <a:r>
              <a:rPr lang="en-US" sz="900">
                <a:solidFill>
                  <a:srgbClr val="94A3B8"/>
                </a:solidFill>
                <a:latin typeface="Microsoft YaHei"/>
                <a:ea typeface="Microsoft YaHei"/>
              </a:rPr>
              <a:t> + </a:t>
            </a:r>
            <a:r>
              <a:rPr lang="zh-CN" sz="900">
                <a:solidFill>
                  <a:srgbClr val="94A3B8"/>
                </a:solidFill>
                <a:latin typeface="Microsoft YaHei"/>
                <a:ea typeface="Microsoft YaHei"/>
              </a:rPr>
              <a:t>双人会签
</a:t>
            </a:r>
            <a:r>
              <a:rPr lang="en-US" sz="900">
                <a:solidFill>
                  <a:srgbClr val="94A3B8"/>
                </a:solidFill>
                <a:latin typeface="Microsoft YaHei"/>
                <a:ea typeface="Microsoft YaHei"/>
              </a:rPr>
              <a:t>LOTO </a:t>
            </a:r>
            <a:r>
              <a:rPr lang="zh-CN" sz="900">
                <a:solidFill>
                  <a:srgbClr val="94A3B8"/>
                </a:solidFill>
                <a:latin typeface="Microsoft YaHei"/>
                <a:ea typeface="Microsoft YaHei"/>
              </a:rPr>
              <a:t>自动登记</a:t>
            </a:r>
            <a:endParaRPr/>
          </a:p>
        </p:txBody>
      </p:sp>
      <p:sp>
        <p:nvSpPr>
          <p:cNvPr id="327" name=""/>
          <p:cNvSpPr/>
          <p:nvPr/>
        </p:nvSpPr>
        <p:spPr>
          <a:xfrm rot="0" flipH="0" flipV="0">
            <a:off x="2971800" y="5086350"/>
            <a:ext cx="1752600" cy="485775"/>
          </a:xfrm>
          <a:prstGeom prst="roundRect">
            <a:avLst>
              <a:gd name="adj" fmla="val 7843"/>
            </a:avLst>
          </a:prstGeom>
          <a:solidFill>
            <a:srgbClr val="1E293B"/>
          </a:solidFill>
          <a:ln/>
        </p:spPr>
        <p:txBody>
          <a:bodyPr/>
          <a:p/>
        </p:txBody>
      </p:sp>
      <p:sp>
        <p:nvSpPr>
          <p:cNvPr id="328" name="" descr="{&quot;isTemplate&quot;:true,&quot;type&quot;:&quot;text&quot;}"/>
          <p:cNvSpPr txBox="1"/>
          <p:nvPr/>
        </p:nvSpPr>
        <p:spPr>
          <a:xfrm rot="0" flipH="0" flipV="0">
            <a:off x="3086100" y="5200650"/>
            <a:ext cx="1524000" cy="25717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1650" b="1">
                <a:solidFill>
                  <a:srgbClr val="F59E0B"/>
                </a:solidFill>
                <a:latin typeface="Microsoft YaHei"/>
                <a:ea typeface="Microsoft YaHei"/>
              </a:rPr>
              <a:t>票</a:t>
            </a:r>
            <a:endParaRPr/>
          </a:p>
        </p:txBody>
      </p:sp>
      <p:sp>
        <p:nvSpPr>
          <p:cNvPr id="329" name=""/>
          <p:cNvSpPr/>
          <p:nvPr/>
        </p:nvSpPr>
        <p:spPr>
          <a:xfrm rot="0" flipH="0" flipV="0">
            <a:off x="5029200" y="1790700"/>
            <a:ext cx="2133600" cy="4000500"/>
          </a:xfrm>
          <a:prstGeom prst="roundRect">
            <a:avLst>
              <a:gd name="adj" fmla="val 2679"/>
            </a:avLst>
          </a:prstGeom>
          <a:solidFill>
            <a:srgbClr val="0F172A"/>
          </a:solidFill>
          <a:ln/>
        </p:spPr>
        <p:txBody>
          <a:bodyPr/>
          <a:p/>
        </p:txBody>
      </p:sp>
      <p:sp>
        <p:nvSpPr>
          <p:cNvPr id="330" name=""/>
          <p:cNvSpPr/>
          <p:nvPr/>
        </p:nvSpPr>
        <p:spPr>
          <a:xfrm rot="0" flipH="0" flipV="0">
            <a:off x="5029200" y="1790700"/>
            <a:ext cx="2133600" cy="4000500"/>
          </a:xfrm>
          <a:custGeom>
            <a:pathLst>
              <a:path w="224" h="420">
                <a:moveTo>
                  <a:pt x="218" y="0"/>
                </a:moveTo>
                <a:cubicBezTo>
                  <a:pt x="221" y="0"/>
                  <a:pt x="224" y="2"/>
                  <a:pt x="224" y="5"/>
                </a:cubicBezTo>
                <a:cubicBezTo>
                  <a:pt x="223" y="4"/>
                  <a:pt x="222" y="3"/>
                  <a:pt x="221" y="3"/>
                </a:cubicBezTo>
                <a:lnTo>
                  <a:pt x="3" y="3"/>
                </a:lnTo>
                <a:cubicBezTo>
                  <a:pt x="2" y="3"/>
                  <a:pt x="0" y="4"/>
                  <a:pt x="0" y="5"/>
                </a:cubicBezTo>
                <a:cubicBezTo>
                  <a:pt x="0" y="2"/>
                  <a:pt x="3" y="0"/>
                  <a:pt x="6" y="0"/>
                </a:cubicBezTo>
                <a:lnTo>
                  <a:pt x="218" y="0"/>
                </a:lnTo>
                <a:close/>
              </a:path>
            </a:pathLst>
          </a:custGeom>
          <a:solidFill>
            <a:srgbClr val="06B6D4"/>
          </a:solidFill>
          <a:ln/>
        </p:spPr>
        <p:txBody>
          <a:bodyPr/>
          <a:p/>
        </p:txBody>
      </p:sp>
      <p:sp>
        <p:nvSpPr>
          <p:cNvPr id="331" name="" descr="{&quot;isTemplate&quot;:true,&quot;type&quot;:&quot;text&quot;}"/>
          <p:cNvSpPr txBox="1"/>
          <p:nvPr/>
        </p:nvSpPr>
        <p:spPr>
          <a:xfrm rot="0" flipH="0" flipV="0">
            <a:off x="5219700" y="1981200"/>
            <a:ext cx="17526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spc="75">
                <a:solidFill>
                  <a:srgbClr val="06B6D4"/>
                </a:solidFill>
                <a:latin typeface="Microsoft YaHei"/>
                <a:ea typeface="Microsoft YaHei"/>
              </a:rPr>
              <a:t>03</a:t>
            </a:r>
            <a:endParaRPr/>
          </a:p>
        </p:txBody>
      </p:sp>
      <p:sp>
        <p:nvSpPr>
          <p:cNvPr id="332" name="" descr="{&quot;isTemplate&quot;:true,&quot;type&quot;:&quot;text&quot;}"/>
          <p:cNvSpPr txBox="1"/>
          <p:nvPr/>
        </p:nvSpPr>
        <p:spPr>
          <a:xfrm rot="0" flipH="0" flipV="0">
            <a:off x="5219700" y="2190750"/>
            <a:ext cx="17526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E2E8F0"/>
                </a:solidFill>
                <a:latin typeface="Microsoft YaHei"/>
                <a:ea typeface="Microsoft YaHei"/>
              </a:rPr>
              <a:t>AI </a:t>
            </a:r>
            <a:r>
              <a:rPr lang="zh-CN" sz="1350" b="1">
                <a:solidFill>
                  <a:srgbClr val="E2E8F0"/>
                </a:solidFill>
                <a:latin typeface="Microsoft YaHei"/>
                <a:ea typeface="Microsoft YaHei"/>
              </a:rPr>
              <a:t>助手</a:t>
            </a:r>
            <a:endParaRPr/>
          </a:p>
        </p:txBody>
      </p:sp>
      <p:sp>
        <p:nvSpPr>
          <p:cNvPr id="333" name="" descr="{&quot;isTemplate&quot;:true,&quot;type&quot;:&quot;text&quot;}"/>
          <p:cNvSpPr txBox="1"/>
          <p:nvPr/>
        </p:nvSpPr>
        <p:spPr>
          <a:xfrm rot="0" flipH="0" flipV="0">
            <a:off x="5219700" y="2438400"/>
            <a:ext cx="17526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06B6D4"/>
                </a:solidFill>
                <a:latin typeface="Microsoft YaHei"/>
                <a:ea typeface="Microsoft YaHei"/>
              </a:rPr>
              <a:t>诊断流式输出</a:t>
            </a:r>
            <a:endParaRPr/>
          </a:p>
        </p:txBody>
      </p:sp>
      <p:sp>
        <p:nvSpPr>
          <p:cNvPr id="334" name="" descr="{&quot;isTemplate&quot;:true,&quot;type&quot;:&quot;text&quot;}"/>
          <p:cNvSpPr txBox="1"/>
          <p:nvPr/>
        </p:nvSpPr>
        <p:spPr>
          <a:xfrm rot="0" flipH="0" flipV="0">
            <a:off x="5219700" y="2724150"/>
            <a:ext cx="1752600" cy="4476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900">
                <a:solidFill>
                  <a:srgbClr val="94A3B8"/>
                </a:solidFill>
                <a:latin typeface="Microsoft YaHei"/>
                <a:ea typeface="Microsoft YaHei"/>
              </a:rPr>
              <a:t>POST /chat/stream
</a:t>
            </a:r>
            <a:r>
              <a:rPr lang="zh-CN" sz="900">
                <a:solidFill>
                  <a:srgbClr val="94A3B8"/>
                </a:solidFill>
                <a:latin typeface="Microsoft YaHei"/>
                <a:ea typeface="Microsoft YaHei"/>
              </a:rPr>
              <a:t>按</a:t>
            </a:r>
            <a:r>
              <a:rPr lang="en-US" sz="900">
                <a:solidFill>
                  <a:srgbClr val="94A3B8"/>
                </a:solidFill>
                <a:latin typeface="Microsoft YaHei"/>
                <a:ea typeface="Microsoft YaHei"/>
              </a:rPr>
              <a:t> token </a:t>
            </a:r>
            <a:r>
              <a:rPr lang="zh-CN" sz="900">
                <a:solidFill>
                  <a:srgbClr val="94A3B8"/>
                </a:solidFill>
                <a:latin typeface="Microsoft YaHei"/>
                <a:ea typeface="Microsoft YaHei"/>
              </a:rPr>
              <a:t>逐字渲染</a:t>
            </a:r>
            <a:endParaRPr/>
          </a:p>
        </p:txBody>
      </p:sp>
      <p:sp>
        <p:nvSpPr>
          <p:cNvPr id="335" name=""/>
          <p:cNvSpPr/>
          <p:nvPr/>
        </p:nvSpPr>
        <p:spPr>
          <a:xfrm rot="0" flipH="0" flipV="0">
            <a:off x="5219700" y="5086350"/>
            <a:ext cx="1752600" cy="485775"/>
          </a:xfrm>
          <a:prstGeom prst="roundRect">
            <a:avLst>
              <a:gd name="adj" fmla="val 7843"/>
            </a:avLst>
          </a:prstGeom>
          <a:solidFill>
            <a:srgbClr val="1E293B"/>
          </a:solidFill>
          <a:ln/>
        </p:spPr>
        <p:txBody>
          <a:bodyPr/>
          <a:p/>
        </p:txBody>
      </p:sp>
      <p:sp>
        <p:nvSpPr>
          <p:cNvPr id="336" name="" descr="{&quot;isTemplate&quot;:true,&quot;type&quot;:&quot;text&quot;}"/>
          <p:cNvSpPr txBox="1"/>
          <p:nvPr/>
        </p:nvSpPr>
        <p:spPr>
          <a:xfrm rot="0" flipH="0" flipV="0">
            <a:off x="5334000" y="5200650"/>
            <a:ext cx="1524000" cy="25717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1650" b="1">
                <a:solidFill>
                  <a:srgbClr val="06B6D4"/>
                </a:solidFill>
                <a:latin typeface="Microsoft YaHei"/>
                <a:ea typeface="Microsoft YaHei"/>
              </a:rPr>
              <a:t>AI</a:t>
            </a:r>
            <a:endParaRPr/>
          </a:p>
        </p:txBody>
      </p:sp>
      <p:sp>
        <p:nvSpPr>
          <p:cNvPr id="337" name=""/>
          <p:cNvSpPr/>
          <p:nvPr/>
        </p:nvSpPr>
        <p:spPr>
          <a:xfrm rot="0" flipH="0" flipV="0">
            <a:off x="7277100" y="1790700"/>
            <a:ext cx="2133600" cy="4000500"/>
          </a:xfrm>
          <a:prstGeom prst="roundRect">
            <a:avLst>
              <a:gd name="adj" fmla="val 2679"/>
            </a:avLst>
          </a:prstGeom>
          <a:solidFill>
            <a:srgbClr val="0F172A"/>
          </a:solidFill>
          <a:ln/>
        </p:spPr>
        <p:txBody>
          <a:bodyPr/>
          <a:p/>
        </p:txBody>
      </p:sp>
      <p:sp>
        <p:nvSpPr>
          <p:cNvPr id="338" name=""/>
          <p:cNvSpPr/>
          <p:nvPr/>
        </p:nvSpPr>
        <p:spPr>
          <a:xfrm rot="0" flipH="0" flipV="0">
            <a:off x="7277100" y="1790700"/>
            <a:ext cx="2133600" cy="4000500"/>
          </a:xfrm>
          <a:custGeom>
            <a:pathLst>
              <a:path w="224" h="420">
                <a:moveTo>
                  <a:pt x="218" y="0"/>
                </a:moveTo>
                <a:cubicBezTo>
                  <a:pt x="221" y="0"/>
                  <a:pt x="224" y="2"/>
                  <a:pt x="224" y="5"/>
                </a:cubicBezTo>
                <a:cubicBezTo>
                  <a:pt x="223" y="4"/>
                  <a:pt x="222" y="3"/>
                  <a:pt x="221" y="3"/>
                </a:cubicBezTo>
                <a:lnTo>
                  <a:pt x="3" y="3"/>
                </a:lnTo>
                <a:cubicBezTo>
                  <a:pt x="2" y="3"/>
                  <a:pt x="0" y="4"/>
                  <a:pt x="0" y="5"/>
                </a:cubicBezTo>
                <a:cubicBezTo>
                  <a:pt x="0" y="2"/>
                  <a:pt x="3" y="0"/>
                  <a:pt x="6" y="0"/>
                </a:cubicBezTo>
                <a:lnTo>
                  <a:pt x="218" y="0"/>
                </a:lnTo>
                <a:close/>
              </a:path>
            </a:pathLst>
          </a:custGeom>
          <a:solidFill>
            <a:srgbClr val="F59E0B"/>
          </a:solidFill>
          <a:ln/>
        </p:spPr>
        <p:txBody>
          <a:bodyPr/>
          <a:p/>
        </p:txBody>
      </p:sp>
      <p:sp>
        <p:nvSpPr>
          <p:cNvPr id="339" name="" descr="{&quot;isTemplate&quot;:true,&quot;type&quot;:&quot;text&quot;}"/>
          <p:cNvSpPr txBox="1"/>
          <p:nvPr/>
        </p:nvSpPr>
        <p:spPr>
          <a:xfrm rot="0" flipH="0" flipV="0">
            <a:off x="7467600" y="1981200"/>
            <a:ext cx="17526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spc="75">
                <a:solidFill>
                  <a:srgbClr val="F59E0B"/>
                </a:solidFill>
                <a:latin typeface="Microsoft YaHei"/>
                <a:ea typeface="Microsoft YaHei"/>
              </a:rPr>
              <a:t>04</a:t>
            </a:r>
            <a:endParaRPr/>
          </a:p>
        </p:txBody>
      </p:sp>
      <p:sp>
        <p:nvSpPr>
          <p:cNvPr id="340" name="" descr="{&quot;isTemplate&quot;:true,&quot;type&quot;:&quot;text&quot;}"/>
          <p:cNvSpPr txBox="1"/>
          <p:nvPr/>
        </p:nvSpPr>
        <p:spPr>
          <a:xfrm rot="0" flipH="0" flipV="0">
            <a:off x="7467600" y="2190750"/>
            <a:ext cx="17526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E2E8F0"/>
                </a:solidFill>
                <a:latin typeface="Microsoft YaHei"/>
                <a:ea typeface="Microsoft YaHei"/>
              </a:rPr>
              <a:t>数字人</a:t>
            </a:r>
            <a:endParaRPr/>
          </a:p>
        </p:txBody>
      </p:sp>
      <p:sp>
        <p:nvSpPr>
          <p:cNvPr id="341" name="" descr="{&quot;isTemplate&quot;:true,&quot;type&quot;:&quot;text&quot;}"/>
          <p:cNvSpPr txBox="1"/>
          <p:nvPr/>
        </p:nvSpPr>
        <p:spPr>
          <a:xfrm rot="0" flipH="0" flipV="0">
            <a:off x="7467600" y="2438400"/>
            <a:ext cx="17526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F59E0B"/>
                </a:solidFill>
                <a:latin typeface="Microsoft YaHei"/>
                <a:ea typeface="Microsoft YaHei"/>
              </a:rPr>
              <a:t>跨页面拖拽</a:t>
            </a:r>
            <a:endParaRPr/>
          </a:p>
        </p:txBody>
      </p:sp>
      <p:sp>
        <p:nvSpPr>
          <p:cNvPr id="342" name="" descr="{&quot;isTemplate&quot;:true,&quot;type&quot;:&quot;text&quot;}"/>
          <p:cNvSpPr txBox="1"/>
          <p:nvPr/>
        </p:nvSpPr>
        <p:spPr>
          <a:xfrm rot="0" flipH="0" flipV="0">
            <a:off x="7467600" y="2724150"/>
            <a:ext cx="1752600" cy="4476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900">
                <a:solidFill>
                  <a:srgbClr val="94A3B8"/>
                </a:solidFill>
                <a:latin typeface="Microsoft YaHei"/>
                <a:ea typeface="Microsoft YaHei"/>
              </a:rPr>
              <a:t>Pointer Capture
</a:t>
            </a:r>
            <a:r>
              <a:rPr lang="zh-CN" sz="900">
                <a:solidFill>
                  <a:srgbClr val="94A3B8"/>
                </a:solidFill>
                <a:latin typeface="Microsoft YaHei"/>
                <a:ea typeface="Microsoft YaHei"/>
              </a:rPr>
              <a:t>跨</a:t>
            </a:r>
            <a:r>
              <a:rPr lang="en-US" sz="900">
                <a:solidFill>
                  <a:srgbClr val="94A3B8"/>
                </a:solidFill>
                <a:latin typeface="Microsoft YaHei"/>
                <a:ea typeface="Microsoft YaHei"/>
              </a:rPr>
              <a:t> iframe </a:t>
            </a:r>
            <a:r>
              <a:rPr lang="zh-CN" sz="900">
                <a:solidFill>
                  <a:srgbClr val="94A3B8"/>
                </a:solidFill>
                <a:latin typeface="Microsoft YaHei"/>
                <a:ea typeface="Microsoft YaHei"/>
              </a:rPr>
              <a:t>不卡</a:t>
            </a:r>
            <a:endParaRPr/>
          </a:p>
        </p:txBody>
      </p:sp>
      <p:sp>
        <p:nvSpPr>
          <p:cNvPr id="343" name=""/>
          <p:cNvSpPr/>
          <p:nvPr/>
        </p:nvSpPr>
        <p:spPr>
          <a:xfrm rot="0" flipH="0" flipV="0">
            <a:off x="7467600" y="5086350"/>
            <a:ext cx="1752600" cy="485775"/>
          </a:xfrm>
          <a:prstGeom prst="roundRect">
            <a:avLst>
              <a:gd name="adj" fmla="val 7843"/>
            </a:avLst>
          </a:prstGeom>
          <a:solidFill>
            <a:srgbClr val="1E293B"/>
          </a:solidFill>
          <a:ln/>
        </p:spPr>
        <p:txBody>
          <a:bodyPr/>
          <a:p/>
        </p:txBody>
      </p:sp>
      <p:sp>
        <p:nvSpPr>
          <p:cNvPr id="344" name="" descr="{&quot;isTemplate&quot;:true,&quot;type&quot;:&quot;text&quot;}"/>
          <p:cNvSpPr txBox="1"/>
          <p:nvPr/>
        </p:nvSpPr>
        <p:spPr>
          <a:xfrm rot="0" flipH="0" flipV="0">
            <a:off x="7581900" y="5200650"/>
            <a:ext cx="1524000" cy="25717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1650" b="1">
                <a:solidFill>
                  <a:srgbClr val="F59E0B"/>
                </a:solidFill>
                <a:latin typeface="Microsoft YaHei"/>
                <a:ea typeface="Microsoft YaHei"/>
              </a:rPr>
              <a:t>人</a:t>
            </a:r>
            <a:endParaRPr/>
          </a:p>
        </p:txBody>
      </p:sp>
      <p:sp>
        <p:nvSpPr>
          <p:cNvPr id="345" name=""/>
          <p:cNvSpPr/>
          <p:nvPr/>
        </p:nvSpPr>
        <p:spPr>
          <a:xfrm rot="0" flipH="0" flipV="0">
            <a:off x="9525000" y="1790700"/>
            <a:ext cx="2133600" cy="4000500"/>
          </a:xfrm>
          <a:prstGeom prst="roundRect">
            <a:avLst>
              <a:gd name="adj" fmla="val 2679"/>
            </a:avLst>
          </a:prstGeom>
          <a:solidFill>
            <a:srgbClr val="0F172A"/>
          </a:solidFill>
          <a:ln/>
        </p:spPr>
        <p:txBody>
          <a:bodyPr/>
          <a:p/>
        </p:txBody>
      </p:sp>
      <p:sp>
        <p:nvSpPr>
          <p:cNvPr id="346" name=""/>
          <p:cNvSpPr/>
          <p:nvPr/>
        </p:nvSpPr>
        <p:spPr>
          <a:xfrm rot="0" flipH="0" flipV="0">
            <a:off x="9525000" y="1790700"/>
            <a:ext cx="2133600" cy="4000500"/>
          </a:xfrm>
          <a:custGeom>
            <a:pathLst>
              <a:path w="224" h="420">
                <a:moveTo>
                  <a:pt x="218" y="0"/>
                </a:moveTo>
                <a:cubicBezTo>
                  <a:pt x="221" y="0"/>
                  <a:pt x="224" y="2"/>
                  <a:pt x="224" y="5"/>
                </a:cubicBezTo>
                <a:cubicBezTo>
                  <a:pt x="223" y="4"/>
                  <a:pt x="222" y="3"/>
                  <a:pt x="221" y="3"/>
                </a:cubicBezTo>
                <a:lnTo>
                  <a:pt x="3" y="3"/>
                </a:lnTo>
                <a:cubicBezTo>
                  <a:pt x="2" y="3"/>
                  <a:pt x="0" y="4"/>
                  <a:pt x="0" y="5"/>
                </a:cubicBezTo>
                <a:cubicBezTo>
                  <a:pt x="0" y="2"/>
                  <a:pt x="3" y="0"/>
                  <a:pt x="6" y="0"/>
                </a:cubicBezTo>
                <a:lnTo>
                  <a:pt x="218" y="0"/>
                </a:lnTo>
                <a:close/>
              </a:path>
            </a:pathLst>
          </a:custGeom>
          <a:solidFill>
            <a:srgbClr val="06B6D4"/>
          </a:solidFill>
          <a:ln/>
        </p:spPr>
        <p:txBody>
          <a:bodyPr/>
          <a:p/>
        </p:txBody>
      </p:sp>
      <p:sp>
        <p:nvSpPr>
          <p:cNvPr id="347" name="" descr="{&quot;isTemplate&quot;:true,&quot;type&quot;:&quot;text&quot;}"/>
          <p:cNvSpPr txBox="1"/>
          <p:nvPr/>
        </p:nvSpPr>
        <p:spPr>
          <a:xfrm rot="0" flipH="0" flipV="0">
            <a:off x="9715500" y="1981200"/>
            <a:ext cx="17526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spc="75">
                <a:solidFill>
                  <a:srgbClr val="06B6D4"/>
                </a:solidFill>
                <a:latin typeface="Microsoft YaHei"/>
                <a:ea typeface="Microsoft YaHei"/>
              </a:rPr>
              <a:t>05</a:t>
            </a:r>
            <a:endParaRPr/>
          </a:p>
        </p:txBody>
      </p:sp>
      <p:sp>
        <p:nvSpPr>
          <p:cNvPr id="348" name="" descr="{&quot;isTemplate&quot;:true,&quot;type&quot;:&quot;text&quot;}"/>
          <p:cNvSpPr txBox="1"/>
          <p:nvPr/>
        </p:nvSpPr>
        <p:spPr>
          <a:xfrm rot="0" flipH="0" flipV="0">
            <a:off x="9715500" y="2190750"/>
            <a:ext cx="17526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E2E8F0"/>
                </a:solidFill>
                <a:latin typeface="Microsoft YaHei"/>
                <a:ea typeface="Microsoft YaHei"/>
              </a:rPr>
              <a:t>检修闯关</a:t>
            </a:r>
            <a:endParaRPr/>
          </a:p>
        </p:txBody>
      </p:sp>
      <p:sp>
        <p:nvSpPr>
          <p:cNvPr id="349" name="" descr="{&quot;isTemplate&quot;:true,&quot;type&quot;:&quot;text&quot;}"/>
          <p:cNvSpPr txBox="1"/>
          <p:nvPr/>
        </p:nvSpPr>
        <p:spPr>
          <a:xfrm rot="0" flipH="0" flipV="0">
            <a:off x="9715500" y="2438400"/>
            <a:ext cx="17526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06B6D4"/>
                </a:solidFill>
                <a:latin typeface="Microsoft YaHei"/>
                <a:ea typeface="Microsoft YaHei"/>
              </a:rPr>
              <a:t>Godot 2D</a:t>
            </a:r>
            <a:endParaRPr/>
          </a:p>
        </p:txBody>
      </p:sp>
      <p:sp>
        <p:nvSpPr>
          <p:cNvPr id="350" name="" descr="{&quot;isTemplate&quot;:true,&quot;type&quot;:&quot;text&quot;}"/>
          <p:cNvSpPr txBox="1"/>
          <p:nvPr/>
        </p:nvSpPr>
        <p:spPr>
          <a:xfrm rot="0" flipH="0" flipV="0">
            <a:off x="9715500" y="2724150"/>
            <a:ext cx="1752600" cy="4476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900">
                <a:solidFill>
                  <a:srgbClr val="94A3B8"/>
                </a:solidFill>
                <a:latin typeface="Microsoft YaHei"/>
                <a:ea typeface="Microsoft YaHei"/>
              </a:rPr>
              <a:t>A/D </a:t>
            </a:r>
            <a:r>
              <a:rPr lang="zh-CN" sz="900">
                <a:solidFill>
                  <a:srgbClr val="94A3B8"/>
                </a:solidFill>
                <a:latin typeface="Microsoft YaHei"/>
                <a:ea typeface="Microsoft YaHei"/>
              </a:rPr>
              <a:t>移动</a:t>
            </a:r>
            <a:r>
              <a:rPr lang="en-US" sz="900">
                <a:solidFill>
                  <a:srgbClr val="94A3B8"/>
                </a:solidFill>
                <a:latin typeface="Microsoft YaHei"/>
                <a:ea typeface="Microsoft YaHei"/>
              </a:rPr>
              <a:t> + </a:t>
            </a:r>
            <a:r>
              <a:rPr lang="zh-CN" sz="900">
                <a:solidFill>
                  <a:srgbClr val="94A3B8"/>
                </a:solidFill>
                <a:latin typeface="Microsoft YaHei"/>
                <a:ea typeface="Microsoft YaHei"/>
              </a:rPr>
              <a:t>空格跳跃
</a:t>
            </a:r>
            <a:r>
              <a:rPr lang="en-US" sz="900">
                <a:solidFill>
                  <a:srgbClr val="94A3B8"/>
                </a:solidFill>
                <a:latin typeface="Microsoft YaHei"/>
                <a:ea typeface="Microsoft YaHei"/>
              </a:rPr>
              <a:t>3 </a:t>
            </a:r>
            <a:r>
              <a:rPr lang="zh-CN" sz="900">
                <a:solidFill>
                  <a:srgbClr val="94A3B8"/>
                </a:solidFill>
                <a:latin typeface="Microsoft YaHei"/>
                <a:ea typeface="Microsoft YaHei"/>
              </a:rPr>
              <a:t>关</a:t>
            </a:r>
            <a:r>
              <a:rPr lang="en-US" sz="900">
                <a:solidFill>
                  <a:srgbClr val="94A3B8"/>
                </a:solidFill>
                <a:latin typeface="Microsoft YaHei"/>
                <a:ea typeface="Microsoft YaHei"/>
              </a:rPr>
              <a:t> × 3 </a:t>
            </a:r>
            <a:r>
              <a:rPr lang="zh-CN" sz="900">
                <a:solidFill>
                  <a:srgbClr val="94A3B8"/>
                </a:solidFill>
                <a:latin typeface="Microsoft YaHei"/>
                <a:ea typeface="Microsoft YaHei"/>
              </a:rPr>
              <a:t>小关键盘作答</a:t>
            </a:r>
            <a:endParaRPr/>
          </a:p>
        </p:txBody>
      </p:sp>
      <p:sp>
        <p:nvSpPr>
          <p:cNvPr id="351" name=""/>
          <p:cNvSpPr/>
          <p:nvPr/>
        </p:nvSpPr>
        <p:spPr>
          <a:xfrm rot="0" flipH="0" flipV="0">
            <a:off x="9715500" y="5086350"/>
            <a:ext cx="1752600" cy="485775"/>
          </a:xfrm>
          <a:prstGeom prst="roundRect">
            <a:avLst>
              <a:gd name="adj" fmla="val 7843"/>
            </a:avLst>
          </a:prstGeom>
          <a:solidFill>
            <a:srgbClr val="1E293B"/>
          </a:solidFill>
          <a:ln/>
        </p:spPr>
        <p:txBody>
          <a:bodyPr/>
          <a:p/>
        </p:txBody>
      </p:sp>
      <p:sp>
        <p:nvSpPr>
          <p:cNvPr id="352" name="" descr="{&quot;isTemplate&quot;:true,&quot;type&quot;:&quot;text&quot;}"/>
          <p:cNvSpPr txBox="1"/>
          <p:nvPr/>
        </p:nvSpPr>
        <p:spPr>
          <a:xfrm rot="0" flipH="0" flipV="0">
            <a:off x="9829800" y="5200650"/>
            <a:ext cx="1524000" cy="25717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1650" b="1">
                <a:solidFill>
                  <a:srgbClr val="06B6D4"/>
                </a:solidFill>
                <a:latin typeface="Microsoft YaHei"/>
                <a:ea typeface="Microsoft YaHei"/>
              </a:rPr>
              <a:t>游</a:t>
            </a:r>
            <a:endParaRPr/>
          </a:p>
        </p:txBody>
      </p:sp>
      <p:sp>
        <p:nvSpPr>
          <p:cNvPr id="353" name="" descr="{&quot;isTemplate&quot;:true,&quot;type&quot;:&quot;text&quot;}"/>
          <p:cNvSpPr txBox="1"/>
          <p:nvPr/>
        </p:nvSpPr>
        <p:spPr>
          <a:xfrm rot="0" flipH="0" flipV="0">
            <a:off x="11268075" y="6524625"/>
            <a:ext cx="3905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475569"/>
                </a:solidFill>
                <a:latin typeface="Microsoft YaHei"/>
                <a:ea typeface="Microsoft YaHei"/>
              </a:rPr>
              <a:t>07 / 12</a:t>
            </a:r>
            <a:endParaRPr/>
          </a:p>
        </p:txBody>
      </p:sp>
    </p:spTree>
  </p:cSld>
</p:sld>
</file>

<file path=ppt/slides/slide8.xml><?xml version="1.0" encoding="utf-8"?>
<p:sld xmlns:p="http://schemas.openxmlformats.org/presentationml/2006/main" xmlns:a="http://schemas.openxmlformats.org/drawingml/2006/main">
  <p:cSld>
    <p:spTree>
      <p:nvGrpSpPr>
        <p:cNvPr id="354" name="" descr="&lt;Slide style={{ width: '1280px', height: '720px', padding: '40px 56px', backgroundColor: '#0b1220' }}&gt;&#10;    &lt;Box style={{ display: 'flex', alignItems: 'center', marginBottom: '24px' }}&gt;&#10;      &lt;Text style={{ fontSize: '14px', color: '#06b6d4', letterSpacing: '3px' }}&gt;3D SCENE · FIRST-PERSON WALKTHROUGH&lt;/Text&gt;&#10;      &lt;Box style={{ flex: '1', height: '1px', backgroundColor: '#1e293b', marginLeft: '20px' }} /&gt;&#10;    &lt;/Box&gt;&#10;&#10;    &lt;Text style={{&#10;      fontSize: '36px', fontWeight: 'bold', color: '#e2e8f0', marginBottom: '8px',&#10;    }}&gt;&#10;      3D 车间可视化 · &lt;span style={{ color: '#06b6d4' }}&gt;第一人称漫游&lt;/span&gt;&#10;    &lt;/Text&gt;&#10;    &lt;Text style={{ fontSize: '16px', color: '#94a3b8', marginBottom: '24px' }}&gt;&#10;      src/components/equipment3d/ · three.js 0.186 · 5 种彩层可独立开关 · 设备单台特征化&#10;    &lt;/Text&gt;&#10;&#10;    &lt;Box style={{ display: 'flex', gap: '16px', height: '420px' }}&gt;&#10;      {/* 左侧主视觉占位 — 描述框代替截图 */}&#10;      &lt;Box style={{&#10;        flex: '1.5', padding: '24px', backgroundColor: '#0f172a', borderRadius: '8px',&#10;        display: 'flex', flexDirection: 'column', justifyContent: 'center', alignItems: 'center',&#10;      }}&gt;&#10;        &lt;Box style={{&#10;          width: '100%', height: '300px', backgroundColor: '#1e293b', borderRadius: '6px',&#10;          display: 'flex', alignItems: 'center', justifyContent: 'center',&#10;          border: '2px dashed #334155',&#10;        }}&gt;&#10;          &lt;Text style={{ fontSize: '16px', color: '#64748b' }}&gt;&#10;            〔第一人称漫游画面占位 · 演示时切换至实操〕&#10;          &lt;/Text&gt;&#10;        &lt;/Box&gt;&#10;        &lt;Text style={{ fontSize: '14px', color: '#94a3b8', marginTop: '16px' }}&gt;&#10;          WASD 移动 · 鼠标视角 · 点击设备查详情&#10;        &lt;/Text&gt;&#10;      &lt;/Box&gt;&#10;&#10;      {/* 右侧 5 层彩层图例 */}&#10;      &lt;Box style={{ flex: '1', display: 'flex', flexDirection: 'column', gap: '10px' }}&gt;&#10;        &lt;Text style={{ fontSize: '14px', color: '#06b6d4', letterSpacing: '1px', marginBottom: '4px' }}&gt;&#10;          5 种彩层 · 顶部图例可独立开关&#10;        &lt;/Text&gt;&#10;        {[&#10;          { name: '故障环', desc: '玫红脉冲 · 故障设备高亮', color: '#f43f5e', en: 'Fault Ring' },&#10;          { name: '技师轨迹', desc: '青色虚线 · 在岗技师轨迹', color: '#06b6d4', en: 'Tech Track' },&#10;          { name: '引导虚线', desc: '琥珀 · 视线引导', color: '#f59e0b', en: 'Guide Line' },&#10;          { name: '介质粒子', desc: '绿色粒子 · 流体可视化', color: '#10b981', en: 'Medium Particles' },&#10;          { name: '安全边界', desc: '紫色多边形 · 危险区', color: '#8b5cf6', en: 'Safety Boundary' },&#10;        ].map((l, i) =&gt; (&#10;          &lt;Box key={i} style={{&#10;            padding: '10px 14px', backgroundColor: '#0f172a', borderRadius: '4px',&#10;            borderLeft: `3px solid ${l.color}`,&#10;          }}&gt;&#10;            &lt;Box style={{ display: 'flex', alignItems: 'center', marginBottom: '2px' }}&gt;&#10;              &lt;Box style={{&#10;                width: '12px', height: '12px', borderRadius: '50%',&#10;                backgroundColor: l.color, marginRight: '8px',&#10;              }} /&gt;&#10;              &lt;Text style={{ fontSize: '14px', color: '#e2e8f0', fontWeight: 'bold' }}&gt;{l.name}&lt;/Text&gt;&#10;              &lt;Text style={{ fontSize: '11px', color: '#64748b', marginLeft: '8px' }}&gt;{l.en}&lt;/Text&gt;&#10;            &lt;/Box&gt;&#10;            &lt;Text style={{ fontSize: '12px', color: '#94a3b8' }}&gt;{l.desc}&lt;/Text&gt;&#10;          &lt;/Box&gt;&#10;        ))}&#10;      &lt;/Box&gt;&#10;    &lt;/Box&gt;&#10;&#10;    &lt;Box style={{ position: 'absolute', bottom: '20px', right: '56px' }}&gt;&#10;      &lt;Text style={{ fontSize: '12px', color: '#475569' }}&gt;08 / 12&lt;/Text&gt;&#10;    &lt;/Box&gt;&#10;  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/>
        </p:spPr>
        <p:txBody>
          <a:bodyPr/>
          <a:p/>
        </p:txBody>
      </p:sp>
      <p:sp>
        <p:nvSpPr>
          <p:cNvPr id="356" name="" descr="{&quot;isTemplate&quot;:true,&quot;type&quot;:&quot;text&quot;}"/>
          <p:cNvSpPr txBox="1"/>
          <p:nvPr/>
        </p:nvSpPr>
        <p:spPr>
          <a:xfrm rot="0" flipH="0" flipV="0">
            <a:off x="533400" y="381000"/>
            <a:ext cx="38004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225">
                <a:solidFill>
                  <a:srgbClr val="06B6D4"/>
                </a:solidFill>
                <a:latin typeface="Microsoft YaHei"/>
                <a:ea typeface="Microsoft YaHei"/>
              </a:rPr>
              <a:t>3D SCENE · FIRST-PERSON WALKTHROUGH</a:t>
            </a:r>
            <a:endParaRPr/>
          </a:p>
        </p:txBody>
      </p:sp>
      <p:sp>
        <p:nvSpPr>
          <p:cNvPr id="357" name=""/>
          <p:cNvSpPr/>
          <p:nvPr/>
        </p:nvSpPr>
        <p:spPr>
          <a:xfrm rot="0" flipH="0" flipV="0">
            <a:off x="4524375" y="457200"/>
            <a:ext cx="7134225" cy="9525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p/>
        </p:txBody>
      </p:sp>
      <p:sp>
        <p:nvSpPr>
          <p:cNvPr id="358" name="" descr="{&quot;isTemplate&quot;:true,&quot;type&quot;:&quot;text&quot;}"/>
          <p:cNvSpPr txBox="1"/>
          <p:nvPr/>
        </p:nvSpPr>
        <p:spPr>
          <a:xfrm rot="0" flipH="0" flipV="0">
            <a:off x="533400" y="771525"/>
            <a:ext cx="11125200" cy="4191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700" b="1">
                <a:solidFill>
                  <a:srgbClr val="E2E8F0"/>
                </a:solidFill>
                <a:latin typeface="Microsoft YaHei"/>
                <a:ea typeface="Microsoft YaHei"/>
              </a:rPr>
              <a:t>3D </a:t>
            </a:r>
            <a:r>
              <a:rPr lang="zh-CN" sz="2700" b="1">
                <a:solidFill>
                  <a:srgbClr val="E2E8F0"/>
                </a:solidFill>
                <a:latin typeface="Microsoft YaHei"/>
                <a:ea typeface="Microsoft YaHei"/>
              </a:rPr>
              <a:t>车间可视化</a:t>
            </a:r>
            <a:r>
              <a:rPr lang="en-US" sz="2700" b="1">
                <a:solidFill>
                  <a:srgbClr val="E2E8F0"/>
                </a:solidFill>
                <a:latin typeface="Microsoft YaHei"/>
                <a:ea typeface="Microsoft YaHei"/>
              </a:rPr>
              <a:t> · </a:t>
            </a:r>
            <a:r>
              <a:rPr lang="zh-CN" sz="2700" b="1">
                <a:solidFill>
                  <a:srgbClr val="06B6D4"/>
                </a:solidFill>
                <a:latin typeface="Microsoft YaHei"/>
                <a:ea typeface="Microsoft YaHei"/>
              </a:rPr>
              <a:t>第一人称漫游</a:t>
            </a:r>
            <a:endParaRPr/>
          </a:p>
        </p:txBody>
      </p:sp>
      <p:sp>
        <p:nvSpPr>
          <p:cNvPr id="359" name="" descr="{&quot;isTemplate&quot;:true,&quot;type&quot;:&quot;text&quot;}"/>
          <p:cNvSpPr txBox="1"/>
          <p:nvPr/>
        </p:nvSpPr>
        <p:spPr>
          <a:xfrm rot="0" flipH="0" flipV="0">
            <a:off x="533400" y="1266825"/>
            <a:ext cx="111252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94A3B8"/>
                </a:solidFill>
                <a:latin typeface="Microsoft YaHei"/>
                <a:ea typeface="Microsoft YaHei"/>
              </a:rPr>
              <a:t>src/components/equipment3d/ · three.js 0.186 · 5 </a:t>
            </a:r>
            <a:r>
              <a:rPr lang="zh-CN" sz="1200">
                <a:solidFill>
                  <a:srgbClr val="94A3B8"/>
                </a:solidFill>
                <a:latin typeface="Microsoft YaHei"/>
                <a:ea typeface="Microsoft YaHei"/>
              </a:rPr>
              <a:t>种彩层可独立开关</a:t>
            </a:r>
            <a:r>
              <a:rPr lang="en-US" sz="1200">
                <a:solidFill>
                  <a:srgbClr val="94A3B8"/>
                </a:solidFill>
                <a:latin typeface="Microsoft YaHei"/>
                <a:ea typeface="Microsoft YaHei"/>
              </a:rPr>
              <a:t> · </a:t>
            </a:r>
            <a:r>
              <a:rPr lang="zh-CN" sz="1200">
                <a:solidFill>
                  <a:srgbClr val="94A3B8"/>
                </a:solidFill>
                <a:latin typeface="Microsoft YaHei"/>
                <a:ea typeface="Microsoft YaHei"/>
              </a:rPr>
              <a:t>设备单台特征化</a:t>
            </a:r>
            <a:endParaRPr/>
          </a:p>
        </p:txBody>
      </p:sp>
      <p:sp>
        <p:nvSpPr>
          <p:cNvPr id="360" name=""/>
          <p:cNvSpPr/>
          <p:nvPr/>
        </p:nvSpPr>
        <p:spPr>
          <a:xfrm rot="0" flipH="0" flipV="0">
            <a:off x="533400" y="1685925"/>
            <a:ext cx="6581775" cy="4000500"/>
          </a:xfrm>
          <a:prstGeom prst="roundRect">
            <a:avLst>
              <a:gd name="adj" fmla="val 1905"/>
            </a:avLst>
          </a:prstGeom>
          <a:solidFill>
            <a:srgbClr val="0F172A"/>
          </a:solidFill>
          <a:ln/>
        </p:spPr>
        <p:txBody>
          <a:bodyPr/>
          <a:p/>
        </p:txBody>
      </p:sp>
      <p:sp>
        <p:nvSpPr>
          <p:cNvPr id="361" name=""/>
          <p:cNvSpPr/>
          <p:nvPr/>
        </p:nvSpPr>
        <p:spPr>
          <a:xfrm rot="0" flipH="0" flipV="0">
            <a:off x="762000" y="2105025"/>
            <a:ext cx="6124575" cy="2857500"/>
          </a:xfrm>
          <a:prstGeom prst="roundRect">
            <a:avLst>
              <a:gd name="adj" fmla="val 2000"/>
            </a:avLst>
          </a:prstGeom>
          <a:solidFill>
            <a:srgbClr val="1E293B"/>
          </a:solidFill>
          <a:ln w="25400">
            <a:solidFill>
              <a:srgbClr val="334155"/>
            </a:solidFill>
            <a:prstDash val="dash"/>
          </a:ln>
        </p:spPr>
        <p:txBody>
          <a:bodyPr/>
          <a:p/>
        </p:txBody>
      </p:sp>
      <p:sp>
        <p:nvSpPr>
          <p:cNvPr id="362" name="" descr="{&quot;isTemplate&quot;:true,&quot;type&quot;:&quot;text&quot;}"/>
          <p:cNvSpPr txBox="1"/>
          <p:nvPr/>
        </p:nvSpPr>
        <p:spPr>
          <a:xfrm rot="0" flipH="0" flipV="0">
            <a:off x="2238375" y="3438525"/>
            <a:ext cx="31813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64748B"/>
                </a:solidFill>
                <a:latin typeface="Microsoft YaHei"/>
                <a:ea typeface="Microsoft YaHei"/>
              </a:rPr>
              <a:t>〔第一人称漫游画面占位</a:t>
            </a:r>
            <a:r>
              <a:rPr lang="en-US" sz="1200">
                <a:solidFill>
                  <a:srgbClr val="64748B"/>
                </a:solidFill>
                <a:latin typeface="Microsoft YaHei"/>
                <a:ea typeface="Microsoft YaHei"/>
              </a:rPr>
              <a:t> · </a:t>
            </a:r>
            <a:r>
              <a:rPr lang="zh-CN" sz="1200">
                <a:solidFill>
                  <a:srgbClr val="64748B"/>
                </a:solidFill>
                <a:latin typeface="Microsoft YaHei"/>
                <a:ea typeface="Microsoft YaHei"/>
              </a:rPr>
              <a:t>演示时切换至实操〕</a:t>
            </a:r>
            <a:endParaRPr/>
          </a:p>
        </p:txBody>
      </p:sp>
      <p:sp>
        <p:nvSpPr>
          <p:cNvPr id="363" name="" descr="{&quot;isTemplate&quot;:true,&quot;type&quot;:&quot;text&quot;}"/>
          <p:cNvSpPr txBox="1"/>
          <p:nvPr/>
        </p:nvSpPr>
        <p:spPr>
          <a:xfrm rot="0" flipH="0" flipV="0">
            <a:off x="2628900" y="5114925"/>
            <a:ext cx="24003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94A3B8"/>
                </a:solidFill>
                <a:latin typeface="Microsoft YaHei"/>
                <a:ea typeface="Microsoft YaHei"/>
              </a:rPr>
              <a:t>WASD </a:t>
            </a:r>
            <a:r>
              <a:rPr lang="zh-CN" sz="1050">
                <a:solidFill>
                  <a:srgbClr val="94A3B8"/>
                </a:solidFill>
                <a:latin typeface="Microsoft YaHei"/>
                <a:ea typeface="Microsoft YaHei"/>
              </a:rPr>
              <a:t>移动</a:t>
            </a:r>
            <a:r>
              <a:rPr lang="en-US" sz="1050">
                <a:solidFill>
                  <a:srgbClr val="94A3B8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94A3B8"/>
                </a:solidFill>
                <a:latin typeface="Microsoft YaHei"/>
                <a:ea typeface="Microsoft YaHei"/>
              </a:rPr>
              <a:t>鼠标视角</a:t>
            </a:r>
            <a:r>
              <a:rPr lang="en-US" sz="1050">
                <a:solidFill>
                  <a:srgbClr val="94A3B8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94A3B8"/>
                </a:solidFill>
                <a:latin typeface="Microsoft YaHei"/>
                <a:ea typeface="Microsoft YaHei"/>
              </a:rPr>
              <a:t>点击设备查详情</a:t>
            </a:r>
            <a:endParaRPr/>
          </a:p>
        </p:txBody>
      </p:sp>
      <p:sp>
        <p:nvSpPr>
          <p:cNvPr id="364" name="" descr="{&quot;isTemplate&quot;:true,&quot;type&quot;:&quot;text&quot;}"/>
          <p:cNvSpPr txBox="1"/>
          <p:nvPr/>
        </p:nvSpPr>
        <p:spPr>
          <a:xfrm rot="0" flipH="0" flipV="0">
            <a:off x="7267575" y="1685925"/>
            <a:ext cx="43910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75">
                <a:solidFill>
                  <a:srgbClr val="06B6D4"/>
                </a:solidFill>
                <a:latin typeface="Microsoft YaHei"/>
                <a:ea typeface="Microsoft YaHei"/>
              </a:rPr>
              <a:t>5 </a:t>
            </a:r>
            <a:r>
              <a:rPr lang="zh-CN" sz="1050" spc="75">
                <a:solidFill>
                  <a:srgbClr val="06B6D4"/>
                </a:solidFill>
                <a:latin typeface="Microsoft YaHei"/>
                <a:ea typeface="Microsoft YaHei"/>
              </a:rPr>
              <a:t>种彩层</a:t>
            </a:r>
            <a:r>
              <a:rPr lang="en-US" sz="1050" spc="75">
                <a:solidFill>
                  <a:srgbClr val="06B6D4"/>
                </a:solidFill>
                <a:latin typeface="Microsoft YaHei"/>
                <a:ea typeface="Microsoft YaHei"/>
              </a:rPr>
              <a:t> · </a:t>
            </a:r>
            <a:r>
              <a:rPr lang="zh-CN" sz="1050" spc="75">
                <a:solidFill>
                  <a:srgbClr val="06B6D4"/>
                </a:solidFill>
                <a:latin typeface="Microsoft YaHei"/>
                <a:ea typeface="Microsoft YaHei"/>
              </a:rPr>
              <a:t>顶部图例可独立开关</a:t>
            </a:r>
            <a:endParaRPr/>
          </a:p>
        </p:txBody>
      </p:sp>
      <p:sp>
        <p:nvSpPr>
          <p:cNvPr id="365" name=""/>
          <p:cNvSpPr/>
          <p:nvPr/>
        </p:nvSpPr>
        <p:spPr>
          <a:xfrm rot="0" flipH="0" flipV="0">
            <a:off x="7296150" y="1981200"/>
            <a:ext cx="4391025" cy="514350"/>
          </a:xfrm>
          <a:prstGeom prst="roundRect">
            <a:avLst>
              <a:gd name="adj" fmla="val 7407"/>
            </a:avLst>
          </a:prstGeom>
          <a:solidFill>
            <a:srgbClr val="0F172A"/>
          </a:solidFill>
          <a:ln/>
        </p:spPr>
        <p:txBody>
          <a:bodyPr/>
          <a:p/>
        </p:txBody>
      </p:sp>
      <p:sp>
        <p:nvSpPr>
          <p:cNvPr id="366" name=""/>
          <p:cNvSpPr/>
          <p:nvPr/>
        </p:nvSpPr>
        <p:spPr>
          <a:xfrm rot="0" flipH="0" flipV="0">
            <a:off x="7296150" y="1981200"/>
            <a:ext cx="4391025" cy="514350"/>
          </a:xfrm>
          <a:custGeom>
            <a:pathLst>
              <a:path w="461" h="54">
                <a:moveTo>
                  <a:pt x="4" y="0"/>
                </a:moveTo>
                <a:cubicBezTo>
                  <a:pt x="3" y="0"/>
                  <a:pt x="3" y="0"/>
                  <a:pt x="3" y="1"/>
                </a:cubicBezTo>
                <a:lnTo>
                  <a:pt x="3" y="53"/>
                </a:lnTo>
                <a:cubicBezTo>
                  <a:pt x="3" y="53"/>
                  <a:pt x="3" y="54"/>
                  <a:pt x="4" y="54"/>
                </a:cubicBezTo>
                <a:cubicBezTo>
                  <a:pt x="2" y="54"/>
                  <a:pt x="0" y="52"/>
                  <a:pt x="0" y="50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close/>
              </a:path>
            </a:pathLst>
          </a:custGeom>
          <a:solidFill>
            <a:srgbClr val="F43F5E"/>
          </a:solidFill>
          <a:ln/>
        </p:spPr>
        <p:txBody>
          <a:bodyPr/>
          <a:p/>
        </p:txBody>
      </p:sp>
      <p:sp>
        <p:nvSpPr>
          <p:cNvPr id="367" name=""/>
          <p:cNvSpPr/>
          <p:nvPr/>
        </p:nvSpPr>
        <p:spPr>
          <a:xfrm rot="0" flipH="0" flipV="0">
            <a:off x="7429500" y="2105025"/>
            <a:ext cx="114300" cy="114300"/>
          </a:xfrm>
          <a:custGeom>
            <a:pathLst>
              <a:path w="12" h="12">
                <a:moveTo>
                  <a:pt x="6" y="0"/>
                </a:moveTo>
                <a:lnTo>
                  <a:pt x="6" y="0"/>
                </a:lnTo>
                <a:cubicBezTo>
                  <a:pt x="9" y="0"/>
                  <a:pt x="12" y="3"/>
                  <a:pt x="12" y="6"/>
                </a:cubicBezTo>
                <a:lnTo>
                  <a:pt x="12" y="6"/>
                </a:lnTo>
                <a:cubicBezTo>
                  <a:pt x="12" y="9"/>
                  <a:pt x="9" y="12"/>
                  <a:pt x="6" y="12"/>
                </a:cubicBezTo>
                <a:lnTo>
                  <a:pt x="6" y="12"/>
                </a:lnTo>
                <a:cubicBezTo>
                  <a:pt x="3" y="12"/>
                  <a:pt x="0" y="9"/>
                  <a:pt x="0" y="6"/>
                </a:cubicBezTo>
                <a:lnTo>
                  <a:pt x="0" y="6"/>
                </a:lnTo>
                <a:cubicBezTo>
                  <a:pt x="0" y="3"/>
                  <a:pt x="3" y="0"/>
                  <a:pt x="6" y="0"/>
                </a:cubicBezTo>
                <a:close/>
              </a:path>
            </a:pathLst>
          </a:custGeom>
          <a:solidFill>
            <a:srgbClr val="F43F5E"/>
          </a:solidFill>
          <a:ln/>
        </p:spPr>
        <p:txBody>
          <a:bodyPr/>
          <a:p/>
        </p:txBody>
      </p:sp>
      <p:sp>
        <p:nvSpPr>
          <p:cNvPr id="368" name="" descr="{&quot;isTemplate&quot;:true,&quot;type&quot;:&quot;text&quot;}"/>
          <p:cNvSpPr txBox="1"/>
          <p:nvPr/>
        </p:nvSpPr>
        <p:spPr>
          <a:xfrm rot="0" flipH="0" flipV="0">
            <a:off x="7620000" y="2076450"/>
            <a:ext cx="400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E2E8F0"/>
                </a:solidFill>
                <a:latin typeface="Microsoft YaHei"/>
                <a:ea typeface="Microsoft YaHei"/>
              </a:rPr>
              <a:t>故障环</a:t>
            </a:r>
            <a:endParaRPr/>
          </a:p>
        </p:txBody>
      </p:sp>
      <p:sp>
        <p:nvSpPr>
          <p:cNvPr id="369" name="" descr="{&quot;isTemplate&quot;:true,&quot;type&quot;:&quot;text&quot;}"/>
          <p:cNvSpPr txBox="1"/>
          <p:nvPr/>
        </p:nvSpPr>
        <p:spPr>
          <a:xfrm rot="0" flipH="0" flipV="0">
            <a:off x="8096250" y="2095500"/>
            <a:ext cx="50482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>
                <a:solidFill>
                  <a:srgbClr val="64748B"/>
                </a:solidFill>
                <a:latin typeface="Microsoft YaHei"/>
                <a:ea typeface="Microsoft YaHei"/>
              </a:rPr>
              <a:t>Fault Ring</a:t>
            </a:r>
            <a:endParaRPr/>
          </a:p>
        </p:txBody>
      </p:sp>
      <p:sp>
        <p:nvSpPr>
          <p:cNvPr id="370" name="" descr="{&quot;isTemplate&quot;:true,&quot;type&quot;:&quot;text&quot;}"/>
          <p:cNvSpPr txBox="1"/>
          <p:nvPr/>
        </p:nvSpPr>
        <p:spPr>
          <a:xfrm rot="0" flipH="0" flipV="0">
            <a:off x="7429500" y="2257425"/>
            <a:ext cx="40957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94A3B8"/>
                </a:solidFill>
                <a:latin typeface="Microsoft YaHei"/>
                <a:ea typeface="Microsoft YaHei"/>
              </a:rPr>
              <a:t>玫红脉冲</a:t>
            </a:r>
            <a:r>
              <a:rPr lang="en-US" sz="900">
                <a:solidFill>
                  <a:srgbClr val="94A3B8"/>
                </a:solidFill>
                <a:latin typeface="Microsoft YaHei"/>
                <a:ea typeface="Microsoft YaHei"/>
              </a:rPr>
              <a:t> · </a:t>
            </a:r>
            <a:r>
              <a:rPr lang="zh-CN" sz="900">
                <a:solidFill>
                  <a:srgbClr val="94A3B8"/>
                </a:solidFill>
                <a:latin typeface="Microsoft YaHei"/>
                <a:ea typeface="Microsoft YaHei"/>
              </a:rPr>
              <a:t>故障设备高亮</a:t>
            </a:r>
            <a:endParaRPr/>
          </a:p>
        </p:txBody>
      </p:sp>
      <p:sp>
        <p:nvSpPr>
          <p:cNvPr id="371" name=""/>
          <p:cNvSpPr/>
          <p:nvPr/>
        </p:nvSpPr>
        <p:spPr>
          <a:xfrm rot="0" flipH="0" flipV="0">
            <a:off x="7296150" y="2590800"/>
            <a:ext cx="4391025" cy="514350"/>
          </a:xfrm>
          <a:prstGeom prst="roundRect">
            <a:avLst>
              <a:gd name="adj" fmla="val 7407"/>
            </a:avLst>
          </a:prstGeom>
          <a:solidFill>
            <a:srgbClr val="0F172A"/>
          </a:solidFill>
          <a:ln/>
        </p:spPr>
        <p:txBody>
          <a:bodyPr/>
          <a:p/>
        </p:txBody>
      </p:sp>
      <p:sp>
        <p:nvSpPr>
          <p:cNvPr id="372" name=""/>
          <p:cNvSpPr/>
          <p:nvPr/>
        </p:nvSpPr>
        <p:spPr>
          <a:xfrm rot="0" flipH="0" flipV="0">
            <a:off x="7296150" y="2590800"/>
            <a:ext cx="4391025" cy="514350"/>
          </a:xfrm>
          <a:custGeom>
            <a:pathLst>
              <a:path w="461" h="54">
                <a:moveTo>
                  <a:pt x="4" y="0"/>
                </a:moveTo>
                <a:cubicBezTo>
                  <a:pt x="3" y="0"/>
                  <a:pt x="3" y="0"/>
                  <a:pt x="3" y="1"/>
                </a:cubicBezTo>
                <a:lnTo>
                  <a:pt x="3" y="53"/>
                </a:lnTo>
                <a:cubicBezTo>
                  <a:pt x="3" y="53"/>
                  <a:pt x="3" y="54"/>
                  <a:pt x="4" y="54"/>
                </a:cubicBezTo>
                <a:cubicBezTo>
                  <a:pt x="2" y="54"/>
                  <a:pt x="0" y="52"/>
                  <a:pt x="0" y="50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close/>
              </a:path>
            </a:pathLst>
          </a:custGeom>
          <a:solidFill>
            <a:srgbClr val="06B6D4"/>
          </a:solidFill>
          <a:ln/>
        </p:spPr>
        <p:txBody>
          <a:bodyPr/>
          <a:p/>
        </p:txBody>
      </p:sp>
      <p:sp>
        <p:nvSpPr>
          <p:cNvPr id="373" name=""/>
          <p:cNvSpPr/>
          <p:nvPr/>
        </p:nvSpPr>
        <p:spPr>
          <a:xfrm rot="0" flipH="0" flipV="0">
            <a:off x="7429500" y="2714625"/>
            <a:ext cx="114300" cy="114300"/>
          </a:xfrm>
          <a:custGeom>
            <a:pathLst>
              <a:path w="12" h="12">
                <a:moveTo>
                  <a:pt x="6" y="0"/>
                </a:moveTo>
                <a:lnTo>
                  <a:pt x="6" y="0"/>
                </a:lnTo>
                <a:cubicBezTo>
                  <a:pt x="9" y="0"/>
                  <a:pt x="12" y="3"/>
                  <a:pt x="12" y="6"/>
                </a:cubicBezTo>
                <a:lnTo>
                  <a:pt x="12" y="6"/>
                </a:lnTo>
                <a:cubicBezTo>
                  <a:pt x="12" y="9"/>
                  <a:pt x="9" y="12"/>
                  <a:pt x="6" y="12"/>
                </a:cubicBezTo>
                <a:lnTo>
                  <a:pt x="6" y="12"/>
                </a:lnTo>
                <a:cubicBezTo>
                  <a:pt x="3" y="12"/>
                  <a:pt x="0" y="9"/>
                  <a:pt x="0" y="6"/>
                </a:cubicBezTo>
                <a:lnTo>
                  <a:pt x="0" y="6"/>
                </a:lnTo>
                <a:cubicBezTo>
                  <a:pt x="0" y="3"/>
                  <a:pt x="3" y="0"/>
                  <a:pt x="6" y="0"/>
                </a:cubicBezTo>
                <a:close/>
              </a:path>
            </a:pathLst>
          </a:custGeom>
          <a:solidFill>
            <a:srgbClr val="06B6D4"/>
          </a:solidFill>
          <a:ln/>
        </p:spPr>
        <p:txBody>
          <a:bodyPr/>
          <a:p/>
        </p:txBody>
      </p:sp>
      <p:sp>
        <p:nvSpPr>
          <p:cNvPr id="374" name="" descr="{&quot;isTemplate&quot;:true,&quot;type&quot;:&quot;text&quot;}"/>
          <p:cNvSpPr txBox="1"/>
          <p:nvPr/>
        </p:nvSpPr>
        <p:spPr>
          <a:xfrm rot="0" flipH="0" flipV="0">
            <a:off x="7620000" y="2686050"/>
            <a:ext cx="533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E2E8F0"/>
                </a:solidFill>
                <a:latin typeface="Microsoft YaHei"/>
                <a:ea typeface="Microsoft YaHei"/>
              </a:rPr>
              <a:t>技师轨迹</a:t>
            </a:r>
            <a:endParaRPr/>
          </a:p>
        </p:txBody>
      </p:sp>
      <p:sp>
        <p:nvSpPr>
          <p:cNvPr id="375" name="" descr="{&quot;isTemplate&quot;:true,&quot;type&quot;:&quot;text&quot;}"/>
          <p:cNvSpPr txBox="1"/>
          <p:nvPr/>
        </p:nvSpPr>
        <p:spPr>
          <a:xfrm rot="0" flipH="0" flipV="0">
            <a:off x="8229600" y="2705100"/>
            <a:ext cx="5143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>
                <a:solidFill>
                  <a:srgbClr val="64748B"/>
                </a:solidFill>
                <a:latin typeface="Microsoft YaHei"/>
                <a:ea typeface="Microsoft YaHei"/>
              </a:rPr>
              <a:t>Tech Track</a:t>
            </a:r>
            <a:endParaRPr/>
          </a:p>
        </p:txBody>
      </p:sp>
      <p:sp>
        <p:nvSpPr>
          <p:cNvPr id="376" name="" descr="{&quot;isTemplate&quot;:true,&quot;type&quot;:&quot;text&quot;}"/>
          <p:cNvSpPr txBox="1"/>
          <p:nvPr/>
        </p:nvSpPr>
        <p:spPr>
          <a:xfrm rot="0" flipH="0" flipV="0">
            <a:off x="7429500" y="2867025"/>
            <a:ext cx="40957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94A3B8"/>
                </a:solidFill>
                <a:latin typeface="Microsoft YaHei"/>
                <a:ea typeface="Microsoft YaHei"/>
              </a:rPr>
              <a:t>青色虚线</a:t>
            </a:r>
            <a:r>
              <a:rPr lang="en-US" sz="900">
                <a:solidFill>
                  <a:srgbClr val="94A3B8"/>
                </a:solidFill>
                <a:latin typeface="Microsoft YaHei"/>
                <a:ea typeface="Microsoft YaHei"/>
              </a:rPr>
              <a:t> · </a:t>
            </a:r>
            <a:r>
              <a:rPr lang="zh-CN" sz="900">
                <a:solidFill>
                  <a:srgbClr val="94A3B8"/>
                </a:solidFill>
                <a:latin typeface="Microsoft YaHei"/>
                <a:ea typeface="Microsoft YaHei"/>
              </a:rPr>
              <a:t>在岗技师轨迹</a:t>
            </a:r>
            <a:endParaRPr/>
          </a:p>
        </p:txBody>
      </p:sp>
      <p:sp>
        <p:nvSpPr>
          <p:cNvPr id="377" name=""/>
          <p:cNvSpPr/>
          <p:nvPr/>
        </p:nvSpPr>
        <p:spPr>
          <a:xfrm rot="0" flipH="0" flipV="0">
            <a:off x="7296150" y="3200400"/>
            <a:ext cx="4391025" cy="514350"/>
          </a:xfrm>
          <a:prstGeom prst="roundRect">
            <a:avLst>
              <a:gd name="adj" fmla="val 7407"/>
            </a:avLst>
          </a:prstGeom>
          <a:solidFill>
            <a:srgbClr val="0F172A"/>
          </a:solidFill>
          <a:ln/>
        </p:spPr>
        <p:txBody>
          <a:bodyPr/>
          <a:p/>
        </p:txBody>
      </p:sp>
      <p:sp>
        <p:nvSpPr>
          <p:cNvPr id="378" name=""/>
          <p:cNvSpPr/>
          <p:nvPr/>
        </p:nvSpPr>
        <p:spPr>
          <a:xfrm rot="0" flipH="0" flipV="0">
            <a:off x="7296150" y="3200400"/>
            <a:ext cx="4391025" cy="514350"/>
          </a:xfrm>
          <a:custGeom>
            <a:pathLst>
              <a:path w="461" h="54">
                <a:moveTo>
                  <a:pt x="4" y="0"/>
                </a:moveTo>
                <a:cubicBezTo>
                  <a:pt x="3" y="0"/>
                  <a:pt x="3" y="0"/>
                  <a:pt x="3" y="1"/>
                </a:cubicBezTo>
                <a:lnTo>
                  <a:pt x="3" y="53"/>
                </a:lnTo>
                <a:cubicBezTo>
                  <a:pt x="3" y="53"/>
                  <a:pt x="3" y="54"/>
                  <a:pt x="4" y="54"/>
                </a:cubicBezTo>
                <a:cubicBezTo>
                  <a:pt x="2" y="54"/>
                  <a:pt x="0" y="52"/>
                  <a:pt x="0" y="50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close/>
              </a:path>
            </a:pathLst>
          </a:custGeom>
          <a:solidFill>
            <a:srgbClr val="F59E0B"/>
          </a:solidFill>
          <a:ln/>
        </p:spPr>
        <p:txBody>
          <a:bodyPr/>
          <a:p/>
        </p:txBody>
      </p:sp>
      <p:sp>
        <p:nvSpPr>
          <p:cNvPr id="379" name=""/>
          <p:cNvSpPr/>
          <p:nvPr/>
        </p:nvSpPr>
        <p:spPr>
          <a:xfrm rot="0" flipH="0" flipV="0">
            <a:off x="7429500" y="3324225"/>
            <a:ext cx="114300" cy="114300"/>
          </a:xfrm>
          <a:custGeom>
            <a:pathLst>
              <a:path w="12" h="12">
                <a:moveTo>
                  <a:pt x="6" y="0"/>
                </a:moveTo>
                <a:lnTo>
                  <a:pt x="6" y="0"/>
                </a:lnTo>
                <a:cubicBezTo>
                  <a:pt x="9" y="0"/>
                  <a:pt x="12" y="3"/>
                  <a:pt x="12" y="6"/>
                </a:cubicBezTo>
                <a:lnTo>
                  <a:pt x="12" y="6"/>
                </a:lnTo>
                <a:cubicBezTo>
                  <a:pt x="12" y="9"/>
                  <a:pt x="9" y="12"/>
                  <a:pt x="6" y="12"/>
                </a:cubicBezTo>
                <a:lnTo>
                  <a:pt x="6" y="12"/>
                </a:lnTo>
                <a:cubicBezTo>
                  <a:pt x="3" y="12"/>
                  <a:pt x="0" y="9"/>
                  <a:pt x="0" y="6"/>
                </a:cubicBezTo>
                <a:lnTo>
                  <a:pt x="0" y="6"/>
                </a:lnTo>
                <a:cubicBezTo>
                  <a:pt x="0" y="3"/>
                  <a:pt x="3" y="0"/>
                  <a:pt x="6" y="0"/>
                </a:cubicBezTo>
                <a:close/>
              </a:path>
            </a:pathLst>
          </a:custGeom>
          <a:solidFill>
            <a:srgbClr val="F59E0B"/>
          </a:solidFill>
          <a:ln/>
        </p:spPr>
        <p:txBody>
          <a:bodyPr/>
          <a:p/>
        </p:txBody>
      </p:sp>
      <p:sp>
        <p:nvSpPr>
          <p:cNvPr id="380" name="" descr="{&quot;isTemplate&quot;:true,&quot;type&quot;:&quot;text&quot;}"/>
          <p:cNvSpPr txBox="1"/>
          <p:nvPr/>
        </p:nvSpPr>
        <p:spPr>
          <a:xfrm rot="0" flipH="0" flipV="0">
            <a:off x="7620000" y="3295650"/>
            <a:ext cx="533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E2E8F0"/>
                </a:solidFill>
                <a:latin typeface="Microsoft YaHei"/>
                <a:ea typeface="Microsoft YaHei"/>
              </a:rPr>
              <a:t>引导虚线</a:t>
            </a:r>
            <a:endParaRPr/>
          </a:p>
        </p:txBody>
      </p:sp>
      <p:sp>
        <p:nvSpPr>
          <p:cNvPr id="381" name="" descr="{&quot;isTemplate&quot;:true,&quot;type&quot;:&quot;text&quot;}"/>
          <p:cNvSpPr txBox="1"/>
          <p:nvPr/>
        </p:nvSpPr>
        <p:spPr>
          <a:xfrm rot="0" flipH="0" flipV="0">
            <a:off x="8229600" y="3314700"/>
            <a:ext cx="54292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>
                <a:solidFill>
                  <a:srgbClr val="64748B"/>
                </a:solidFill>
                <a:latin typeface="Microsoft YaHei"/>
                <a:ea typeface="Microsoft YaHei"/>
              </a:rPr>
              <a:t>Guide Line</a:t>
            </a:r>
            <a:endParaRPr/>
          </a:p>
        </p:txBody>
      </p:sp>
      <p:sp>
        <p:nvSpPr>
          <p:cNvPr id="382" name="" descr="{&quot;isTemplate&quot;:true,&quot;type&quot;:&quot;text&quot;}"/>
          <p:cNvSpPr txBox="1"/>
          <p:nvPr/>
        </p:nvSpPr>
        <p:spPr>
          <a:xfrm rot="0" flipH="0" flipV="0">
            <a:off x="7429500" y="3476625"/>
            <a:ext cx="40957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94A3B8"/>
                </a:solidFill>
                <a:latin typeface="Microsoft YaHei"/>
                <a:ea typeface="Microsoft YaHei"/>
              </a:rPr>
              <a:t>琥珀</a:t>
            </a:r>
            <a:r>
              <a:rPr lang="en-US" sz="900">
                <a:solidFill>
                  <a:srgbClr val="94A3B8"/>
                </a:solidFill>
                <a:latin typeface="Microsoft YaHei"/>
                <a:ea typeface="Microsoft YaHei"/>
              </a:rPr>
              <a:t> · </a:t>
            </a:r>
            <a:r>
              <a:rPr lang="zh-CN" sz="900">
                <a:solidFill>
                  <a:srgbClr val="94A3B8"/>
                </a:solidFill>
                <a:latin typeface="Microsoft YaHei"/>
                <a:ea typeface="Microsoft YaHei"/>
              </a:rPr>
              <a:t>视线引导</a:t>
            </a:r>
            <a:endParaRPr/>
          </a:p>
        </p:txBody>
      </p:sp>
      <p:sp>
        <p:nvSpPr>
          <p:cNvPr id="383" name=""/>
          <p:cNvSpPr/>
          <p:nvPr/>
        </p:nvSpPr>
        <p:spPr>
          <a:xfrm rot="0" flipH="0" flipV="0">
            <a:off x="7296150" y="3810000"/>
            <a:ext cx="4391025" cy="514350"/>
          </a:xfrm>
          <a:prstGeom prst="roundRect">
            <a:avLst>
              <a:gd name="adj" fmla="val 7407"/>
            </a:avLst>
          </a:prstGeom>
          <a:solidFill>
            <a:srgbClr val="0F172A"/>
          </a:solidFill>
          <a:ln/>
        </p:spPr>
        <p:txBody>
          <a:bodyPr/>
          <a:p/>
        </p:txBody>
      </p:sp>
      <p:sp>
        <p:nvSpPr>
          <p:cNvPr id="384" name=""/>
          <p:cNvSpPr/>
          <p:nvPr/>
        </p:nvSpPr>
        <p:spPr>
          <a:xfrm rot="0" flipH="0" flipV="0">
            <a:off x="7296150" y="3810000"/>
            <a:ext cx="4391025" cy="514350"/>
          </a:xfrm>
          <a:custGeom>
            <a:pathLst>
              <a:path w="461" h="54">
                <a:moveTo>
                  <a:pt x="4" y="0"/>
                </a:moveTo>
                <a:cubicBezTo>
                  <a:pt x="3" y="0"/>
                  <a:pt x="3" y="0"/>
                  <a:pt x="3" y="1"/>
                </a:cubicBezTo>
                <a:lnTo>
                  <a:pt x="3" y="53"/>
                </a:lnTo>
                <a:cubicBezTo>
                  <a:pt x="3" y="53"/>
                  <a:pt x="3" y="54"/>
                  <a:pt x="4" y="54"/>
                </a:cubicBezTo>
                <a:cubicBezTo>
                  <a:pt x="2" y="54"/>
                  <a:pt x="0" y="52"/>
                  <a:pt x="0" y="50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close/>
              </a:path>
            </a:pathLst>
          </a:custGeom>
          <a:solidFill>
            <a:srgbClr val="10B981"/>
          </a:solidFill>
          <a:ln/>
        </p:spPr>
        <p:txBody>
          <a:bodyPr/>
          <a:p/>
        </p:txBody>
      </p:sp>
      <p:sp>
        <p:nvSpPr>
          <p:cNvPr id="385" name=""/>
          <p:cNvSpPr/>
          <p:nvPr/>
        </p:nvSpPr>
        <p:spPr>
          <a:xfrm rot="0" flipH="0" flipV="0">
            <a:off x="7429500" y="3933825"/>
            <a:ext cx="114300" cy="114300"/>
          </a:xfrm>
          <a:custGeom>
            <a:pathLst>
              <a:path w="12" h="12">
                <a:moveTo>
                  <a:pt x="6" y="0"/>
                </a:moveTo>
                <a:lnTo>
                  <a:pt x="6" y="0"/>
                </a:lnTo>
                <a:cubicBezTo>
                  <a:pt x="9" y="0"/>
                  <a:pt x="12" y="3"/>
                  <a:pt x="12" y="6"/>
                </a:cubicBezTo>
                <a:lnTo>
                  <a:pt x="12" y="6"/>
                </a:lnTo>
                <a:cubicBezTo>
                  <a:pt x="12" y="9"/>
                  <a:pt x="9" y="12"/>
                  <a:pt x="6" y="12"/>
                </a:cubicBezTo>
                <a:lnTo>
                  <a:pt x="6" y="12"/>
                </a:lnTo>
                <a:cubicBezTo>
                  <a:pt x="3" y="12"/>
                  <a:pt x="0" y="9"/>
                  <a:pt x="0" y="6"/>
                </a:cubicBezTo>
                <a:lnTo>
                  <a:pt x="0" y="6"/>
                </a:lnTo>
                <a:cubicBezTo>
                  <a:pt x="0" y="3"/>
                  <a:pt x="3" y="0"/>
                  <a:pt x="6" y="0"/>
                </a:cubicBezTo>
                <a:close/>
              </a:path>
            </a:pathLst>
          </a:custGeom>
          <a:solidFill>
            <a:srgbClr val="10B981"/>
          </a:solidFill>
          <a:ln/>
        </p:spPr>
        <p:txBody>
          <a:bodyPr/>
          <a:p/>
        </p:txBody>
      </p:sp>
      <p:sp>
        <p:nvSpPr>
          <p:cNvPr id="386" name="" descr="{&quot;isTemplate&quot;:true,&quot;type&quot;:&quot;text&quot;}"/>
          <p:cNvSpPr txBox="1"/>
          <p:nvPr/>
        </p:nvSpPr>
        <p:spPr>
          <a:xfrm rot="0" flipH="0" flipV="0">
            <a:off x="7620000" y="3905250"/>
            <a:ext cx="533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E2E8F0"/>
                </a:solidFill>
                <a:latin typeface="Microsoft YaHei"/>
                <a:ea typeface="Microsoft YaHei"/>
              </a:rPr>
              <a:t>介质粒子</a:t>
            </a:r>
            <a:endParaRPr/>
          </a:p>
        </p:txBody>
      </p:sp>
      <p:sp>
        <p:nvSpPr>
          <p:cNvPr id="387" name="" descr="{&quot;isTemplate&quot;:true,&quot;type&quot;:&quot;text&quot;}"/>
          <p:cNvSpPr txBox="1"/>
          <p:nvPr/>
        </p:nvSpPr>
        <p:spPr>
          <a:xfrm rot="0" flipH="0" flipV="0">
            <a:off x="8229600" y="3924300"/>
            <a:ext cx="8763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>
                <a:solidFill>
                  <a:srgbClr val="64748B"/>
                </a:solidFill>
                <a:latin typeface="Microsoft YaHei"/>
                <a:ea typeface="Microsoft YaHei"/>
              </a:rPr>
              <a:t>Medium Particles</a:t>
            </a:r>
            <a:endParaRPr/>
          </a:p>
        </p:txBody>
      </p:sp>
      <p:sp>
        <p:nvSpPr>
          <p:cNvPr id="388" name="" descr="{&quot;isTemplate&quot;:true,&quot;type&quot;:&quot;text&quot;}"/>
          <p:cNvSpPr txBox="1"/>
          <p:nvPr/>
        </p:nvSpPr>
        <p:spPr>
          <a:xfrm rot="0" flipH="0" flipV="0">
            <a:off x="7429500" y="4086225"/>
            <a:ext cx="40957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94A3B8"/>
                </a:solidFill>
                <a:latin typeface="Microsoft YaHei"/>
                <a:ea typeface="Microsoft YaHei"/>
              </a:rPr>
              <a:t>绿色粒子</a:t>
            </a:r>
            <a:r>
              <a:rPr lang="en-US" sz="900">
                <a:solidFill>
                  <a:srgbClr val="94A3B8"/>
                </a:solidFill>
                <a:latin typeface="Microsoft YaHei"/>
                <a:ea typeface="Microsoft YaHei"/>
              </a:rPr>
              <a:t> · </a:t>
            </a:r>
            <a:r>
              <a:rPr lang="zh-CN" sz="900">
                <a:solidFill>
                  <a:srgbClr val="94A3B8"/>
                </a:solidFill>
                <a:latin typeface="Microsoft YaHei"/>
                <a:ea typeface="Microsoft YaHei"/>
              </a:rPr>
              <a:t>流体可视化</a:t>
            </a:r>
            <a:endParaRPr/>
          </a:p>
        </p:txBody>
      </p:sp>
      <p:sp>
        <p:nvSpPr>
          <p:cNvPr id="389" name=""/>
          <p:cNvSpPr/>
          <p:nvPr/>
        </p:nvSpPr>
        <p:spPr>
          <a:xfrm rot="0" flipH="0" flipV="0">
            <a:off x="7296150" y="4419600"/>
            <a:ext cx="4391025" cy="514350"/>
          </a:xfrm>
          <a:prstGeom prst="roundRect">
            <a:avLst>
              <a:gd name="adj" fmla="val 7407"/>
            </a:avLst>
          </a:prstGeom>
          <a:solidFill>
            <a:srgbClr val="0F172A"/>
          </a:solidFill>
          <a:ln/>
        </p:spPr>
        <p:txBody>
          <a:bodyPr/>
          <a:p/>
        </p:txBody>
      </p:sp>
      <p:sp>
        <p:nvSpPr>
          <p:cNvPr id="390" name=""/>
          <p:cNvSpPr/>
          <p:nvPr/>
        </p:nvSpPr>
        <p:spPr>
          <a:xfrm rot="0" flipH="0" flipV="0">
            <a:off x="7296150" y="4419600"/>
            <a:ext cx="4391025" cy="514350"/>
          </a:xfrm>
          <a:custGeom>
            <a:pathLst>
              <a:path w="461" h="54">
                <a:moveTo>
                  <a:pt x="4" y="0"/>
                </a:moveTo>
                <a:cubicBezTo>
                  <a:pt x="3" y="0"/>
                  <a:pt x="3" y="0"/>
                  <a:pt x="3" y="1"/>
                </a:cubicBezTo>
                <a:lnTo>
                  <a:pt x="3" y="53"/>
                </a:lnTo>
                <a:cubicBezTo>
                  <a:pt x="3" y="53"/>
                  <a:pt x="3" y="54"/>
                  <a:pt x="4" y="54"/>
                </a:cubicBezTo>
                <a:cubicBezTo>
                  <a:pt x="2" y="54"/>
                  <a:pt x="0" y="52"/>
                  <a:pt x="0" y="50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close/>
              </a:path>
            </a:pathLst>
          </a:custGeom>
          <a:solidFill>
            <a:srgbClr val="8B5CF6"/>
          </a:solidFill>
          <a:ln/>
        </p:spPr>
        <p:txBody>
          <a:bodyPr/>
          <a:p/>
        </p:txBody>
      </p:sp>
      <p:sp>
        <p:nvSpPr>
          <p:cNvPr id="391" name=""/>
          <p:cNvSpPr/>
          <p:nvPr/>
        </p:nvSpPr>
        <p:spPr>
          <a:xfrm rot="0" flipH="0" flipV="0">
            <a:off x="7429500" y="4543425"/>
            <a:ext cx="114300" cy="114300"/>
          </a:xfrm>
          <a:custGeom>
            <a:pathLst>
              <a:path w="12" h="12">
                <a:moveTo>
                  <a:pt x="6" y="0"/>
                </a:moveTo>
                <a:lnTo>
                  <a:pt x="6" y="0"/>
                </a:lnTo>
                <a:cubicBezTo>
                  <a:pt x="9" y="0"/>
                  <a:pt x="12" y="3"/>
                  <a:pt x="12" y="6"/>
                </a:cubicBezTo>
                <a:lnTo>
                  <a:pt x="12" y="6"/>
                </a:lnTo>
                <a:cubicBezTo>
                  <a:pt x="12" y="9"/>
                  <a:pt x="9" y="12"/>
                  <a:pt x="6" y="12"/>
                </a:cubicBezTo>
                <a:lnTo>
                  <a:pt x="6" y="12"/>
                </a:lnTo>
                <a:cubicBezTo>
                  <a:pt x="3" y="12"/>
                  <a:pt x="0" y="9"/>
                  <a:pt x="0" y="6"/>
                </a:cubicBezTo>
                <a:lnTo>
                  <a:pt x="0" y="6"/>
                </a:lnTo>
                <a:cubicBezTo>
                  <a:pt x="0" y="3"/>
                  <a:pt x="3" y="0"/>
                  <a:pt x="6" y="0"/>
                </a:cubicBezTo>
                <a:close/>
              </a:path>
            </a:pathLst>
          </a:custGeom>
          <a:solidFill>
            <a:srgbClr val="8B5CF6"/>
          </a:solidFill>
          <a:ln/>
        </p:spPr>
        <p:txBody>
          <a:bodyPr/>
          <a:p/>
        </p:txBody>
      </p:sp>
      <p:sp>
        <p:nvSpPr>
          <p:cNvPr id="392" name="" descr="{&quot;isTemplate&quot;:true,&quot;type&quot;:&quot;text&quot;}"/>
          <p:cNvSpPr txBox="1"/>
          <p:nvPr/>
        </p:nvSpPr>
        <p:spPr>
          <a:xfrm rot="0" flipH="0" flipV="0">
            <a:off x="7620000" y="4514850"/>
            <a:ext cx="533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E2E8F0"/>
                </a:solidFill>
                <a:latin typeface="Microsoft YaHei"/>
                <a:ea typeface="Microsoft YaHei"/>
              </a:rPr>
              <a:t>安全边界</a:t>
            </a:r>
            <a:endParaRPr/>
          </a:p>
        </p:txBody>
      </p:sp>
      <p:sp>
        <p:nvSpPr>
          <p:cNvPr id="393" name="" descr="{&quot;isTemplate&quot;:true,&quot;type&quot;:&quot;text&quot;}"/>
          <p:cNvSpPr txBox="1"/>
          <p:nvPr/>
        </p:nvSpPr>
        <p:spPr>
          <a:xfrm rot="0" flipH="0" flipV="0">
            <a:off x="8229600" y="4533900"/>
            <a:ext cx="8286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>
                <a:solidFill>
                  <a:srgbClr val="64748B"/>
                </a:solidFill>
                <a:latin typeface="Microsoft YaHei"/>
                <a:ea typeface="Microsoft YaHei"/>
              </a:rPr>
              <a:t>Safety Boundary</a:t>
            </a:r>
            <a:endParaRPr/>
          </a:p>
        </p:txBody>
      </p:sp>
      <p:sp>
        <p:nvSpPr>
          <p:cNvPr id="394" name="" descr="{&quot;isTemplate&quot;:true,&quot;type&quot;:&quot;text&quot;}"/>
          <p:cNvSpPr txBox="1"/>
          <p:nvPr/>
        </p:nvSpPr>
        <p:spPr>
          <a:xfrm rot="0" flipH="0" flipV="0">
            <a:off x="7429500" y="4695825"/>
            <a:ext cx="40957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94A3B8"/>
                </a:solidFill>
                <a:latin typeface="Microsoft YaHei"/>
                <a:ea typeface="Microsoft YaHei"/>
              </a:rPr>
              <a:t>紫色多边形</a:t>
            </a:r>
            <a:r>
              <a:rPr lang="en-US" sz="900">
                <a:solidFill>
                  <a:srgbClr val="94A3B8"/>
                </a:solidFill>
                <a:latin typeface="Microsoft YaHei"/>
                <a:ea typeface="Microsoft YaHei"/>
              </a:rPr>
              <a:t> · </a:t>
            </a:r>
            <a:r>
              <a:rPr lang="zh-CN" sz="900">
                <a:solidFill>
                  <a:srgbClr val="94A3B8"/>
                </a:solidFill>
                <a:latin typeface="Microsoft YaHei"/>
                <a:ea typeface="Microsoft YaHei"/>
              </a:rPr>
              <a:t>危险区</a:t>
            </a:r>
            <a:endParaRPr/>
          </a:p>
        </p:txBody>
      </p:sp>
      <p:sp>
        <p:nvSpPr>
          <p:cNvPr id="395" name="" descr="{&quot;isTemplate&quot;:true,&quot;type&quot;:&quot;text&quot;}"/>
          <p:cNvSpPr txBox="1"/>
          <p:nvPr/>
        </p:nvSpPr>
        <p:spPr>
          <a:xfrm rot="0" flipH="0" flipV="0">
            <a:off x="11268075" y="6524625"/>
            <a:ext cx="3905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475569"/>
                </a:solidFill>
                <a:latin typeface="Microsoft YaHei"/>
                <a:ea typeface="Microsoft YaHei"/>
              </a:rPr>
              <a:t>08 / 12</a:t>
            </a:r>
            <a:endParaRPr/>
          </a:p>
        </p:txBody>
      </p:sp>
    </p:spTree>
  </p:cSld>
</p:sld>
</file>

<file path=ppt/slides/slide9.xml><?xml version="1.0" encoding="utf-8"?>
<p:sld xmlns:p="http://schemas.openxmlformats.org/presentationml/2006/main" xmlns:a="http://schemas.openxmlformats.org/drawingml/2006/main">
  <p:cSld>
    <p:spTree>
      <p:nvGrpSpPr>
        <p:cNvPr id="396" name="" descr="&lt;Slide style={{ width: '1280px', height: '720px', padding: '40px 56px', backgroundColor: '#0b1220' }}&gt;&#10;    &lt;Box style={{ display: 'flex', alignItems: 'center', marginBottom: '24px' }}&gt;&#10;      &lt;Text style={{ fontSize: '14px', color: '#06b6d4', letterSpacing: '3px' }}&gt;AI · 24 CAPABILITIES · 4 LAYERS&lt;/Text&gt;&#10;      &lt;Box style={{ flex: '1', height: '1px', backgroundColor: '#1e293b', marginLeft: '20px' }} /&gt;&#10;    &lt;/Box&gt;&#10;&#10;    &lt;Text style={{&#10;      fontSize: '36px', fontWeight: 'bold', color: '#e2e8f0', marginBottom: '8px',&#10;    }}&gt;&#10;      24 项 AI 能力 · &lt;span style={{ color: '#06b6d4' }}&gt;三层 + 多模态&lt;/span&gt;&#10;    &lt;/Text&gt;&#10;    &lt;Text style={{ fontSize: '16px', color: '#94a3b8', marginBottom: '24px' }}&gt;&#10;      通过 OpenAI SDK 指向 DashScope 兼容端点 · 4 层降级机制（缓存 / 限流 / 备选模型 / 日预算）&#10;    &lt;/Text&gt;&#10;&#10;    &lt;Box style={{ display: 'flex', gap: '12px', height: '440px' }}&gt;&#10;      {[&#10;        {&#10;          layer: '基础层', count: 5, color: '#10b981',&#10;          items: ['故障分类', '严重度评估', '关键词提取', '工单摘要', '设备状态解读'],&#10;          path: '/api/v1/ai/chat',&#10;        },&#10;        {&#10;          layer: '分析层', count: 10, color: '#06b6d4',&#10;          items: ['根因分析', '维修方案推荐', '备件预测', '关联故障发现', '趋势预警', '知识匹配', '风险评估', '效率分析', '成本估算', '方案对比'],&#10;          path: '/api/v1/ai/diagnose / rag-search',&#10;        },&#10;        {&#10;          layer: '决策层', count: 5, color: '#f59e0b',&#10;          items: ['维修决策树', '应急预案生成', '资源调度建议', '停机损失评估', '改进建议'],&#10;          path: '/api/v1/ai/suggest-followups',&#10;        },&#10;        {&#10;          layer: '多模态', count: 4, color: '#8b5cf6',&#10;          items: ['视觉缺陷检测', '语音转文本', '视频分析', 'AI 流水线 (SSE)'],&#10;          path: '/api/v1/ai/vision-defect-detect / pipeline',&#10;        },&#10;      ].map((l, i) =&gt; (&#10;        &lt;Box key={i} style={{&#10;          flex: 1, padding: '18px', backgroundColor: '#0f172a', borderRadius: '8px',&#10;          borderTop: `3px solid ${l.color}`,&#10;          display: 'flex', flexDirection: 'column',&#10;        }}&gt;&#10;          &lt;Box style={{ display: 'flex', alignItems: 'baseline', marginBottom: '12px' }}&gt;&#10;            &lt;Text style={{&#10;              fontSize: '36px', fontWeight: 'bold', color: l.color, lineHeight: '1',&#10;              marginRight: '8px',&#10;            }}&gt;&#10;              {l.count}&#10;            &lt;/Text&gt;&#10;            &lt;Text style={{ fontSize: '13px', color: '#94a3b8' }}&gt;项能力&lt;/Text&gt;&#10;          &lt;/Box&gt;&#10;          &lt;Text style={{ fontSize: '16px', color: '#e2e8f0', fontWeight: 'bold', marginBottom: '4px' }}&gt;&#10;            {l.layer}&#10;          &lt;/Text&gt;&#10;          &lt;Text style={{ fontSize: '10px', color: '#64748b', fontFamily: 'monospace', marginBottom: '12px' }}&gt;&#10;            {l.path}&#10;          &lt;/Text&gt;&#10;          &lt;Box style={{ display: 'flex', flexDirection: 'column', gap: '4px' }}&gt;&#10;            {l.items.map((it, ii) =&gt; (&#10;              &lt;Text key={ii} style={{ fontSize: '12px', color: '#cbd5e1', lineHeight: '1.5' }}&gt;&#10;                · {it}&#10;              &lt;/Text&gt;&#10;            ))}&#10;          &lt;/Box&gt;&#10;        &lt;/Box&gt;&#10;      ))}&#10;    &lt;/Box&gt;&#10;&#10;    &lt;Box style={{ position: 'absolute', bottom: '20px', right: '56px' }}&gt;&#10;      &lt;Text style={{ fontSize: '12px', color: '#475569' }}&gt;09 / 12&lt;/Text&gt;&#10;    &lt;/Box&gt;&#10;  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/>
        </p:spPr>
        <p:txBody>
          <a:bodyPr/>
          <a:p/>
        </p:txBody>
      </p:sp>
      <p:sp>
        <p:nvSpPr>
          <p:cNvPr id="398" name="" descr="{&quot;isTemplate&quot;:true,&quot;type&quot;:&quot;text&quot;}"/>
          <p:cNvSpPr txBox="1"/>
          <p:nvPr/>
        </p:nvSpPr>
        <p:spPr>
          <a:xfrm rot="0" flipH="0" flipV="0">
            <a:off x="533400" y="381000"/>
            <a:ext cx="28956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225">
                <a:solidFill>
                  <a:srgbClr val="06B6D4"/>
                </a:solidFill>
                <a:latin typeface="Microsoft YaHei"/>
                <a:ea typeface="Microsoft YaHei"/>
              </a:rPr>
              <a:t>AI · 24 CAPABILITIES · 4 LAYERS</a:t>
            </a:r>
            <a:endParaRPr/>
          </a:p>
        </p:txBody>
      </p:sp>
      <p:sp>
        <p:nvSpPr>
          <p:cNvPr id="399" name=""/>
          <p:cNvSpPr/>
          <p:nvPr/>
        </p:nvSpPr>
        <p:spPr>
          <a:xfrm rot="0" flipH="0" flipV="0">
            <a:off x="3619500" y="457200"/>
            <a:ext cx="8039100" cy="9525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p/>
        </p:txBody>
      </p:sp>
      <p:sp>
        <p:nvSpPr>
          <p:cNvPr id="400" name="" descr="{&quot;isTemplate&quot;:true,&quot;type&quot;:&quot;text&quot;}"/>
          <p:cNvSpPr txBox="1"/>
          <p:nvPr/>
        </p:nvSpPr>
        <p:spPr>
          <a:xfrm rot="0" flipH="0" flipV="0">
            <a:off x="533400" y="771525"/>
            <a:ext cx="11125200" cy="4191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700" b="1">
                <a:solidFill>
                  <a:srgbClr val="E2E8F0"/>
                </a:solidFill>
                <a:latin typeface="Microsoft YaHei"/>
                <a:ea typeface="Microsoft YaHei"/>
              </a:rPr>
              <a:t>24 </a:t>
            </a:r>
            <a:r>
              <a:rPr lang="zh-CN" sz="2700" b="1">
                <a:solidFill>
                  <a:srgbClr val="E2E8F0"/>
                </a:solidFill>
                <a:latin typeface="Microsoft YaHei"/>
                <a:ea typeface="Microsoft YaHei"/>
              </a:rPr>
              <a:t>项</a:t>
            </a:r>
            <a:r>
              <a:rPr lang="en-US" sz="2700" b="1">
                <a:solidFill>
                  <a:srgbClr val="E2E8F0"/>
                </a:solidFill>
                <a:latin typeface="Microsoft YaHei"/>
                <a:ea typeface="Microsoft YaHei"/>
              </a:rPr>
              <a:t> AI </a:t>
            </a:r>
            <a:r>
              <a:rPr lang="zh-CN" sz="2700" b="1">
                <a:solidFill>
                  <a:srgbClr val="E2E8F0"/>
                </a:solidFill>
                <a:latin typeface="Microsoft YaHei"/>
                <a:ea typeface="Microsoft YaHei"/>
              </a:rPr>
              <a:t>能力</a:t>
            </a:r>
            <a:r>
              <a:rPr lang="en-US" sz="2700" b="1">
                <a:solidFill>
                  <a:srgbClr val="E2E8F0"/>
                </a:solidFill>
                <a:latin typeface="Microsoft YaHei"/>
                <a:ea typeface="Microsoft YaHei"/>
              </a:rPr>
              <a:t> · </a:t>
            </a:r>
            <a:r>
              <a:rPr lang="zh-CN" sz="2700" b="1">
                <a:solidFill>
                  <a:srgbClr val="06B6D4"/>
                </a:solidFill>
                <a:latin typeface="Microsoft YaHei"/>
                <a:ea typeface="Microsoft YaHei"/>
              </a:rPr>
              <a:t>三层</a:t>
            </a:r>
            <a:r>
              <a:rPr lang="en-US" sz="2700" b="1">
                <a:solidFill>
                  <a:srgbClr val="06B6D4"/>
                </a:solidFill>
                <a:latin typeface="Microsoft YaHei"/>
                <a:ea typeface="Microsoft YaHei"/>
              </a:rPr>
              <a:t> + </a:t>
            </a:r>
            <a:r>
              <a:rPr lang="zh-CN" sz="2700" b="1">
                <a:solidFill>
                  <a:srgbClr val="06B6D4"/>
                </a:solidFill>
                <a:latin typeface="Microsoft YaHei"/>
                <a:ea typeface="Microsoft YaHei"/>
              </a:rPr>
              <a:t>多模态</a:t>
            </a:r>
            <a:endParaRPr/>
          </a:p>
        </p:txBody>
      </p:sp>
      <p:sp>
        <p:nvSpPr>
          <p:cNvPr id="401" name="" descr="{&quot;isTemplate&quot;:true,&quot;type&quot;:&quot;text&quot;}"/>
          <p:cNvSpPr txBox="1"/>
          <p:nvPr/>
        </p:nvSpPr>
        <p:spPr>
          <a:xfrm rot="0" flipH="0" flipV="0">
            <a:off x="533400" y="1266825"/>
            <a:ext cx="111252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94A3B8"/>
                </a:solidFill>
                <a:latin typeface="Microsoft YaHei"/>
                <a:ea typeface="Microsoft YaHei"/>
              </a:rPr>
              <a:t>通过</a:t>
            </a:r>
            <a:r>
              <a:rPr lang="en-US" sz="1200">
                <a:solidFill>
                  <a:srgbClr val="94A3B8"/>
                </a:solidFill>
                <a:latin typeface="Microsoft YaHei"/>
                <a:ea typeface="Microsoft YaHei"/>
              </a:rPr>
              <a:t> OpenAI SDK </a:t>
            </a:r>
            <a:r>
              <a:rPr lang="zh-CN" sz="1200">
                <a:solidFill>
                  <a:srgbClr val="94A3B8"/>
                </a:solidFill>
                <a:latin typeface="Microsoft YaHei"/>
                <a:ea typeface="Microsoft YaHei"/>
              </a:rPr>
              <a:t>指向</a:t>
            </a:r>
            <a:r>
              <a:rPr lang="en-US" sz="1200">
                <a:solidFill>
                  <a:srgbClr val="94A3B8"/>
                </a:solidFill>
                <a:latin typeface="Microsoft YaHei"/>
                <a:ea typeface="Microsoft YaHei"/>
              </a:rPr>
              <a:t> DashScope </a:t>
            </a:r>
            <a:r>
              <a:rPr lang="zh-CN" sz="1200">
                <a:solidFill>
                  <a:srgbClr val="94A3B8"/>
                </a:solidFill>
                <a:latin typeface="Microsoft YaHei"/>
                <a:ea typeface="Microsoft YaHei"/>
              </a:rPr>
              <a:t>兼容端点</a:t>
            </a:r>
            <a:r>
              <a:rPr lang="en-US" sz="1200">
                <a:solidFill>
                  <a:srgbClr val="94A3B8"/>
                </a:solidFill>
                <a:latin typeface="Microsoft YaHei"/>
                <a:ea typeface="Microsoft YaHei"/>
              </a:rPr>
              <a:t> · 4 </a:t>
            </a:r>
            <a:r>
              <a:rPr lang="zh-CN" sz="1200">
                <a:solidFill>
                  <a:srgbClr val="94A3B8"/>
                </a:solidFill>
                <a:latin typeface="Microsoft YaHei"/>
                <a:ea typeface="Microsoft YaHei"/>
              </a:rPr>
              <a:t>层降级机制（缓存</a:t>
            </a:r>
            <a:r>
              <a:rPr lang="en-US" sz="1200">
                <a:solidFill>
                  <a:srgbClr val="94A3B8"/>
                </a:solidFill>
                <a:latin typeface="Microsoft YaHei"/>
                <a:ea typeface="Microsoft YaHei"/>
              </a:rPr>
              <a:t> / </a:t>
            </a:r>
            <a:r>
              <a:rPr lang="zh-CN" sz="1200">
                <a:solidFill>
                  <a:srgbClr val="94A3B8"/>
                </a:solidFill>
                <a:latin typeface="Microsoft YaHei"/>
                <a:ea typeface="Microsoft YaHei"/>
              </a:rPr>
              <a:t>限流</a:t>
            </a:r>
            <a:r>
              <a:rPr lang="en-US" sz="1200">
                <a:solidFill>
                  <a:srgbClr val="94A3B8"/>
                </a:solidFill>
                <a:latin typeface="Microsoft YaHei"/>
                <a:ea typeface="Microsoft YaHei"/>
              </a:rPr>
              <a:t> / </a:t>
            </a:r>
            <a:r>
              <a:rPr lang="zh-CN" sz="1200">
                <a:solidFill>
                  <a:srgbClr val="94A3B8"/>
                </a:solidFill>
                <a:latin typeface="Microsoft YaHei"/>
                <a:ea typeface="Microsoft YaHei"/>
              </a:rPr>
              <a:t>备选模型</a:t>
            </a:r>
            <a:r>
              <a:rPr lang="en-US" sz="1200">
                <a:solidFill>
                  <a:srgbClr val="94A3B8"/>
                </a:solidFill>
                <a:latin typeface="Microsoft YaHei"/>
                <a:ea typeface="Microsoft YaHei"/>
              </a:rPr>
              <a:t> / </a:t>
            </a:r>
            <a:r>
              <a:rPr lang="zh-CN" sz="1200">
                <a:solidFill>
                  <a:srgbClr val="94A3B8"/>
                </a:solidFill>
                <a:latin typeface="Microsoft YaHei"/>
                <a:ea typeface="Microsoft YaHei"/>
              </a:rPr>
              <a:t>日预算）</a:t>
            </a:r>
            <a:endParaRPr/>
          </a:p>
        </p:txBody>
      </p:sp>
      <p:sp>
        <p:nvSpPr>
          <p:cNvPr id="402" name=""/>
          <p:cNvSpPr/>
          <p:nvPr/>
        </p:nvSpPr>
        <p:spPr>
          <a:xfrm rot="0" flipH="0" flipV="0">
            <a:off x="533400" y="1714500"/>
            <a:ext cx="2695575" cy="4191000"/>
          </a:xfrm>
          <a:prstGeom prst="roundRect">
            <a:avLst>
              <a:gd name="adj" fmla="val 2827"/>
            </a:avLst>
          </a:prstGeom>
          <a:solidFill>
            <a:srgbClr val="0F172A"/>
          </a:solidFill>
          <a:ln/>
        </p:spPr>
        <p:txBody>
          <a:bodyPr/>
          <a:p/>
        </p:txBody>
      </p:sp>
      <p:sp>
        <p:nvSpPr>
          <p:cNvPr id="403" name=""/>
          <p:cNvSpPr/>
          <p:nvPr/>
        </p:nvSpPr>
        <p:spPr>
          <a:xfrm rot="0" flipH="0" flipV="0">
            <a:off x="533400" y="1714500"/>
            <a:ext cx="2695575" cy="4191000"/>
          </a:xfrm>
          <a:custGeom>
            <a:pathLst>
              <a:path w="283" h="440">
                <a:moveTo>
                  <a:pt x="275" y="0"/>
                </a:moveTo>
                <a:cubicBezTo>
                  <a:pt x="279" y="0"/>
                  <a:pt x="282" y="3"/>
                  <a:pt x="283" y="7"/>
                </a:cubicBezTo>
                <a:cubicBezTo>
                  <a:pt x="282" y="4"/>
                  <a:pt x="280" y="3"/>
                  <a:pt x="278" y="3"/>
                </a:cubicBezTo>
                <a:lnTo>
                  <a:pt x="5" y="3"/>
                </a:lnTo>
                <a:cubicBezTo>
                  <a:pt x="3" y="3"/>
                  <a:pt x="1" y="5"/>
                  <a:pt x="0" y="7"/>
                </a:cubicBezTo>
                <a:cubicBezTo>
                  <a:pt x="1" y="3"/>
                  <a:pt x="4" y="0"/>
                  <a:pt x="8" y="0"/>
                </a:cubicBezTo>
                <a:lnTo>
                  <a:pt x="275" y="0"/>
                </a:lnTo>
                <a:close/>
              </a:path>
            </a:pathLst>
          </a:custGeom>
          <a:solidFill>
            <a:srgbClr val="10B981"/>
          </a:solidFill>
          <a:ln/>
        </p:spPr>
        <p:txBody>
          <a:bodyPr/>
          <a:p/>
        </p:txBody>
      </p:sp>
      <p:sp>
        <p:nvSpPr>
          <p:cNvPr id="404" name="" descr="{&quot;isTemplate&quot;:true,&quot;type&quot;:&quot;text&quot;}"/>
          <p:cNvSpPr txBox="1"/>
          <p:nvPr/>
        </p:nvSpPr>
        <p:spPr>
          <a:xfrm rot="0" flipH="0" flipV="0">
            <a:off x="704850" y="1885950"/>
            <a:ext cx="219075" cy="4191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700" b="1">
                <a:solidFill>
                  <a:srgbClr val="10B981"/>
                </a:solidFill>
                <a:latin typeface="Microsoft YaHei"/>
                <a:ea typeface="Microsoft YaHei"/>
              </a:rPr>
              <a:t>5</a:t>
            </a:r>
            <a:endParaRPr/>
          </a:p>
        </p:txBody>
      </p:sp>
      <p:sp>
        <p:nvSpPr>
          <p:cNvPr id="405" name="" descr="{&quot;isTemplate&quot;:true,&quot;type&quot;:&quot;text&quot;}"/>
          <p:cNvSpPr txBox="1"/>
          <p:nvPr/>
        </p:nvSpPr>
        <p:spPr>
          <a:xfrm rot="0" flipH="0" flipV="0">
            <a:off x="1000125" y="1885950"/>
            <a:ext cx="371475" cy="4191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94A3B8"/>
                </a:solidFill>
                <a:latin typeface="Microsoft YaHei"/>
                <a:ea typeface="Microsoft YaHei"/>
              </a:rPr>
              <a:t>项能力</a:t>
            </a:r>
            <a:endParaRPr/>
          </a:p>
        </p:txBody>
      </p:sp>
      <p:sp>
        <p:nvSpPr>
          <p:cNvPr id="406" name="" descr="{&quot;isTemplate&quot;:true,&quot;type&quot;:&quot;text&quot;}"/>
          <p:cNvSpPr txBox="1"/>
          <p:nvPr/>
        </p:nvSpPr>
        <p:spPr>
          <a:xfrm rot="0" flipH="0" flipV="0">
            <a:off x="704850" y="2419350"/>
            <a:ext cx="23526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E2E8F0"/>
                </a:solidFill>
                <a:latin typeface="Microsoft YaHei"/>
                <a:ea typeface="Microsoft YaHei"/>
              </a:rPr>
              <a:t>基础层</a:t>
            </a:r>
            <a:endParaRPr/>
          </a:p>
        </p:txBody>
      </p:sp>
      <p:sp>
        <p:nvSpPr>
          <p:cNvPr id="407" name="" descr="{&quot;isTemplate&quot;:true,&quot;type&quot;:&quot;text&quot;}"/>
          <p:cNvSpPr txBox="1"/>
          <p:nvPr/>
        </p:nvSpPr>
        <p:spPr>
          <a:xfrm rot="0" flipH="0" flipV="0">
            <a:off x="704850" y="2647950"/>
            <a:ext cx="2352675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50">
                <a:solidFill>
                  <a:srgbClr val="64748B"/>
                </a:solidFill>
                <a:latin typeface="monospace"/>
                <a:ea typeface="monospace"/>
              </a:rPr>
              <a:t>/api/v1/ai/chat</a:t>
            </a:r>
            <a:endParaRPr/>
          </a:p>
        </p:txBody>
      </p:sp>
      <p:sp>
        <p:nvSpPr>
          <p:cNvPr id="408" name="" descr="{&quot;isTemplate&quot;:true,&quot;type&quot;:&quot;text&quot;}"/>
          <p:cNvSpPr txBox="1"/>
          <p:nvPr/>
        </p:nvSpPr>
        <p:spPr>
          <a:xfrm rot="0" flipH="0" flipV="0">
            <a:off x="704850" y="2876550"/>
            <a:ext cx="2352675" cy="2095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900">
                <a:solidFill>
                  <a:srgbClr val="CBD5E1"/>
                </a:solidFill>
                <a:latin typeface="Microsoft YaHei"/>
                <a:ea typeface="Microsoft YaHei"/>
              </a:rPr>
              <a:t>· </a:t>
            </a:r>
            <a:r>
              <a:rPr lang="zh-CN" sz="900">
                <a:solidFill>
                  <a:srgbClr val="CBD5E1"/>
                </a:solidFill>
                <a:latin typeface="Microsoft YaHei"/>
                <a:ea typeface="Microsoft YaHei"/>
              </a:rPr>
              <a:t>故障分类</a:t>
            </a:r>
            <a:endParaRPr/>
          </a:p>
        </p:txBody>
      </p:sp>
      <p:sp>
        <p:nvSpPr>
          <p:cNvPr id="409" name="" descr="{&quot;isTemplate&quot;:true,&quot;type&quot;:&quot;text&quot;}"/>
          <p:cNvSpPr txBox="1"/>
          <p:nvPr/>
        </p:nvSpPr>
        <p:spPr>
          <a:xfrm rot="0" flipH="0" flipV="0">
            <a:off x="704850" y="3124200"/>
            <a:ext cx="2352675" cy="2095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900">
                <a:solidFill>
                  <a:srgbClr val="CBD5E1"/>
                </a:solidFill>
                <a:latin typeface="Microsoft YaHei"/>
                <a:ea typeface="Microsoft YaHei"/>
              </a:rPr>
              <a:t>· </a:t>
            </a:r>
            <a:r>
              <a:rPr lang="zh-CN" sz="900">
                <a:solidFill>
                  <a:srgbClr val="CBD5E1"/>
                </a:solidFill>
                <a:latin typeface="Microsoft YaHei"/>
                <a:ea typeface="Microsoft YaHei"/>
              </a:rPr>
              <a:t>严重度评估</a:t>
            </a:r>
            <a:endParaRPr/>
          </a:p>
        </p:txBody>
      </p:sp>
      <p:sp>
        <p:nvSpPr>
          <p:cNvPr id="410" name="" descr="{&quot;isTemplate&quot;:true,&quot;type&quot;:&quot;text&quot;}"/>
          <p:cNvSpPr txBox="1"/>
          <p:nvPr/>
        </p:nvSpPr>
        <p:spPr>
          <a:xfrm rot="0" flipH="0" flipV="0">
            <a:off x="704850" y="3371850"/>
            <a:ext cx="2352675" cy="2095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900">
                <a:solidFill>
                  <a:srgbClr val="CBD5E1"/>
                </a:solidFill>
                <a:latin typeface="Microsoft YaHei"/>
                <a:ea typeface="Microsoft YaHei"/>
              </a:rPr>
              <a:t>· </a:t>
            </a:r>
            <a:r>
              <a:rPr lang="zh-CN" sz="900">
                <a:solidFill>
                  <a:srgbClr val="CBD5E1"/>
                </a:solidFill>
                <a:latin typeface="Microsoft YaHei"/>
                <a:ea typeface="Microsoft YaHei"/>
              </a:rPr>
              <a:t>关键词提取</a:t>
            </a:r>
            <a:endParaRPr/>
          </a:p>
        </p:txBody>
      </p:sp>
      <p:sp>
        <p:nvSpPr>
          <p:cNvPr id="411" name="" descr="{&quot;isTemplate&quot;:true,&quot;type&quot;:&quot;text&quot;}"/>
          <p:cNvSpPr txBox="1"/>
          <p:nvPr/>
        </p:nvSpPr>
        <p:spPr>
          <a:xfrm rot="0" flipH="0" flipV="0">
            <a:off x="704850" y="3619500"/>
            <a:ext cx="2352675" cy="2095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900">
                <a:solidFill>
                  <a:srgbClr val="CBD5E1"/>
                </a:solidFill>
                <a:latin typeface="Microsoft YaHei"/>
                <a:ea typeface="Microsoft YaHei"/>
              </a:rPr>
              <a:t>· </a:t>
            </a:r>
            <a:r>
              <a:rPr lang="zh-CN" sz="900">
                <a:solidFill>
                  <a:srgbClr val="CBD5E1"/>
                </a:solidFill>
                <a:latin typeface="Microsoft YaHei"/>
                <a:ea typeface="Microsoft YaHei"/>
              </a:rPr>
              <a:t>工单摘要</a:t>
            </a:r>
            <a:endParaRPr/>
          </a:p>
        </p:txBody>
      </p:sp>
      <p:sp>
        <p:nvSpPr>
          <p:cNvPr id="412" name="" descr="{&quot;isTemplate&quot;:true,&quot;type&quot;:&quot;text&quot;}"/>
          <p:cNvSpPr txBox="1"/>
          <p:nvPr/>
        </p:nvSpPr>
        <p:spPr>
          <a:xfrm rot="0" flipH="0" flipV="0">
            <a:off x="704850" y="3867150"/>
            <a:ext cx="2352675" cy="2095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900">
                <a:solidFill>
                  <a:srgbClr val="CBD5E1"/>
                </a:solidFill>
                <a:latin typeface="Microsoft YaHei"/>
                <a:ea typeface="Microsoft YaHei"/>
              </a:rPr>
              <a:t>· </a:t>
            </a:r>
            <a:r>
              <a:rPr lang="zh-CN" sz="900">
                <a:solidFill>
                  <a:srgbClr val="CBD5E1"/>
                </a:solidFill>
                <a:latin typeface="Microsoft YaHei"/>
                <a:ea typeface="Microsoft YaHei"/>
              </a:rPr>
              <a:t>设备状态解读</a:t>
            </a:r>
            <a:endParaRPr/>
          </a:p>
        </p:txBody>
      </p:sp>
      <p:sp>
        <p:nvSpPr>
          <p:cNvPr id="413" name=""/>
          <p:cNvSpPr/>
          <p:nvPr/>
        </p:nvSpPr>
        <p:spPr>
          <a:xfrm rot="0" flipH="0" flipV="0">
            <a:off x="3343275" y="1714500"/>
            <a:ext cx="2695575" cy="4191000"/>
          </a:xfrm>
          <a:prstGeom prst="roundRect">
            <a:avLst>
              <a:gd name="adj" fmla="val 2827"/>
            </a:avLst>
          </a:prstGeom>
          <a:solidFill>
            <a:srgbClr val="0F172A"/>
          </a:solidFill>
          <a:ln/>
        </p:spPr>
        <p:txBody>
          <a:bodyPr/>
          <a:p/>
        </p:txBody>
      </p:sp>
      <p:sp>
        <p:nvSpPr>
          <p:cNvPr id="414" name=""/>
          <p:cNvSpPr/>
          <p:nvPr/>
        </p:nvSpPr>
        <p:spPr>
          <a:xfrm rot="0" flipH="0" flipV="0">
            <a:off x="3343275" y="1714500"/>
            <a:ext cx="2695575" cy="4191000"/>
          </a:xfrm>
          <a:custGeom>
            <a:pathLst>
              <a:path w="283" h="440">
                <a:moveTo>
                  <a:pt x="275" y="0"/>
                </a:moveTo>
                <a:cubicBezTo>
                  <a:pt x="279" y="0"/>
                  <a:pt x="282" y="3"/>
                  <a:pt x="283" y="7"/>
                </a:cubicBezTo>
                <a:cubicBezTo>
                  <a:pt x="282" y="4"/>
                  <a:pt x="280" y="3"/>
                  <a:pt x="278" y="3"/>
                </a:cubicBezTo>
                <a:lnTo>
                  <a:pt x="5" y="3"/>
                </a:lnTo>
                <a:cubicBezTo>
                  <a:pt x="3" y="3"/>
                  <a:pt x="1" y="5"/>
                  <a:pt x="0" y="7"/>
                </a:cubicBezTo>
                <a:cubicBezTo>
                  <a:pt x="1" y="3"/>
                  <a:pt x="4" y="0"/>
                  <a:pt x="8" y="0"/>
                </a:cubicBezTo>
                <a:lnTo>
                  <a:pt x="275" y="0"/>
                </a:lnTo>
                <a:close/>
              </a:path>
            </a:pathLst>
          </a:custGeom>
          <a:solidFill>
            <a:srgbClr val="06B6D4"/>
          </a:solidFill>
          <a:ln/>
        </p:spPr>
        <p:txBody>
          <a:bodyPr/>
          <a:p/>
        </p:txBody>
      </p:sp>
      <p:sp>
        <p:nvSpPr>
          <p:cNvPr id="415" name="" descr="{&quot;isTemplate&quot;:true,&quot;type&quot;:&quot;text&quot;}"/>
          <p:cNvSpPr txBox="1"/>
          <p:nvPr/>
        </p:nvSpPr>
        <p:spPr>
          <a:xfrm rot="0" flipH="0" flipV="0">
            <a:off x="3514725" y="1885950"/>
            <a:ext cx="428625" cy="4191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700" b="1">
                <a:solidFill>
                  <a:srgbClr val="06B6D4"/>
                </a:solidFill>
                <a:latin typeface="Microsoft YaHei"/>
                <a:ea typeface="Microsoft YaHei"/>
              </a:rPr>
              <a:t>10</a:t>
            </a:r>
            <a:endParaRPr/>
          </a:p>
        </p:txBody>
      </p:sp>
      <p:sp>
        <p:nvSpPr>
          <p:cNvPr id="416" name="" descr="{&quot;isTemplate&quot;:true,&quot;type&quot;:&quot;text&quot;}"/>
          <p:cNvSpPr txBox="1"/>
          <p:nvPr/>
        </p:nvSpPr>
        <p:spPr>
          <a:xfrm rot="0" flipH="0" flipV="0">
            <a:off x="4019550" y="1885950"/>
            <a:ext cx="371475" cy="4191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94A3B8"/>
                </a:solidFill>
                <a:latin typeface="Microsoft YaHei"/>
                <a:ea typeface="Microsoft YaHei"/>
              </a:rPr>
              <a:t>项能力</a:t>
            </a:r>
            <a:endParaRPr/>
          </a:p>
        </p:txBody>
      </p:sp>
      <p:sp>
        <p:nvSpPr>
          <p:cNvPr id="417" name="" descr="{&quot;isTemplate&quot;:true,&quot;type&quot;:&quot;text&quot;}"/>
          <p:cNvSpPr txBox="1"/>
          <p:nvPr/>
        </p:nvSpPr>
        <p:spPr>
          <a:xfrm rot="0" flipH="0" flipV="0">
            <a:off x="3514725" y="2419350"/>
            <a:ext cx="23526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E2E8F0"/>
                </a:solidFill>
                <a:latin typeface="Microsoft YaHei"/>
                <a:ea typeface="Microsoft YaHei"/>
              </a:rPr>
              <a:t>分析层</a:t>
            </a:r>
            <a:endParaRPr/>
          </a:p>
        </p:txBody>
      </p:sp>
      <p:sp>
        <p:nvSpPr>
          <p:cNvPr id="418" name="" descr="{&quot;isTemplate&quot;:true,&quot;type&quot;:&quot;text&quot;}"/>
          <p:cNvSpPr txBox="1"/>
          <p:nvPr/>
        </p:nvSpPr>
        <p:spPr>
          <a:xfrm rot="0" flipH="0" flipV="0">
            <a:off x="3514725" y="2647950"/>
            <a:ext cx="2352675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50">
                <a:solidFill>
                  <a:srgbClr val="64748B"/>
                </a:solidFill>
                <a:latin typeface="monospace"/>
                <a:ea typeface="monospace"/>
              </a:rPr>
              <a:t>/api/v1/ai/diagnose / rag-search</a:t>
            </a:r>
            <a:endParaRPr/>
          </a:p>
        </p:txBody>
      </p:sp>
      <p:sp>
        <p:nvSpPr>
          <p:cNvPr id="419" name="" descr="{&quot;isTemplate&quot;:true,&quot;type&quot;:&quot;text&quot;}"/>
          <p:cNvSpPr txBox="1"/>
          <p:nvPr/>
        </p:nvSpPr>
        <p:spPr>
          <a:xfrm rot="0" flipH="0" flipV="0">
            <a:off x="3514725" y="2876550"/>
            <a:ext cx="2352675" cy="2095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900">
                <a:solidFill>
                  <a:srgbClr val="CBD5E1"/>
                </a:solidFill>
                <a:latin typeface="Microsoft YaHei"/>
                <a:ea typeface="Microsoft YaHei"/>
              </a:rPr>
              <a:t>· </a:t>
            </a:r>
            <a:r>
              <a:rPr lang="zh-CN" sz="900">
                <a:solidFill>
                  <a:srgbClr val="CBD5E1"/>
                </a:solidFill>
                <a:latin typeface="Microsoft YaHei"/>
                <a:ea typeface="Microsoft YaHei"/>
              </a:rPr>
              <a:t>根因分析</a:t>
            </a:r>
            <a:endParaRPr/>
          </a:p>
        </p:txBody>
      </p:sp>
      <p:sp>
        <p:nvSpPr>
          <p:cNvPr id="420" name="" descr="{&quot;isTemplate&quot;:true,&quot;type&quot;:&quot;text&quot;}"/>
          <p:cNvSpPr txBox="1"/>
          <p:nvPr/>
        </p:nvSpPr>
        <p:spPr>
          <a:xfrm rot="0" flipH="0" flipV="0">
            <a:off x="3514725" y="3124200"/>
            <a:ext cx="2352675" cy="2095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900">
                <a:solidFill>
                  <a:srgbClr val="CBD5E1"/>
                </a:solidFill>
                <a:latin typeface="Microsoft YaHei"/>
                <a:ea typeface="Microsoft YaHei"/>
              </a:rPr>
              <a:t>· </a:t>
            </a:r>
            <a:r>
              <a:rPr lang="zh-CN" sz="900">
                <a:solidFill>
                  <a:srgbClr val="CBD5E1"/>
                </a:solidFill>
                <a:latin typeface="Microsoft YaHei"/>
                <a:ea typeface="Microsoft YaHei"/>
              </a:rPr>
              <a:t>维修方案推荐</a:t>
            </a:r>
            <a:endParaRPr/>
          </a:p>
        </p:txBody>
      </p:sp>
      <p:sp>
        <p:nvSpPr>
          <p:cNvPr id="421" name="" descr="{&quot;isTemplate&quot;:true,&quot;type&quot;:&quot;text&quot;}"/>
          <p:cNvSpPr txBox="1"/>
          <p:nvPr/>
        </p:nvSpPr>
        <p:spPr>
          <a:xfrm rot="0" flipH="0" flipV="0">
            <a:off x="3514725" y="3371850"/>
            <a:ext cx="2352675" cy="2095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900">
                <a:solidFill>
                  <a:srgbClr val="CBD5E1"/>
                </a:solidFill>
                <a:latin typeface="Microsoft YaHei"/>
                <a:ea typeface="Microsoft YaHei"/>
              </a:rPr>
              <a:t>· </a:t>
            </a:r>
            <a:r>
              <a:rPr lang="zh-CN" sz="900">
                <a:solidFill>
                  <a:srgbClr val="CBD5E1"/>
                </a:solidFill>
                <a:latin typeface="Microsoft YaHei"/>
                <a:ea typeface="Microsoft YaHei"/>
              </a:rPr>
              <a:t>备件预测</a:t>
            </a:r>
            <a:endParaRPr/>
          </a:p>
        </p:txBody>
      </p:sp>
      <p:sp>
        <p:nvSpPr>
          <p:cNvPr id="422" name="" descr="{&quot;isTemplate&quot;:true,&quot;type&quot;:&quot;text&quot;}"/>
          <p:cNvSpPr txBox="1"/>
          <p:nvPr/>
        </p:nvSpPr>
        <p:spPr>
          <a:xfrm rot="0" flipH="0" flipV="0">
            <a:off x="3514725" y="3619500"/>
            <a:ext cx="2352675" cy="2095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900">
                <a:solidFill>
                  <a:srgbClr val="CBD5E1"/>
                </a:solidFill>
                <a:latin typeface="Microsoft YaHei"/>
                <a:ea typeface="Microsoft YaHei"/>
              </a:rPr>
              <a:t>· </a:t>
            </a:r>
            <a:r>
              <a:rPr lang="zh-CN" sz="900">
                <a:solidFill>
                  <a:srgbClr val="CBD5E1"/>
                </a:solidFill>
                <a:latin typeface="Microsoft YaHei"/>
                <a:ea typeface="Microsoft YaHei"/>
              </a:rPr>
              <a:t>关联故障发现</a:t>
            </a:r>
            <a:endParaRPr/>
          </a:p>
        </p:txBody>
      </p:sp>
      <p:sp>
        <p:nvSpPr>
          <p:cNvPr id="423" name="" descr="{&quot;isTemplate&quot;:true,&quot;type&quot;:&quot;text&quot;}"/>
          <p:cNvSpPr txBox="1"/>
          <p:nvPr/>
        </p:nvSpPr>
        <p:spPr>
          <a:xfrm rot="0" flipH="0" flipV="0">
            <a:off x="3514725" y="3867150"/>
            <a:ext cx="2352675" cy="2095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900">
                <a:solidFill>
                  <a:srgbClr val="CBD5E1"/>
                </a:solidFill>
                <a:latin typeface="Microsoft YaHei"/>
                <a:ea typeface="Microsoft YaHei"/>
              </a:rPr>
              <a:t>· </a:t>
            </a:r>
            <a:r>
              <a:rPr lang="zh-CN" sz="900">
                <a:solidFill>
                  <a:srgbClr val="CBD5E1"/>
                </a:solidFill>
                <a:latin typeface="Microsoft YaHei"/>
                <a:ea typeface="Microsoft YaHei"/>
              </a:rPr>
              <a:t>趋势预警</a:t>
            </a:r>
            <a:endParaRPr/>
          </a:p>
        </p:txBody>
      </p:sp>
      <p:sp>
        <p:nvSpPr>
          <p:cNvPr id="424" name="" descr="{&quot;isTemplate&quot;:true,&quot;type&quot;:&quot;text&quot;}"/>
          <p:cNvSpPr txBox="1"/>
          <p:nvPr/>
        </p:nvSpPr>
        <p:spPr>
          <a:xfrm rot="0" flipH="0" flipV="0">
            <a:off x="3514725" y="4114800"/>
            <a:ext cx="2352675" cy="2095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900">
                <a:solidFill>
                  <a:srgbClr val="CBD5E1"/>
                </a:solidFill>
                <a:latin typeface="Microsoft YaHei"/>
                <a:ea typeface="Microsoft YaHei"/>
              </a:rPr>
              <a:t>· </a:t>
            </a:r>
            <a:r>
              <a:rPr lang="zh-CN" sz="900">
                <a:solidFill>
                  <a:srgbClr val="CBD5E1"/>
                </a:solidFill>
                <a:latin typeface="Microsoft YaHei"/>
                <a:ea typeface="Microsoft YaHei"/>
              </a:rPr>
              <a:t>知识匹配</a:t>
            </a:r>
            <a:endParaRPr/>
          </a:p>
        </p:txBody>
      </p:sp>
      <p:sp>
        <p:nvSpPr>
          <p:cNvPr id="425" name="" descr="{&quot;isTemplate&quot;:true,&quot;type&quot;:&quot;text&quot;}"/>
          <p:cNvSpPr txBox="1"/>
          <p:nvPr/>
        </p:nvSpPr>
        <p:spPr>
          <a:xfrm rot="0" flipH="0" flipV="0">
            <a:off x="3514725" y="4362450"/>
            <a:ext cx="2352675" cy="2095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900">
                <a:solidFill>
                  <a:srgbClr val="CBD5E1"/>
                </a:solidFill>
                <a:latin typeface="Microsoft YaHei"/>
                <a:ea typeface="Microsoft YaHei"/>
              </a:rPr>
              <a:t>· </a:t>
            </a:r>
            <a:r>
              <a:rPr lang="zh-CN" sz="900">
                <a:solidFill>
                  <a:srgbClr val="CBD5E1"/>
                </a:solidFill>
                <a:latin typeface="Microsoft YaHei"/>
                <a:ea typeface="Microsoft YaHei"/>
              </a:rPr>
              <a:t>风险评估</a:t>
            </a:r>
            <a:endParaRPr/>
          </a:p>
        </p:txBody>
      </p:sp>
      <p:sp>
        <p:nvSpPr>
          <p:cNvPr id="426" name="" descr="{&quot;isTemplate&quot;:true,&quot;type&quot;:&quot;text&quot;}"/>
          <p:cNvSpPr txBox="1"/>
          <p:nvPr/>
        </p:nvSpPr>
        <p:spPr>
          <a:xfrm rot="0" flipH="0" flipV="0">
            <a:off x="3514725" y="4610100"/>
            <a:ext cx="2352675" cy="2095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900">
                <a:solidFill>
                  <a:srgbClr val="CBD5E1"/>
                </a:solidFill>
                <a:latin typeface="Microsoft YaHei"/>
                <a:ea typeface="Microsoft YaHei"/>
              </a:rPr>
              <a:t>· </a:t>
            </a:r>
            <a:r>
              <a:rPr lang="zh-CN" sz="900">
                <a:solidFill>
                  <a:srgbClr val="CBD5E1"/>
                </a:solidFill>
                <a:latin typeface="Microsoft YaHei"/>
                <a:ea typeface="Microsoft YaHei"/>
              </a:rPr>
              <a:t>效率分析</a:t>
            </a:r>
            <a:endParaRPr/>
          </a:p>
        </p:txBody>
      </p:sp>
      <p:sp>
        <p:nvSpPr>
          <p:cNvPr id="427" name="" descr="{&quot;isTemplate&quot;:true,&quot;type&quot;:&quot;text&quot;}"/>
          <p:cNvSpPr txBox="1"/>
          <p:nvPr/>
        </p:nvSpPr>
        <p:spPr>
          <a:xfrm rot="0" flipH="0" flipV="0">
            <a:off x="3514725" y="4857750"/>
            <a:ext cx="2352675" cy="2095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900">
                <a:solidFill>
                  <a:srgbClr val="CBD5E1"/>
                </a:solidFill>
                <a:latin typeface="Microsoft YaHei"/>
                <a:ea typeface="Microsoft YaHei"/>
              </a:rPr>
              <a:t>· </a:t>
            </a:r>
            <a:r>
              <a:rPr lang="zh-CN" sz="900">
                <a:solidFill>
                  <a:srgbClr val="CBD5E1"/>
                </a:solidFill>
                <a:latin typeface="Microsoft YaHei"/>
                <a:ea typeface="Microsoft YaHei"/>
              </a:rPr>
              <a:t>成本估算</a:t>
            </a:r>
            <a:endParaRPr/>
          </a:p>
        </p:txBody>
      </p:sp>
      <p:sp>
        <p:nvSpPr>
          <p:cNvPr id="428" name="" descr="{&quot;isTemplate&quot;:true,&quot;type&quot;:&quot;text&quot;}"/>
          <p:cNvSpPr txBox="1"/>
          <p:nvPr/>
        </p:nvSpPr>
        <p:spPr>
          <a:xfrm rot="0" flipH="0" flipV="0">
            <a:off x="3514725" y="5105400"/>
            <a:ext cx="2352675" cy="2095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900">
                <a:solidFill>
                  <a:srgbClr val="CBD5E1"/>
                </a:solidFill>
                <a:latin typeface="Microsoft YaHei"/>
                <a:ea typeface="Microsoft YaHei"/>
              </a:rPr>
              <a:t>· </a:t>
            </a:r>
            <a:r>
              <a:rPr lang="zh-CN" sz="900">
                <a:solidFill>
                  <a:srgbClr val="CBD5E1"/>
                </a:solidFill>
                <a:latin typeface="Microsoft YaHei"/>
                <a:ea typeface="Microsoft YaHei"/>
              </a:rPr>
              <a:t>方案对比</a:t>
            </a:r>
            <a:endParaRPr/>
          </a:p>
        </p:txBody>
      </p:sp>
      <p:sp>
        <p:nvSpPr>
          <p:cNvPr id="429" name=""/>
          <p:cNvSpPr/>
          <p:nvPr/>
        </p:nvSpPr>
        <p:spPr>
          <a:xfrm rot="0" flipH="0" flipV="0">
            <a:off x="6153150" y="1714500"/>
            <a:ext cx="2695575" cy="4191000"/>
          </a:xfrm>
          <a:prstGeom prst="roundRect">
            <a:avLst>
              <a:gd name="adj" fmla="val 2827"/>
            </a:avLst>
          </a:prstGeom>
          <a:solidFill>
            <a:srgbClr val="0F172A"/>
          </a:solidFill>
          <a:ln/>
        </p:spPr>
        <p:txBody>
          <a:bodyPr/>
          <a:p/>
        </p:txBody>
      </p:sp>
      <p:sp>
        <p:nvSpPr>
          <p:cNvPr id="430" name=""/>
          <p:cNvSpPr/>
          <p:nvPr/>
        </p:nvSpPr>
        <p:spPr>
          <a:xfrm rot="0" flipH="0" flipV="0">
            <a:off x="6153150" y="1714500"/>
            <a:ext cx="2695575" cy="4191000"/>
          </a:xfrm>
          <a:custGeom>
            <a:pathLst>
              <a:path w="283" h="440">
                <a:moveTo>
                  <a:pt x="275" y="0"/>
                </a:moveTo>
                <a:cubicBezTo>
                  <a:pt x="279" y="0"/>
                  <a:pt x="282" y="3"/>
                  <a:pt x="283" y="7"/>
                </a:cubicBezTo>
                <a:cubicBezTo>
                  <a:pt x="282" y="4"/>
                  <a:pt x="280" y="3"/>
                  <a:pt x="278" y="3"/>
                </a:cubicBezTo>
                <a:lnTo>
                  <a:pt x="5" y="3"/>
                </a:lnTo>
                <a:cubicBezTo>
                  <a:pt x="3" y="3"/>
                  <a:pt x="1" y="5"/>
                  <a:pt x="0" y="7"/>
                </a:cubicBezTo>
                <a:cubicBezTo>
                  <a:pt x="1" y="3"/>
                  <a:pt x="4" y="0"/>
                  <a:pt x="8" y="0"/>
                </a:cubicBezTo>
                <a:lnTo>
                  <a:pt x="275" y="0"/>
                </a:lnTo>
                <a:close/>
              </a:path>
            </a:pathLst>
          </a:custGeom>
          <a:solidFill>
            <a:srgbClr val="F59E0B"/>
          </a:solidFill>
          <a:ln/>
        </p:spPr>
        <p:txBody>
          <a:bodyPr/>
          <a:p/>
        </p:txBody>
      </p:sp>
      <p:sp>
        <p:nvSpPr>
          <p:cNvPr id="431" name="" descr="{&quot;isTemplate&quot;:true,&quot;type&quot;:&quot;text&quot;}"/>
          <p:cNvSpPr txBox="1"/>
          <p:nvPr/>
        </p:nvSpPr>
        <p:spPr>
          <a:xfrm rot="0" flipH="0" flipV="0">
            <a:off x="6324600" y="1885950"/>
            <a:ext cx="219075" cy="4191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700" b="1">
                <a:solidFill>
                  <a:srgbClr val="F59E0B"/>
                </a:solidFill>
                <a:latin typeface="Microsoft YaHei"/>
                <a:ea typeface="Microsoft YaHei"/>
              </a:rPr>
              <a:t>5</a:t>
            </a:r>
            <a:endParaRPr/>
          </a:p>
        </p:txBody>
      </p:sp>
      <p:sp>
        <p:nvSpPr>
          <p:cNvPr id="432" name="" descr="{&quot;isTemplate&quot;:true,&quot;type&quot;:&quot;text&quot;}"/>
          <p:cNvSpPr txBox="1"/>
          <p:nvPr/>
        </p:nvSpPr>
        <p:spPr>
          <a:xfrm rot="0" flipH="0" flipV="0">
            <a:off x="6619875" y="1885950"/>
            <a:ext cx="371475" cy="4191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94A3B8"/>
                </a:solidFill>
                <a:latin typeface="Microsoft YaHei"/>
                <a:ea typeface="Microsoft YaHei"/>
              </a:rPr>
              <a:t>项能力</a:t>
            </a:r>
            <a:endParaRPr/>
          </a:p>
        </p:txBody>
      </p:sp>
      <p:sp>
        <p:nvSpPr>
          <p:cNvPr id="433" name="" descr="{&quot;isTemplate&quot;:true,&quot;type&quot;:&quot;text&quot;}"/>
          <p:cNvSpPr txBox="1"/>
          <p:nvPr/>
        </p:nvSpPr>
        <p:spPr>
          <a:xfrm rot="0" flipH="0" flipV="0">
            <a:off x="6324600" y="2419350"/>
            <a:ext cx="23526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E2E8F0"/>
                </a:solidFill>
                <a:latin typeface="Microsoft YaHei"/>
                <a:ea typeface="Microsoft YaHei"/>
              </a:rPr>
              <a:t>决策层</a:t>
            </a:r>
            <a:endParaRPr/>
          </a:p>
        </p:txBody>
      </p:sp>
      <p:sp>
        <p:nvSpPr>
          <p:cNvPr id="434" name="" descr="{&quot;isTemplate&quot;:true,&quot;type&quot;:&quot;text&quot;}"/>
          <p:cNvSpPr txBox="1"/>
          <p:nvPr/>
        </p:nvSpPr>
        <p:spPr>
          <a:xfrm rot="0" flipH="0" flipV="0">
            <a:off x="6324600" y="2647950"/>
            <a:ext cx="2352675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50">
                <a:solidFill>
                  <a:srgbClr val="64748B"/>
                </a:solidFill>
                <a:latin typeface="monospace"/>
                <a:ea typeface="monospace"/>
              </a:rPr>
              <a:t>/api/v1/ai/suggest-followups</a:t>
            </a:r>
            <a:endParaRPr/>
          </a:p>
        </p:txBody>
      </p:sp>
      <p:sp>
        <p:nvSpPr>
          <p:cNvPr id="435" name="" descr="{&quot;isTemplate&quot;:true,&quot;type&quot;:&quot;text&quot;}"/>
          <p:cNvSpPr txBox="1"/>
          <p:nvPr/>
        </p:nvSpPr>
        <p:spPr>
          <a:xfrm rot="0" flipH="0" flipV="0">
            <a:off x="6324600" y="2876550"/>
            <a:ext cx="2352675" cy="2095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900">
                <a:solidFill>
                  <a:srgbClr val="CBD5E1"/>
                </a:solidFill>
                <a:latin typeface="Microsoft YaHei"/>
                <a:ea typeface="Microsoft YaHei"/>
              </a:rPr>
              <a:t>· </a:t>
            </a:r>
            <a:r>
              <a:rPr lang="zh-CN" sz="900">
                <a:solidFill>
                  <a:srgbClr val="CBD5E1"/>
                </a:solidFill>
                <a:latin typeface="Microsoft YaHei"/>
                <a:ea typeface="Microsoft YaHei"/>
              </a:rPr>
              <a:t>维修决策树</a:t>
            </a:r>
            <a:endParaRPr/>
          </a:p>
        </p:txBody>
      </p:sp>
      <p:sp>
        <p:nvSpPr>
          <p:cNvPr id="436" name="" descr="{&quot;isTemplate&quot;:true,&quot;type&quot;:&quot;text&quot;}"/>
          <p:cNvSpPr txBox="1"/>
          <p:nvPr/>
        </p:nvSpPr>
        <p:spPr>
          <a:xfrm rot="0" flipH="0" flipV="0">
            <a:off x="6324600" y="3124200"/>
            <a:ext cx="2352675" cy="2095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900">
                <a:solidFill>
                  <a:srgbClr val="CBD5E1"/>
                </a:solidFill>
                <a:latin typeface="Microsoft YaHei"/>
                <a:ea typeface="Microsoft YaHei"/>
              </a:rPr>
              <a:t>· </a:t>
            </a:r>
            <a:r>
              <a:rPr lang="zh-CN" sz="900">
                <a:solidFill>
                  <a:srgbClr val="CBD5E1"/>
                </a:solidFill>
                <a:latin typeface="Microsoft YaHei"/>
                <a:ea typeface="Microsoft YaHei"/>
              </a:rPr>
              <a:t>应急预案生成</a:t>
            </a:r>
            <a:endParaRPr/>
          </a:p>
        </p:txBody>
      </p:sp>
      <p:sp>
        <p:nvSpPr>
          <p:cNvPr id="437" name="" descr="{&quot;isTemplate&quot;:true,&quot;type&quot;:&quot;text&quot;}"/>
          <p:cNvSpPr txBox="1"/>
          <p:nvPr/>
        </p:nvSpPr>
        <p:spPr>
          <a:xfrm rot="0" flipH="0" flipV="0">
            <a:off x="6324600" y="3371850"/>
            <a:ext cx="2352675" cy="2095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900">
                <a:solidFill>
                  <a:srgbClr val="CBD5E1"/>
                </a:solidFill>
                <a:latin typeface="Microsoft YaHei"/>
                <a:ea typeface="Microsoft YaHei"/>
              </a:rPr>
              <a:t>· </a:t>
            </a:r>
            <a:r>
              <a:rPr lang="zh-CN" sz="900">
                <a:solidFill>
                  <a:srgbClr val="CBD5E1"/>
                </a:solidFill>
                <a:latin typeface="Microsoft YaHei"/>
                <a:ea typeface="Microsoft YaHei"/>
              </a:rPr>
              <a:t>资源调度建议</a:t>
            </a:r>
            <a:endParaRPr/>
          </a:p>
        </p:txBody>
      </p:sp>
      <p:sp>
        <p:nvSpPr>
          <p:cNvPr id="438" name="" descr="{&quot;isTemplate&quot;:true,&quot;type&quot;:&quot;text&quot;}"/>
          <p:cNvSpPr txBox="1"/>
          <p:nvPr/>
        </p:nvSpPr>
        <p:spPr>
          <a:xfrm rot="0" flipH="0" flipV="0">
            <a:off x="6324600" y="3619500"/>
            <a:ext cx="2352675" cy="2095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900">
                <a:solidFill>
                  <a:srgbClr val="CBD5E1"/>
                </a:solidFill>
                <a:latin typeface="Microsoft YaHei"/>
                <a:ea typeface="Microsoft YaHei"/>
              </a:rPr>
              <a:t>· </a:t>
            </a:r>
            <a:r>
              <a:rPr lang="zh-CN" sz="900">
                <a:solidFill>
                  <a:srgbClr val="CBD5E1"/>
                </a:solidFill>
                <a:latin typeface="Microsoft YaHei"/>
                <a:ea typeface="Microsoft YaHei"/>
              </a:rPr>
              <a:t>停机损失评估</a:t>
            </a:r>
            <a:endParaRPr/>
          </a:p>
        </p:txBody>
      </p:sp>
      <p:sp>
        <p:nvSpPr>
          <p:cNvPr id="439" name="" descr="{&quot;isTemplate&quot;:true,&quot;type&quot;:&quot;text&quot;}"/>
          <p:cNvSpPr txBox="1"/>
          <p:nvPr/>
        </p:nvSpPr>
        <p:spPr>
          <a:xfrm rot="0" flipH="0" flipV="0">
            <a:off x="6324600" y="3867150"/>
            <a:ext cx="2352675" cy="2095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900">
                <a:solidFill>
                  <a:srgbClr val="CBD5E1"/>
                </a:solidFill>
                <a:latin typeface="Microsoft YaHei"/>
                <a:ea typeface="Microsoft YaHei"/>
              </a:rPr>
              <a:t>· </a:t>
            </a:r>
            <a:r>
              <a:rPr lang="zh-CN" sz="900">
                <a:solidFill>
                  <a:srgbClr val="CBD5E1"/>
                </a:solidFill>
                <a:latin typeface="Microsoft YaHei"/>
                <a:ea typeface="Microsoft YaHei"/>
              </a:rPr>
              <a:t>改进建议</a:t>
            </a:r>
            <a:endParaRPr/>
          </a:p>
        </p:txBody>
      </p:sp>
      <p:sp>
        <p:nvSpPr>
          <p:cNvPr id="440" name=""/>
          <p:cNvSpPr/>
          <p:nvPr/>
        </p:nvSpPr>
        <p:spPr>
          <a:xfrm rot="0" flipH="0" flipV="0">
            <a:off x="8963025" y="1714500"/>
            <a:ext cx="2695575" cy="4191000"/>
          </a:xfrm>
          <a:prstGeom prst="roundRect">
            <a:avLst>
              <a:gd name="adj" fmla="val 2827"/>
            </a:avLst>
          </a:prstGeom>
          <a:solidFill>
            <a:srgbClr val="0F172A"/>
          </a:solidFill>
          <a:ln/>
        </p:spPr>
        <p:txBody>
          <a:bodyPr/>
          <a:p/>
        </p:txBody>
      </p:sp>
      <p:sp>
        <p:nvSpPr>
          <p:cNvPr id="441" name=""/>
          <p:cNvSpPr/>
          <p:nvPr/>
        </p:nvSpPr>
        <p:spPr>
          <a:xfrm rot="0" flipH="0" flipV="0">
            <a:off x="8963025" y="1714500"/>
            <a:ext cx="2695575" cy="4191000"/>
          </a:xfrm>
          <a:custGeom>
            <a:pathLst>
              <a:path w="283" h="440">
                <a:moveTo>
                  <a:pt x="275" y="0"/>
                </a:moveTo>
                <a:cubicBezTo>
                  <a:pt x="279" y="0"/>
                  <a:pt x="282" y="3"/>
                  <a:pt x="283" y="7"/>
                </a:cubicBezTo>
                <a:cubicBezTo>
                  <a:pt x="282" y="4"/>
                  <a:pt x="280" y="3"/>
                  <a:pt x="278" y="3"/>
                </a:cubicBezTo>
                <a:lnTo>
                  <a:pt x="5" y="3"/>
                </a:lnTo>
                <a:cubicBezTo>
                  <a:pt x="3" y="3"/>
                  <a:pt x="1" y="5"/>
                  <a:pt x="0" y="7"/>
                </a:cubicBezTo>
                <a:cubicBezTo>
                  <a:pt x="1" y="3"/>
                  <a:pt x="4" y="0"/>
                  <a:pt x="8" y="0"/>
                </a:cubicBezTo>
                <a:lnTo>
                  <a:pt x="275" y="0"/>
                </a:lnTo>
                <a:close/>
              </a:path>
            </a:pathLst>
          </a:custGeom>
          <a:solidFill>
            <a:srgbClr val="8B5CF6"/>
          </a:solidFill>
          <a:ln/>
        </p:spPr>
        <p:txBody>
          <a:bodyPr/>
          <a:p/>
        </p:txBody>
      </p:sp>
      <p:sp>
        <p:nvSpPr>
          <p:cNvPr id="442" name="" descr="{&quot;isTemplate&quot;:true,&quot;type&quot;:&quot;text&quot;}"/>
          <p:cNvSpPr txBox="1"/>
          <p:nvPr/>
        </p:nvSpPr>
        <p:spPr>
          <a:xfrm rot="0" flipH="0" flipV="0">
            <a:off x="9134475" y="1885950"/>
            <a:ext cx="219075" cy="4191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700" b="1">
                <a:solidFill>
                  <a:srgbClr val="8B5CF6"/>
                </a:solidFill>
                <a:latin typeface="Microsoft YaHei"/>
                <a:ea typeface="Microsoft YaHei"/>
              </a:rPr>
              <a:t>4</a:t>
            </a:r>
            <a:endParaRPr/>
          </a:p>
        </p:txBody>
      </p:sp>
      <p:sp>
        <p:nvSpPr>
          <p:cNvPr id="443" name="" descr="{&quot;isTemplate&quot;:true,&quot;type&quot;:&quot;text&quot;}"/>
          <p:cNvSpPr txBox="1"/>
          <p:nvPr/>
        </p:nvSpPr>
        <p:spPr>
          <a:xfrm rot="0" flipH="0" flipV="0">
            <a:off x="9429750" y="1885950"/>
            <a:ext cx="371475" cy="4191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94A3B8"/>
                </a:solidFill>
                <a:latin typeface="Microsoft YaHei"/>
                <a:ea typeface="Microsoft YaHei"/>
              </a:rPr>
              <a:t>项能力</a:t>
            </a:r>
            <a:endParaRPr/>
          </a:p>
        </p:txBody>
      </p:sp>
      <p:sp>
        <p:nvSpPr>
          <p:cNvPr id="444" name="" descr="{&quot;isTemplate&quot;:true,&quot;type&quot;:&quot;text&quot;}"/>
          <p:cNvSpPr txBox="1"/>
          <p:nvPr/>
        </p:nvSpPr>
        <p:spPr>
          <a:xfrm rot="0" flipH="0" flipV="0">
            <a:off x="9134475" y="2419350"/>
            <a:ext cx="23526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E2E8F0"/>
                </a:solidFill>
                <a:latin typeface="Microsoft YaHei"/>
                <a:ea typeface="Microsoft YaHei"/>
              </a:rPr>
              <a:t>多模态</a:t>
            </a:r>
            <a:endParaRPr/>
          </a:p>
        </p:txBody>
      </p:sp>
      <p:sp>
        <p:nvSpPr>
          <p:cNvPr id="445" name="" descr="{&quot;isTemplate&quot;:true,&quot;type&quot;:&quot;text&quot;}"/>
          <p:cNvSpPr txBox="1"/>
          <p:nvPr/>
        </p:nvSpPr>
        <p:spPr>
          <a:xfrm rot="0" flipH="0" flipV="0">
            <a:off x="9134475" y="2647950"/>
            <a:ext cx="2352675" cy="2286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00000"/>
              </a:lnSpc>
            </a:pPr>
            <a:r>
              <a:rPr lang="en-US" sz="750">
                <a:solidFill>
                  <a:srgbClr val="64748B"/>
                </a:solidFill>
                <a:latin typeface="monospace"/>
                <a:ea typeface="monospace"/>
              </a:rPr>
              <a:t>/api/v1/ai/vision-defect-detect / pipeline</a:t>
            </a:r>
            <a:endParaRPr/>
          </a:p>
        </p:txBody>
      </p:sp>
      <p:sp>
        <p:nvSpPr>
          <p:cNvPr id="446" name="" descr="{&quot;isTemplate&quot;:true,&quot;type&quot;:&quot;text&quot;}"/>
          <p:cNvSpPr txBox="1"/>
          <p:nvPr/>
        </p:nvSpPr>
        <p:spPr>
          <a:xfrm rot="0" flipH="0" flipV="0">
            <a:off x="9134475" y="2990850"/>
            <a:ext cx="2352675" cy="2095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900">
                <a:solidFill>
                  <a:srgbClr val="CBD5E1"/>
                </a:solidFill>
                <a:latin typeface="Microsoft YaHei"/>
                <a:ea typeface="Microsoft YaHei"/>
              </a:rPr>
              <a:t>· </a:t>
            </a:r>
            <a:r>
              <a:rPr lang="zh-CN" sz="900">
                <a:solidFill>
                  <a:srgbClr val="CBD5E1"/>
                </a:solidFill>
                <a:latin typeface="Microsoft YaHei"/>
                <a:ea typeface="Microsoft YaHei"/>
              </a:rPr>
              <a:t>视觉缺陷检测</a:t>
            </a:r>
            <a:endParaRPr/>
          </a:p>
        </p:txBody>
      </p:sp>
      <p:sp>
        <p:nvSpPr>
          <p:cNvPr id="447" name="" descr="{&quot;isTemplate&quot;:true,&quot;type&quot;:&quot;text&quot;}"/>
          <p:cNvSpPr txBox="1"/>
          <p:nvPr/>
        </p:nvSpPr>
        <p:spPr>
          <a:xfrm rot="0" flipH="0" flipV="0">
            <a:off x="9134475" y="3238500"/>
            <a:ext cx="2352675" cy="2095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900">
                <a:solidFill>
                  <a:srgbClr val="CBD5E1"/>
                </a:solidFill>
                <a:latin typeface="Microsoft YaHei"/>
                <a:ea typeface="Microsoft YaHei"/>
              </a:rPr>
              <a:t>· </a:t>
            </a:r>
            <a:r>
              <a:rPr lang="zh-CN" sz="900">
                <a:solidFill>
                  <a:srgbClr val="CBD5E1"/>
                </a:solidFill>
                <a:latin typeface="Microsoft YaHei"/>
                <a:ea typeface="Microsoft YaHei"/>
              </a:rPr>
              <a:t>语音转文本</a:t>
            </a:r>
            <a:endParaRPr/>
          </a:p>
        </p:txBody>
      </p:sp>
      <p:sp>
        <p:nvSpPr>
          <p:cNvPr id="448" name="" descr="{&quot;isTemplate&quot;:true,&quot;type&quot;:&quot;text&quot;}"/>
          <p:cNvSpPr txBox="1"/>
          <p:nvPr/>
        </p:nvSpPr>
        <p:spPr>
          <a:xfrm rot="0" flipH="0" flipV="0">
            <a:off x="9134475" y="3486150"/>
            <a:ext cx="2352675" cy="2095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900">
                <a:solidFill>
                  <a:srgbClr val="CBD5E1"/>
                </a:solidFill>
                <a:latin typeface="Microsoft YaHei"/>
                <a:ea typeface="Microsoft YaHei"/>
              </a:rPr>
              <a:t>· </a:t>
            </a:r>
            <a:r>
              <a:rPr lang="zh-CN" sz="900">
                <a:solidFill>
                  <a:srgbClr val="CBD5E1"/>
                </a:solidFill>
                <a:latin typeface="Microsoft YaHei"/>
                <a:ea typeface="Microsoft YaHei"/>
              </a:rPr>
              <a:t>视频分析</a:t>
            </a:r>
            <a:endParaRPr/>
          </a:p>
        </p:txBody>
      </p:sp>
      <p:sp>
        <p:nvSpPr>
          <p:cNvPr id="449" name="" descr="{&quot;isTemplate&quot;:true,&quot;type&quot;:&quot;text&quot;}"/>
          <p:cNvSpPr txBox="1"/>
          <p:nvPr/>
        </p:nvSpPr>
        <p:spPr>
          <a:xfrm rot="0" flipH="0" flipV="0">
            <a:off x="9134475" y="3733800"/>
            <a:ext cx="2352675" cy="2095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900">
                <a:solidFill>
                  <a:srgbClr val="CBD5E1"/>
                </a:solidFill>
                <a:latin typeface="Microsoft YaHei"/>
                <a:ea typeface="Microsoft YaHei"/>
              </a:rPr>
              <a:t>· </a:t>
            </a:r>
            <a:r>
              <a:rPr lang="en-US" sz="900">
                <a:solidFill>
                  <a:srgbClr val="CBD5E1"/>
                </a:solidFill>
                <a:latin typeface="Microsoft YaHei"/>
                <a:ea typeface="Microsoft YaHei"/>
              </a:rPr>
              <a:t>AI </a:t>
            </a:r>
            <a:r>
              <a:rPr lang="zh-CN" sz="900">
                <a:solidFill>
                  <a:srgbClr val="CBD5E1"/>
                </a:solidFill>
                <a:latin typeface="Microsoft YaHei"/>
                <a:ea typeface="Microsoft YaHei"/>
              </a:rPr>
              <a:t>流水线</a:t>
            </a:r>
            <a:r>
              <a:rPr lang="en-US" sz="900">
                <a:solidFill>
                  <a:srgbClr val="CBD5E1"/>
                </a:solidFill>
                <a:latin typeface="Microsoft YaHei"/>
                <a:ea typeface="Microsoft YaHei"/>
              </a:rPr>
              <a:t> (SSE)</a:t>
            </a:r>
            <a:endParaRPr/>
          </a:p>
        </p:txBody>
      </p:sp>
      <p:sp>
        <p:nvSpPr>
          <p:cNvPr id="450" name="" descr="{&quot;isTemplate&quot;:true,&quot;type&quot;:&quot;text&quot;}"/>
          <p:cNvSpPr txBox="1"/>
          <p:nvPr/>
        </p:nvSpPr>
        <p:spPr>
          <a:xfrm rot="0" flipH="0" flipV="0">
            <a:off x="11268075" y="6524625"/>
            <a:ext cx="3905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475569"/>
                </a:solidFill>
                <a:latin typeface="Microsoft YaHei"/>
                <a:ea typeface="Microsoft YaHei"/>
              </a:rPr>
              <a:t>09 / 12</a:t>
            </a:r>
            <a:endParaRPr/>
          </a:p>
        </p:txBody>
      </p:sp>
    </p:spTree>
  </p:cSld>
</p:sld>
</file>

<file path=ppt/slides/slide10.xml><?xml version="1.0" encoding="utf-8"?>
<p:sld xmlns:p="http://schemas.openxmlformats.org/presentationml/2006/main" xmlns:a="http://schemas.openxmlformats.org/drawingml/2006/main">
  <p:cSld>
    <p:spTree>
      <p:nvGrpSpPr>
        <p:cNvPr id="25" name="" descr="&lt;Slide style={{ width: '1280px', height: '720px', padding: '40px 56px', backgroundColor: '#0b1220' }}&gt;&#10;    &lt;Box style={{ display: 'flex', alignItems: 'center', marginBottom: '20px' }}&gt;&#10;      &lt;Text style={{ fontSize: '14px', color: '#06b6d4', letterSpacing: '3px' }}&gt;DATABASE · 31 TABLES · 25 MIGRATIONS&lt;/Text&gt;&#10;      &lt;Box style={{ flex: '1', height: '1px', backgroundColor: '#1e293b', marginLeft: '20px' }} /&gt;&#10;    &lt;/Box&gt;&#10;&#10;    &lt;Text style={{&#10;      fontSize: '32px', fontWeight: 'bold', color: '#e2e8f0', marginBottom: '20px',&#10;    }}&gt;&#10;      数据层 · &lt;span style={{ color: '#06b6d4' }}&gt;PGlite / PostgreSQL 双适配&lt;/span&gt;&#10;    &lt;/Text&gt;&#10;&#10;    &lt;Box style={{ display: 'flex', gap: '12px' }}&gt;&#10;      &lt;Box style={{&#10;        flex: 1, padding: '24px', backgroundColor: '#0f172a', borderRadius: '8px',&#10;        borderTop: '3px solid #06b6d4',&#10;      }}&gt;&#10;        &lt;Text style={{ fontSize: '64px', fontWeight: 'bold', color: '#06b6d4', lineHeight: '1' }}&gt;&#10;          31&#10;        &lt;/Text&gt;&#10;        &lt;Text style={{ fontSize: '14px', color: '#94a3b8', marginTop: '6px' }}&gt;张业务表&lt;/Text&gt;&#10;        &lt;Text style={{ fontSize: '11px', color: '#64748b', marginTop: '8px', lineHeight: '1.5' }}&gt;&#10;          10 张 AI/知识 · 9 张核心业务 · 5 张存储 · 7 张运营支撑&#10;        &lt;/Text&gt;&#10;      &lt;/Box&gt;&#10;      &lt;Box style={{&#10;        flex: 1, padding: '24px', backgroundColor: '#0f172a', borderRadius: '8px',&#10;        borderTop: '3px solid #f59e0b',&#10;      }}&gt;&#10;        &lt;Text style={{ fontSize: '64px', fontWeight: 'bold', color: '#f59e0b', lineHeight: '1' }}&gt;&#10;          25&#10;        &lt;/Text&gt;&#10;        &lt;Text style={{ fontSize: '14px', color: '#94a3b8', marginTop: '6px' }}&gt;个幂等迁移&lt;/Text&gt;&#10;        &lt;Text style={{ fontSize: '11px', color: '#64748b', marginTop: '8px', lineHeight: '1.5' }}&gt;&#10;          src/db/migrations/001-025.sql · 吞 already exists · 无 schema_migrations 表&#10;        &lt;/Text&gt;&#10;      &lt;/Box&gt;&#10;      &lt;Box style={{&#10;        flex: 1, padding: '24px', backgroundColor: '#0f172a', borderRadius: '8px',&#10;        borderTop: '3px solid #10b981',&#10;      }}&gt;&#10;        &lt;Text style={{ fontSize: '64px', fontWeight: 'bold', color: '#10b981', lineHeight: '1' }}&gt;&#10;          6&#10;        &lt;/Text&gt;&#10;        &lt;Text style={{ fontSize: '14px', color: '#94a3b8', marginTop: '6px' }}&gt;个遥测维度&lt;/Text&gt;&#10;        &lt;Text style={{ fontSize: '11px', color: '#64748b', marginTop: '8px', lineHeight: '1.5' }}&gt;&#10;          温度 / 压力 / 振动 / 电流 / 流量 / 转速&#10;        &lt;/Text&gt;&#10;      &lt;/Box&gt;&#10;      &lt;Box style={{&#10;        flex: 1, padding: '24px', backgroundColor: '#0f172a', borderRadius: '8px',&#10;        borderTop: '3px solid #8b5cf6',&#10;      }}&gt;&#10;        &lt;Text style={{ fontSize: '64px', fontWeight: 'bold', color: '#8b5cf6', lineHeight: '1' }}&gt;&#10;          1024&#10;        &lt;/Text&gt;&#10;        &lt;Text style={{ fontSize: '14px', color: '#94a3b8', marginTop: '6px' }}&gt;维向量&lt;/Text&gt;&#10;        &lt;Text style={{ fontSize: '11px', color: '#64748b', marginTop: '8px', lineHeight: '1.5' }}&gt;&#10;          text-embedding-v3 · pgvector 可选 · HNSW 索引&#10;        &lt;/Text&gt;&#10;      &lt;/Box&gt;&#10;    &lt;/Box&gt;&#10;&#10;    &lt;Box style={{ display: 'flex', gap: '12px', marginTop: '20px' }}&gt;&#10;      &lt;Box style={{ flex: 1, padding: '16px', backgroundColor: '#0f172a', borderRadius: '6px' }}&gt;&#10;        &lt;Text style={{ fontSize: '13px', color: '#06b6d4', marginBottom: '6px' }}&gt;JSONB 关键字段&lt;/Text&gt;&#10;        &lt;Text style={{ fontSize: '11px', color: '#cbd5e1', lineHeight: '1.6', fontFamily: 'monospace' }}&gt;&#10;          work_orders.safety_requirements / repair_log / acceptance&#10;          {'\n'}safety_permits.guardian_approval / supervisor_approval&#10;        &lt;/Text&gt;&#10;      &lt;/Box&gt;&#10;      &lt;Box style={{ flex: 1, padding: '16px', backgroundColor: '#0f172a', borderRadius: '6px' }}&gt;&#10;        &lt;Text style={{ fontSize: '13px', color: '#f59e0b', marginBottom: '6px' }}&gt;乐观锁&lt;/Text&gt;&#10;        &lt;Text style={{ fontSize: '11px', color: '#cbd5e1', lineHeight: '1.6', fontFamily: 'monospace' }}&gt;&#10;          work_orders.version INTEGER DEFAULT 1&#10;          {'\n'}UPDATE … WHERE id=? AND version=? → 0 行返 409&#10;        &lt;/Text&gt;&#10;      &lt;/Box&gt;&#10;      &lt;Box style={{ flex: 1, padding: '16px', backgroundColor: '#0f172a', borderRadius: '6px' }}&gt;&#10;        &lt;Text style={{ fontSize: '13px', color: '#10b981', marginBottom: '6px' }}&gt;PGlite 自愈&lt;/Text&gt;&#10;        &lt;Text style={{ fontSize: '11px', color: '#cbd5e1', lineHeight: '1.6', fontFamily: 'monospace' }}&gt;&#10;          openPgliteWithFallback() → 损坏自动回退到 data.bak-*&#10;          {'\n'}最近 3 个备份保留 · .pglite-active.json 仲裁&#10;        &lt;/Text&gt;&#10;      &lt;/Box&gt;&#10;    &lt;/Box&gt;&#10;&#10;    &lt;Box style={{ position: 'absolute', bottom: '20px', right: '56px' }}&gt;&#10;      &lt;Text style={{ fontSize: '12px', color: '#475569' }}&gt;10 / 12&lt;/Text&gt;&#10;    &lt;/Box&gt;&#10;  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/>
        </p:spPr>
        <p:txBody>
          <a:bodyPr/>
          <a:p/>
        </p:txBody>
      </p:sp>
      <p:sp>
        <p:nvSpPr>
          <p:cNvPr id="27" name="" descr="{&quot;isTemplate&quot;:true,&quot;type&quot;:&quot;text&quot;}"/>
          <p:cNvSpPr txBox="1"/>
          <p:nvPr/>
        </p:nvSpPr>
        <p:spPr>
          <a:xfrm rot="0" flipH="0" flipV="0">
            <a:off x="533400" y="381000"/>
            <a:ext cx="36766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225">
                <a:solidFill>
                  <a:srgbClr val="06B6D4"/>
                </a:solidFill>
                <a:latin typeface="Microsoft YaHei"/>
                <a:ea typeface="Microsoft YaHei"/>
              </a:rPr>
              <a:t>DATABASE · 30 TABLES · 25 MIGRATIONS</a:t>
            </a:r>
            <a:endParaRPr/>
          </a:p>
        </p:txBody>
      </p:sp>
      <p:sp>
        <p:nvSpPr>
          <p:cNvPr id="28" name=""/>
          <p:cNvSpPr/>
          <p:nvPr/>
        </p:nvSpPr>
        <p:spPr>
          <a:xfrm rot="0" flipH="0" flipV="0">
            <a:off x="4400550" y="457200"/>
            <a:ext cx="7258050" cy="9525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p/>
        </p:txBody>
      </p:sp>
      <p:sp>
        <p:nvSpPr>
          <p:cNvPr id="29" name="" descr="{&quot;isTemplate&quot;:true,&quot;type&quot;:&quot;text&quot;}"/>
          <p:cNvSpPr txBox="1"/>
          <p:nvPr/>
        </p:nvSpPr>
        <p:spPr>
          <a:xfrm rot="0" flipH="0" flipV="0">
            <a:off x="533400" y="733425"/>
            <a:ext cx="111252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E2E8F0"/>
                </a:solidFill>
                <a:latin typeface="Microsoft YaHei"/>
                <a:ea typeface="Microsoft YaHei"/>
              </a:rPr>
              <a:t>数据层</a:t>
            </a:r>
            <a:r>
              <a:rPr lang="en-US" sz="2400" b="1">
                <a:solidFill>
                  <a:srgbClr val="E2E8F0"/>
                </a:solidFill>
                <a:latin typeface="Microsoft YaHei"/>
                <a:ea typeface="Microsoft YaHei"/>
              </a:rPr>
              <a:t> · </a:t>
            </a:r>
            <a:r>
              <a:rPr lang="en-US" sz="2400" b="1">
                <a:solidFill>
                  <a:srgbClr val="06B6D4"/>
                </a:solidFill>
                <a:latin typeface="Microsoft YaHei"/>
                <a:ea typeface="Microsoft YaHei"/>
              </a:rPr>
              <a:t>PGlite / PostgreSQL </a:t>
            </a:r>
            <a:r>
              <a:rPr lang="zh-CN" sz="2400" b="1">
                <a:solidFill>
                  <a:srgbClr val="06B6D4"/>
                </a:solidFill>
                <a:latin typeface="Microsoft YaHei"/>
                <a:ea typeface="Microsoft YaHei"/>
              </a:rPr>
              <a:t>双适配</a:t>
            </a:r>
            <a:endParaRPr/>
          </a:p>
        </p:txBody>
      </p:sp>
      <p:sp>
        <p:nvSpPr>
          <p:cNvPr id="30" name=""/>
          <p:cNvSpPr/>
          <p:nvPr/>
        </p:nvSpPr>
        <p:spPr>
          <a:xfrm rot="0" flipH="0" flipV="0">
            <a:off x="533400" y="1323975"/>
            <a:ext cx="2695575" cy="1895475"/>
          </a:xfrm>
          <a:prstGeom prst="roundRect">
            <a:avLst>
              <a:gd name="adj" fmla="val 4020"/>
            </a:avLst>
          </a:prstGeom>
          <a:solidFill>
            <a:srgbClr val="0F172A"/>
          </a:solidFill>
          <a:ln/>
        </p:spPr>
        <p:txBody>
          <a:bodyPr/>
          <a:p/>
        </p:txBody>
      </p:sp>
      <p:sp>
        <p:nvSpPr>
          <p:cNvPr id="31" name=""/>
          <p:cNvSpPr/>
          <p:nvPr/>
        </p:nvSpPr>
        <p:spPr>
          <a:xfrm rot="0" flipH="0" flipV="0">
            <a:off x="533400" y="1323975"/>
            <a:ext cx="2695575" cy="1895475"/>
          </a:xfrm>
          <a:custGeom>
            <a:pathLst>
              <a:path w="283" h="199">
                <a:moveTo>
                  <a:pt x="275" y="0"/>
                </a:moveTo>
                <a:cubicBezTo>
                  <a:pt x="279" y="0"/>
                  <a:pt x="282" y="3"/>
                  <a:pt x="283" y="7"/>
                </a:cubicBezTo>
                <a:cubicBezTo>
                  <a:pt x="282" y="4"/>
                  <a:pt x="280" y="3"/>
                  <a:pt x="278" y="3"/>
                </a:cubicBezTo>
                <a:lnTo>
                  <a:pt x="5" y="3"/>
                </a:lnTo>
                <a:cubicBezTo>
                  <a:pt x="3" y="3"/>
                  <a:pt x="1" y="5"/>
                  <a:pt x="0" y="7"/>
                </a:cubicBezTo>
                <a:cubicBezTo>
                  <a:pt x="1" y="3"/>
                  <a:pt x="4" y="0"/>
                  <a:pt x="8" y="0"/>
                </a:cubicBezTo>
                <a:lnTo>
                  <a:pt x="275" y="0"/>
                </a:lnTo>
                <a:close/>
              </a:path>
            </a:pathLst>
          </a:custGeom>
          <a:solidFill>
            <a:srgbClr val="06B6D4"/>
          </a:solidFill>
          <a:ln/>
        </p:spPr>
        <p:txBody>
          <a:bodyPr/>
          <a:p/>
        </p:txBody>
      </p:sp>
      <p:sp>
        <p:nvSpPr>
          <p:cNvPr id="32" name="" descr="{&quot;isTemplate&quot;:true,&quot;type&quot;:&quot;text&quot;}"/>
          <p:cNvSpPr txBox="1"/>
          <p:nvPr/>
        </p:nvSpPr>
        <p:spPr>
          <a:xfrm rot="0" flipH="0" flipV="0">
            <a:off x="762000" y="1552575"/>
            <a:ext cx="2238375" cy="7334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4800" b="1">
                <a:solidFill>
                  <a:srgbClr val="06B6D4"/>
                </a:solidFill>
                <a:latin typeface="Microsoft YaHei"/>
                <a:ea typeface="Microsoft YaHei"/>
              </a:rPr>
              <a:t>30</a:t>
            </a:r>
            <a:endParaRPr/>
          </a:p>
        </p:txBody>
      </p:sp>
      <p:sp>
        <p:nvSpPr>
          <p:cNvPr id="33" name="" descr="{&quot;isTemplate&quot;:true,&quot;type&quot;:&quot;text&quot;}"/>
          <p:cNvSpPr txBox="1"/>
          <p:nvPr/>
        </p:nvSpPr>
        <p:spPr>
          <a:xfrm rot="0" flipH="0" flipV="0">
            <a:off x="762000" y="2343150"/>
            <a:ext cx="22383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94A3B8"/>
                </a:solidFill>
                <a:latin typeface="Microsoft YaHei"/>
                <a:ea typeface="Microsoft YaHei"/>
              </a:rPr>
              <a:t>张业务表</a:t>
            </a:r>
            <a:endParaRPr/>
          </a:p>
        </p:txBody>
      </p:sp>
      <p:sp>
        <p:nvSpPr>
          <p:cNvPr id="34" name="" descr="{&quot;isTemplate&quot;:true,&quot;type&quot;:&quot;text&quot;}"/>
          <p:cNvSpPr txBox="1"/>
          <p:nvPr/>
        </p:nvSpPr>
        <p:spPr>
          <a:xfrm rot="0" flipH="0" flipV="0">
            <a:off x="762000" y="2581275"/>
            <a:ext cx="2238375" cy="3810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en-US" sz="825">
                <a:solidFill>
                  <a:srgbClr val="64748B"/>
                </a:solidFill>
                <a:latin typeface="Microsoft YaHei"/>
                <a:ea typeface="Microsoft YaHei"/>
              </a:rPr>
              <a:t>10 </a:t>
            </a:r>
            <a:r>
              <a:rPr lang="zh-CN" sz="825">
                <a:solidFill>
                  <a:srgbClr val="64748B"/>
                </a:solidFill>
                <a:latin typeface="Microsoft YaHei"/>
                <a:ea typeface="Microsoft YaHei"/>
              </a:rPr>
              <a:t>张</a:t>
            </a:r>
            <a:r>
              <a:rPr lang="en-US" sz="825">
                <a:solidFill>
                  <a:srgbClr val="64748B"/>
                </a:solidFill>
                <a:latin typeface="Microsoft YaHei"/>
                <a:ea typeface="Microsoft YaHei"/>
              </a:rPr>
              <a:t> AI/</a:t>
            </a:r>
            <a:r>
              <a:rPr lang="zh-CN" sz="825">
                <a:solidFill>
                  <a:srgbClr val="64748B"/>
                </a:solidFill>
                <a:latin typeface="Microsoft YaHei"/>
                <a:ea typeface="Microsoft YaHei"/>
              </a:rPr>
              <a:t>知识</a:t>
            </a:r>
            <a:r>
              <a:rPr lang="en-US" sz="825">
                <a:solidFill>
                  <a:srgbClr val="64748B"/>
                </a:solidFill>
                <a:latin typeface="Microsoft YaHei"/>
                <a:ea typeface="Microsoft YaHei"/>
              </a:rPr>
              <a:t> · 9 </a:t>
            </a:r>
            <a:r>
              <a:rPr lang="zh-CN" sz="825">
                <a:solidFill>
                  <a:srgbClr val="64748B"/>
                </a:solidFill>
                <a:latin typeface="Microsoft YaHei"/>
                <a:ea typeface="Microsoft YaHei"/>
              </a:rPr>
              <a:t>张核心业务</a:t>
            </a:r>
            <a:r>
              <a:rPr lang="en-US" sz="825">
                <a:solidFill>
                  <a:srgbClr val="64748B"/>
                </a:solidFill>
                <a:latin typeface="Microsoft YaHei"/>
                <a:ea typeface="Microsoft YaHei"/>
              </a:rPr>
              <a:t> · 5 </a:t>
            </a:r>
            <a:r>
              <a:rPr lang="zh-CN" sz="825">
                <a:solidFill>
                  <a:srgbClr val="64748B"/>
                </a:solidFill>
                <a:latin typeface="Microsoft YaHei"/>
                <a:ea typeface="Microsoft YaHei"/>
              </a:rPr>
              <a:t>张存储</a:t>
            </a:r>
            <a:r>
              <a:rPr lang="en-US" sz="825">
                <a:solidFill>
                  <a:srgbClr val="64748B"/>
                </a:solidFill>
                <a:latin typeface="Microsoft YaHei"/>
                <a:ea typeface="Microsoft YaHei"/>
              </a:rPr>
              <a:t> · 6 </a:t>
            </a:r>
            <a:r>
              <a:rPr lang="zh-CN" sz="825">
                <a:solidFill>
                  <a:srgbClr val="64748B"/>
                </a:solidFill>
                <a:latin typeface="Microsoft YaHei"/>
                <a:ea typeface="Microsoft YaHei"/>
              </a:rPr>
              <a:t>张运营支撑</a:t>
            </a:r>
            <a:endParaRPr/>
          </a:p>
        </p:txBody>
      </p:sp>
      <p:sp>
        <p:nvSpPr>
          <p:cNvPr id="35" name=""/>
          <p:cNvSpPr/>
          <p:nvPr/>
        </p:nvSpPr>
        <p:spPr>
          <a:xfrm rot="0" flipH="0" flipV="0">
            <a:off x="3343275" y="1323975"/>
            <a:ext cx="2695575" cy="1895475"/>
          </a:xfrm>
          <a:prstGeom prst="roundRect">
            <a:avLst>
              <a:gd name="adj" fmla="val 4020"/>
            </a:avLst>
          </a:prstGeom>
          <a:solidFill>
            <a:srgbClr val="0F172A"/>
          </a:solidFill>
          <a:ln/>
        </p:spPr>
        <p:txBody>
          <a:bodyPr/>
          <a:p/>
        </p:txBody>
      </p:sp>
      <p:sp>
        <p:nvSpPr>
          <p:cNvPr id="36" name=""/>
          <p:cNvSpPr/>
          <p:nvPr/>
        </p:nvSpPr>
        <p:spPr>
          <a:xfrm rot="0" flipH="0" flipV="0">
            <a:off x="3343275" y="1323975"/>
            <a:ext cx="2695575" cy="1895475"/>
          </a:xfrm>
          <a:custGeom>
            <a:pathLst>
              <a:path w="283" h="199">
                <a:moveTo>
                  <a:pt x="275" y="0"/>
                </a:moveTo>
                <a:cubicBezTo>
                  <a:pt x="279" y="0"/>
                  <a:pt x="282" y="3"/>
                  <a:pt x="283" y="7"/>
                </a:cubicBezTo>
                <a:cubicBezTo>
                  <a:pt x="282" y="4"/>
                  <a:pt x="280" y="3"/>
                  <a:pt x="278" y="3"/>
                </a:cubicBezTo>
                <a:lnTo>
                  <a:pt x="5" y="3"/>
                </a:lnTo>
                <a:cubicBezTo>
                  <a:pt x="3" y="3"/>
                  <a:pt x="1" y="5"/>
                  <a:pt x="0" y="7"/>
                </a:cubicBezTo>
                <a:cubicBezTo>
                  <a:pt x="1" y="3"/>
                  <a:pt x="4" y="0"/>
                  <a:pt x="8" y="0"/>
                </a:cubicBezTo>
                <a:lnTo>
                  <a:pt x="275" y="0"/>
                </a:lnTo>
                <a:close/>
              </a:path>
            </a:pathLst>
          </a:custGeom>
          <a:solidFill>
            <a:srgbClr val="F59E0B"/>
          </a:solidFill>
          <a:ln/>
        </p:spPr>
        <p:txBody>
          <a:bodyPr/>
          <a:p/>
        </p:txBody>
      </p:sp>
      <p:sp>
        <p:nvSpPr>
          <p:cNvPr id="37" name="" descr="{&quot;isTemplate&quot;:true,&quot;type&quot;:&quot;text&quot;}"/>
          <p:cNvSpPr txBox="1"/>
          <p:nvPr/>
        </p:nvSpPr>
        <p:spPr>
          <a:xfrm rot="0" flipH="0" flipV="0">
            <a:off x="3571875" y="1552575"/>
            <a:ext cx="2238375" cy="7334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4800" b="1">
                <a:solidFill>
                  <a:srgbClr val="F59E0B"/>
                </a:solidFill>
                <a:latin typeface="Microsoft YaHei"/>
                <a:ea typeface="Microsoft YaHei"/>
              </a:rPr>
              <a:t>25</a:t>
            </a:r>
            <a:endParaRPr/>
          </a:p>
        </p:txBody>
      </p:sp>
      <p:sp>
        <p:nvSpPr>
          <p:cNvPr id="38" name="" descr="{&quot;isTemplate&quot;:true,&quot;type&quot;:&quot;text&quot;}"/>
          <p:cNvSpPr txBox="1"/>
          <p:nvPr/>
        </p:nvSpPr>
        <p:spPr>
          <a:xfrm rot="0" flipH="0" flipV="0">
            <a:off x="3571875" y="2343150"/>
            <a:ext cx="22383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94A3B8"/>
                </a:solidFill>
                <a:latin typeface="Microsoft YaHei"/>
                <a:ea typeface="Microsoft YaHei"/>
              </a:rPr>
              <a:t>个幂等迁移</a:t>
            </a:r>
            <a:endParaRPr/>
          </a:p>
        </p:txBody>
      </p:sp>
      <p:sp>
        <p:nvSpPr>
          <p:cNvPr id="39" name="" descr="{&quot;isTemplate&quot;:true,&quot;type&quot;:&quot;text&quot;}"/>
          <p:cNvSpPr txBox="1"/>
          <p:nvPr/>
        </p:nvSpPr>
        <p:spPr>
          <a:xfrm rot="0" flipH="0" flipV="0">
            <a:off x="3571875" y="2581275"/>
            <a:ext cx="2238375" cy="3810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en-US" sz="825">
                <a:solidFill>
                  <a:srgbClr val="64748B"/>
                </a:solidFill>
                <a:latin typeface="Microsoft YaHei"/>
                <a:ea typeface="Microsoft YaHei"/>
              </a:rPr>
              <a:t>src/db/migrations/001-025.sql · </a:t>
            </a:r>
            <a:r>
              <a:rPr lang="zh-CN" sz="825">
                <a:solidFill>
                  <a:srgbClr val="64748B"/>
                </a:solidFill>
                <a:latin typeface="Microsoft YaHei"/>
                <a:ea typeface="Microsoft YaHei"/>
              </a:rPr>
              <a:t>吞</a:t>
            </a:r>
            <a:r>
              <a:rPr lang="en-US" sz="825">
                <a:solidFill>
                  <a:srgbClr val="64748B"/>
                </a:solidFill>
                <a:latin typeface="Microsoft YaHei"/>
                <a:ea typeface="Microsoft YaHei"/>
              </a:rPr>
              <a:t> already exists · </a:t>
            </a:r>
            <a:r>
              <a:rPr lang="zh-CN" sz="825">
                <a:solidFill>
                  <a:srgbClr val="64748B"/>
                </a:solidFill>
                <a:latin typeface="Microsoft YaHei"/>
                <a:ea typeface="Microsoft YaHei"/>
              </a:rPr>
              <a:t>无</a:t>
            </a:r>
            <a:r>
              <a:rPr lang="en-US" sz="825">
                <a:solidFill>
                  <a:srgbClr val="64748B"/>
                </a:solidFill>
                <a:latin typeface="Microsoft YaHei"/>
                <a:ea typeface="Microsoft YaHei"/>
              </a:rPr>
              <a:t> schema_migrations </a:t>
            </a:r>
            <a:r>
              <a:rPr lang="zh-CN" sz="825">
                <a:solidFill>
                  <a:srgbClr val="64748B"/>
                </a:solidFill>
                <a:latin typeface="Microsoft YaHei"/>
                <a:ea typeface="Microsoft YaHei"/>
              </a:rPr>
              <a:t>表</a:t>
            </a:r>
            <a:endParaRPr/>
          </a:p>
        </p:txBody>
      </p:sp>
      <p:sp>
        <p:nvSpPr>
          <p:cNvPr id="40" name=""/>
          <p:cNvSpPr/>
          <p:nvPr/>
        </p:nvSpPr>
        <p:spPr>
          <a:xfrm rot="0" flipH="0" flipV="0">
            <a:off x="6153150" y="1323975"/>
            <a:ext cx="2695575" cy="1895475"/>
          </a:xfrm>
          <a:prstGeom prst="roundRect">
            <a:avLst>
              <a:gd name="adj" fmla="val 4020"/>
            </a:avLst>
          </a:prstGeom>
          <a:solidFill>
            <a:srgbClr val="0F172A"/>
          </a:solidFill>
          <a:ln/>
        </p:spPr>
        <p:txBody>
          <a:bodyPr/>
          <a:p/>
        </p:txBody>
      </p:sp>
      <p:sp>
        <p:nvSpPr>
          <p:cNvPr id="41" name=""/>
          <p:cNvSpPr/>
          <p:nvPr/>
        </p:nvSpPr>
        <p:spPr>
          <a:xfrm rot="0" flipH="0" flipV="0">
            <a:off x="6153150" y="1323975"/>
            <a:ext cx="2695575" cy="1895475"/>
          </a:xfrm>
          <a:custGeom>
            <a:pathLst>
              <a:path w="283" h="199">
                <a:moveTo>
                  <a:pt x="275" y="0"/>
                </a:moveTo>
                <a:cubicBezTo>
                  <a:pt x="279" y="0"/>
                  <a:pt x="282" y="3"/>
                  <a:pt x="283" y="7"/>
                </a:cubicBezTo>
                <a:cubicBezTo>
                  <a:pt x="282" y="4"/>
                  <a:pt x="280" y="3"/>
                  <a:pt x="278" y="3"/>
                </a:cubicBezTo>
                <a:lnTo>
                  <a:pt x="5" y="3"/>
                </a:lnTo>
                <a:cubicBezTo>
                  <a:pt x="3" y="3"/>
                  <a:pt x="1" y="5"/>
                  <a:pt x="0" y="7"/>
                </a:cubicBezTo>
                <a:cubicBezTo>
                  <a:pt x="1" y="3"/>
                  <a:pt x="4" y="0"/>
                  <a:pt x="8" y="0"/>
                </a:cubicBezTo>
                <a:lnTo>
                  <a:pt x="275" y="0"/>
                </a:lnTo>
                <a:close/>
              </a:path>
            </a:pathLst>
          </a:custGeom>
          <a:solidFill>
            <a:srgbClr val="10B981"/>
          </a:solidFill>
          <a:ln/>
        </p:spPr>
        <p:txBody>
          <a:bodyPr/>
          <a:p/>
        </p:txBody>
      </p:sp>
      <p:sp>
        <p:nvSpPr>
          <p:cNvPr id="42" name="" descr="{&quot;isTemplate&quot;:true,&quot;type&quot;:&quot;text&quot;}"/>
          <p:cNvSpPr txBox="1"/>
          <p:nvPr/>
        </p:nvSpPr>
        <p:spPr>
          <a:xfrm rot="0" flipH="0" flipV="0">
            <a:off x="6381750" y="1552575"/>
            <a:ext cx="2238375" cy="7334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4800" b="1">
                <a:solidFill>
                  <a:srgbClr val="10B981"/>
                </a:solidFill>
                <a:latin typeface="Microsoft YaHei"/>
                <a:ea typeface="Microsoft YaHei"/>
              </a:rPr>
              <a:t>6</a:t>
            </a:r>
            <a:endParaRPr/>
          </a:p>
        </p:txBody>
      </p:sp>
      <p:sp>
        <p:nvSpPr>
          <p:cNvPr id="43" name="" descr="{&quot;isTemplate&quot;:true,&quot;type&quot;:&quot;text&quot;}"/>
          <p:cNvSpPr txBox="1"/>
          <p:nvPr/>
        </p:nvSpPr>
        <p:spPr>
          <a:xfrm rot="0" flipH="0" flipV="0">
            <a:off x="6381750" y="2343150"/>
            <a:ext cx="22383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94A3B8"/>
                </a:solidFill>
                <a:latin typeface="Microsoft YaHei"/>
                <a:ea typeface="Microsoft YaHei"/>
              </a:rPr>
              <a:t>个遥测维度</a:t>
            </a:r>
            <a:endParaRPr/>
          </a:p>
        </p:txBody>
      </p:sp>
      <p:sp>
        <p:nvSpPr>
          <p:cNvPr id="44" name="" descr="{&quot;isTemplate&quot;:true,&quot;type&quot;:&quot;text&quot;}"/>
          <p:cNvSpPr txBox="1"/>
          <p:nvPr/>
        </p:nvSpPr>
        <p:spPr>
          <a:xfrm rot="0" flipH="0" flipV="0">
            <a:off x="6381750" y="2581275"/>
            <a:ext cx="2238375" cy="1905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825">
                <a:solidFill>
                  <a:srgbClr val="64748B"/>
                </a:solidFill>
                <a:latin typeface="Microsoft YaHei"/>
                <a:ea typeface="Microsoft YaHei"/>
              </a:rPr>
              <a:t>温度</a:t>
            </a:r>
            <a:r>
              <a:rPr lang="en-US" sz="825">
                <a:solidFill>
                  <a:srgbClr val="64748B"/>
                </a:solidFill>
                <a:latin typeface="Microsoft YaHei"/>
                <a:ea typeface="Microsoft YaHei"/>
              </a:rPr>
              <a:t> / </a:t>
            </a:r>
            <a:r>
              <a:rPr lang="zh-CN" sz="825">
                <a:solidFill>
                  <a:srgbClr val="64748B"/>
                </a:solidFill>
                <a:latin typeface="Microsoft YaHei"/>
                <a:ea typeface="Microsoft YaHei"/>
              </a:rPr>
              <a:t>压力</a:t>
            </a:r>
            <a:r>
              <a:rPr lang="en-US" sz="825">
                <a:solidFill>
                  <a:srgbClr val="64748B"/>
                </a:solidFill>
                <a:latin typeface="Microsoft YaHei"/>
                <a:ea typeface="Microsoft YaHei"/>
              </a:rPr>
              <a:t> / </a:t>
            </a:r>
            <a:r>
              <a:rPr lang="zh-CN" sz="825">
                <a:solidFill>
                  <a:srgbClr val="64748B"/>
                </a:solidFill>
                <a:latin typeface="Microsoft YaHei"/>
                <a:ea typeface="Microsoft YaHei"/>
              </a:rPr>
              <a:t>振动</a:t>
            </a:r>
            <a:r>
              <a:rPr lang="en-US" sz="825">
                <a:solidFill>
                  <a:srgbClr val="64748B"/>
                </a:solidFill>
                <a:latin typeface="Microsoft YaHei"/>
                <a:ea typeface="Microsoft YaHei"/>
              </a:rPr>
              <a:t> / </a:t>
            </a:r>
            <a:r>
              <a:rPr lang="zh-CN" sz="825">
                <a:solidFill>
                  <a:srgbClr val="64748B"/>
                </a:solidFill>
                <a:latin typeface="Microsoft YaHei"/>
                <a:ea typeface="Microsoft YaHei"/>
              </a:rPr>
              <a:t>电流</a:t>
            </a:r>
            <a:r>
              <a:rPr lang="en-US" sz="825">
                <a:solidFill>
                  <a:srgbClr val="64748B"/>
                </a:solidFill>
                <a:latin typeface="Microsoft YaHei"/>
                <a:ea typeface="Microsoft YaHei"/>
              </a:rPr>
              <a:t> / </a:t>
            </a:r>
            <a:r>
              <a:rPr lang="zh-CN" sz="825">
                <a:solidFill>
                  <a:srgbClr val="64748B"/>
                </a:solidFill>
                <a:latin typeface="Microsoft YaHei"/>
                <a:ea typeface="Microsoft YaHei"/>
              </a:rPr>
              <a:t>流量</a:t>
            </a:r>
            <a:r>
              <a:rPr lang="en-US" sz="825">
                <a:solidFill>
                  <a:srgbClr val="64748B"/>
                </a:solidFill>
                <a:latin typeface="Microsoft YaHei"/>
                <a:ea typeface="Microsoft YaHei"/>
              </a:rPr>
              <a:t> / </a:t>
            </a:r>
            <a:r>
              <a:rPr lang="zh-CN" sz="825">
                <a:solidFill>
                  <a:srgbClr val="64748B"/>
                </a:solidFill>
                <a:latin typeface="Microsoft YaHei"/>
                <a:ea typeface="Microsoft YaHei"/>
              </a:rPr>
              <a:t>转速</a:t>
            </a:r>
            <a:endParaRPr/>
          </a:p>
        </p:txBody>
      </p:sp>
      <p:sp>
        <p:nvSpPr>
          <p:cNvPr id="45" name=""/>
          <p:cNvSpPr/>
          <p:nvPr/>
        </p:nvSpPr>
        <p:spPr>
          <a:xfrm rot="0" flipH="0" flipV="0">
            <a:off x="8963025" y="1323975"/>
            <a:ext cx="2695575" cy="1895475"/>
          </a:xfrm>
          <a:prstGeom prst="roundRect">
            <a:avLst>
              <a:gd name="adj" fmla="val 4020"/>
            </a:avLst>
          </a:prstGeom>
          <a:solidFill>
            <a:srgbClr val="0F172A"/>
          </a:solidFill>
          <a:ln/>
        </p:spPr>
        <p:txBody>
          <a:bodyPr/>
          <a:p/>
        </p:txBody>
      </p:sp>
      <p:sp>
        <p:nvSpPr>
          <p:cNvPr id="46" name=""/>
          <p:cNvSpPr/>
          <p:nvPr/>
        </p:nvSpPr>
        <p:spPr>
          <a:xfrm rot="0" flipH="0" flipV="0">
            <a:off x="8963025" y="1323975"/>
            <a:ext cx="2695575" cy="1895475"/>
          </a:xfrm>
          <a:custGeom>
            <a:pathLst>
              <a:path w="283" h="199">
                <a:moveTo>
                  <a:pt x="275" y="0"/>
                </a:moveTo>
                <a:cubicBezTo>
                  <a:pt x="279" y="0"/>
                  <a:pt x="282" y="3"/>
                  <a:pt x="283" y="7"/>
                </a:cubicBezTo>
                <a:cubicBezTo>
                  <a:pt x="282" y="4"/>
                  <a:pt x="280" y="3"/>
                  <a:pt x="278" y="3"/>
                </a:cubicBezTo>
                <a:lnTo>
                  <a:pt x="5" y="3"/>
                </a:lnTo>
                <a:cubicBezTo>
                  <a:pt x="3" y="3"/>
                  <a:pt x="1" y="5"/>
                  <a:pt x="0" y="7"/>
                </a:cubicBezTo>
                <a:cubicBezTo>
                  <a:pt x="1" y="3"/>
                  <a:pt x="4" y="0"/>
                  <a:pt x="8" y="0"/>
                </a:cubicBezTo>
                <a:lnTo>
                  <a:pt x="275" y="0"/>
                </a:lnTo>
                <a:close/>
              </a:path>
            </a:pathLst>
          </a:custGeom>
          <a:solidFill>
            <a:srgbClr val="8B5CF6"/>
          </a:solidFill>
          <a:ln/>
        </p:spPr>
        <p:txBody>
          <a:bodyPr/>
          <a:p/>
        </p:txBody>
      </p:sp>
      <p:sp>
        <p:nvSpPr>
          <p:cNvPr id="47" name="" descr="{&quot;isTemplate&quot;:true,&quot;type&quot;:&quot;text&quot;}"/>
          <p:cNvSpPr txBox="1"/>
          <p:nvPr/>
        </p:nvSpPr>
        <p:spPr>
          <a:xfrm rot="0" flipH="0" flipV="0">
            <a:off x="9191625" y="1552575"/>
            <a:ext cx="2238375" cy="7334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4800" b="1">
                <a:solidFill>
                  <a:srgbClr val="8B5CF6"/>
                </a:solidFill>
                <a:latin typeface="Microsoft YaHei"/>
                <a:ea typeface="Microsoft YaHei"/>
              </a:rPr>
              <a:t>1024</a:t>
            </a:r>
            <a:endParaRPr/>
          </a:p>
        </p:txBody>
      </p:sp>
      <p:sp>
        <p:nvSpPr>
          <p:cNvPr id="48" name="" descr="{&quot;isTemplate&quot;:true,&quot;type&quot;:&quot;text&quot;}"/>
          <p:cNvSpPr txBox="1"/>
          <p:nvPr/>
        </p:nvSpPr>
        <p:spPr>
          <a:xfrm rot="0" flipH="0" flipV="0">
            <a:off x="9191625" y="2343150"/>
            <a:ext cx="22383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94A3B8"/>
                </a:solidFill>
                <a:latin typeface="Microsoft YaHei"/>
                <a:ea typeface="Microsoft YaHei"/>
              </a:rPr>
              <a:t>维向量</a:t>
            </a:r>
            <a:endParaRPr/>
          </a:p>
        </p:txBody>
      </p:sp>
      <p:sp>
        <p:nvSpPr>
          <p:cNvPr id="49" name="" descr="{&quot;isTemplate&quot;:true,&quot;type&quot;:&quot;text&quot;}"/>
          <p:cNvSpPr txBox="1"/>
          <p:nvPr/>
        </p:nvSpPr>
        <p:spPr>
          <a:xfrm rot="0" flipH="0" flipV="0">
            <a:off x="9191625" y="2581275"/>
            <a:ext cx="2238375" cy="3810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en-US" sz="825">
                <a:solidFill>
                  <a:srgbClr val="64748B"/>
                </a:solidFill>
                <a:latin typeface="Microsoft YaHei"/>
                <a:ea typeface="Microsoft YaHei"/>
              </a:rPr>
              <a:t>text-embedding-v3 · pgvector </a:t>
            </a:r>
            <a:r>
              <a:rPr lang="zh-CN" sz="825">
                <a:solidFill>
                  <a:srgbClr val="64748B"/>
                </a:solidFill>
                <a:latin typeface="Microsoft YaHei"/>
                <a:ea typeface="Microsoft YaHei"/>
              </a:rPr>
              <a:t>可选</a:t>
            </a:r>
            <a:r>
              <a:rPr lang="en-US" sz="825">
                <a:solidFill>
                  <a:srgbClr val="64748B"/>
                </a:solidFill>
                <a:latin typeface="Microsoft YaHei"/>
                <a:ea typeface="Microsoft YaHei"/>
              </a:rPr>
              <a:t> · HNSW </a:t>
            </a:r>
            <a:r>
              <a:rPr lang="zh-CN" sz="825">
                <a:solidFill>
                  <a:srgbClr val="64748B"/>
                </a:solidFill>
                <a:latin typeface="Microsoft YaHei"/>
                <a:ea typeface="Microsoft YaHei"/>
              </a:rPr>
              <a:t>索引</a:t>
            </a:r>
            <a:endParaRPr/>
          </a:p>
        </p:txBody>
      </p:sp>
      <p:sp>
        <p:nvSpPr>
          <p:cNvPr id="50" name=""/>
          <p:cNvSpPr/>
          <p:nvPr/>
        </p:nvSpPr>
        <p:spPr>
          <a:xfrm rot="0" flipH="0" flipV="0">
            <a:off x="533400" y="3381375"/>
            <a:ext cx="3629025" cy="1323975"/>
          </a:xfrm>
          <a:prstGeom prst="roundRect">
            <a:avLst>
              <a:gd name="adj" fmla="val 4317"/>
            </a:avLst>
          </a:prstGeom>
          <a:solidFill>
            <a:srgbClr val="0F172A"/>
          </a:solidFill>
          <a:ln/>
        </p:spPr>
        <p:txBody>
          <a:bodyPr/>
          <a:p/>
        </p:txBody>
      </p:sp>
      <p:sp>
        <p:nvSpPr>
          <p:cNvPr id="51" name="" descr="{&quot;isTemplate&quot;:true,&quot;type&quot;:&quot;text&quot;}"/>
          <p:cNvSpPr txBox="1"/>
          <p:nvPr/>
        </p:nvSpPr>
        <p:spPr>
          <a:xfrm rot="0" flipH="0" flipV="0">
            <a:off x="685800" y="3533775"/>
            <a:ext cx="33242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06B6D4"/>
                </a:solidFill>
                <a:latin typeface="Microsoft YaHei"/>
                <a:ea typeface="Microsoft YaHei"/>
              </a:rPr>
              <a:t>JSONB </a:t>
            </a:r>
            <a:r>
              <a:rPr lang="zh-CN" sz="975">
                <a:solidFill>
                  <a:srgbClr val="06B6D4"/>
                </a:solidFill>
                <a:latin typeface="Microsoft YaHei"/>
                <a:ea typeface="Microsoft YaHei"/>
              </a:rPr>
              <a:t>关键字段</a:t>
            </a:r>
            <a:endParaRPr/>
          </a:p>
        </p:txBody>
      </p:sp>
      <p:sp>
        <p:nvSpPr>
          <p:cNvPr id="52" name="" descr="{&quot;isTemplate&quot;:true,&quot;type&quot;:&quot;text&quot;}"/>
          <p:cNvSpPr txBox="1"/>
          <p:nvPr/>
        </p:nvSpPr>
        <p:spPr>
          <a:xfrm rot="0" flipH="0" flipV="0">
            <a:off x="685800" y="3743325"/>
            <a:ext cx="3324225" cy="8096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en-US" sz="825">
                <a:solidFill>
                  <a:srgbClr val="CBD5E1"/>
                </a:solidFill>
                <a:latin typeface="monospace"/>
                <a:ea typeface="monospace"/>
              </a:rPr>
              <a:t>work_orders.safety_requirements / repair_log / acceptance</a:t>
            </a:r>
            <a:endParaRPr/>
          </a:p>
          <a:p>
            <a:pPr>
              <a:lnSpc>
                <a:spcPct val="160000"/>
              </a:lnSpc>
            </a:pPr>
            <a:r>
              <a:rPr lang="en-US" sz="825">
                <a:solidFill>
                  <a:srgbClr val="CBD5E1"/>
                </a:solidFill>
                <a:latin typeface="monospace"/>
                <a:ea typeface="monospace"/>
              </a:rPr>
              <a:t>safety_permits.guardian_approval / supervisor_approval</a:t>
            </a:r>
            <a:endParaRPr/>
          </a:p>
        </p:txBody>
      </p:sp>
      <p:sp>
        <p:nvSpPr>
          <p:cNvPr id="53" name=""/>
          <p:cNvSpPr/>
          <p:nvPr/>
        </p:nvSpPr>
        <p:spPr>
          <a:xfrm rot="0" flipH="0" flipV="0">
            <a:off x="4276725" y="3381375"/>
            <a:ext cx="3638550" cy="1323975"/>
          </a:xfrm>
          <a:prstGeom prst="roundRect">
            <a:avLst>
              <a:gd name="adj" fmla="val 4317"/>
            </a:avLst>
          </a:prstGeom>
          <a:solidFill>
            <a:srgbClr val="0F172A"/>
          </a:solidFill>
          <a:ln/>
        </p:spPr>
        <p:txBody>
          <a:bodyPr/>
          <a:p/>
        </p:txBody>
      </p:sp>
      <p:sp>
        <p:nvSpPr>
          <p:cNvPr id="54" name="" descr="{&quot;isTemplate&quot;:true,&quot;type&quot;:&quot;text&quot;}"/>
          <p:cNvSpPr txBox="1"/>
          <p:nvPr/>
        </p:nvSpPr>
        <p:spPr>
          <a:xfrm rot="0" flipH="0" flipV="0">
            <a:off x="4429125" y="3533775"/>
            <a:ext cx="33337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F59E0B"/>
                </a:solidFill>
                <a:latin typeface="Microsoft YaHei"/>
                <a:ea typeface="Microsoft YaHei"/>
              </a:rPr>
              <a:t>乐观锁</a:t>
            </a:r>
            <a:endParaRPr/>
          </a:p>
        </p:txBody>
      </p:sp>
      <p:sp>
        <p:nvSpPr>
          <p:cNvPr id="55" name="" descr="{&quot;isTemplate&quot;:true,&quot;type&quot;:&quot;text&quot;}"/>
          <p:cNvSpPr txBox="1"/>
          <p:nvPr/>
        </p:nvSpPr>
        <p:spPr>
          <a:xfrm rot="0" flipH="0" flipV="0">
            <a:off x="4429125" y="3743325"/>
            <a:ext cx="3333750" cy="4095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825">
                <a:solidFill>
                  <a:srgbClr val="CBD5E1"/>
                </a:solidFill>
                <a:latin typeface="monospace"/>
                <a:ea typeface="monospace"/>
              </a:rPr>
              <a:t>work_orders.version INTEGER DEFAULT 1</a:t>
            </a:r>
            <a:endParaRPr/>
          </a:p>
          <a:p>
            <a:pPr>
              <a:lnSpc>
                <a:spcPct val="160000"/>
              </a:lnSpc>
            </a:pPr>
            <a:r>
              <a:rPr lang="en-US" sz="825">
                <a:solidFill>
                  <a:srgbClr val="CBD5E1"/>
                </a:solidFill>
                <a:latin typeface="monospace"/>
                <a:ea typeface="monospace"/>
              </a:rPr>
              <a:t>UPDATE … WHERE id=? AND version=? → 0 </a:t>
            </a:r>
            <a:r>
              <a:rPr lang="zh-CN" sz="825">
                <a:solidFill>
                  <a:srgbClr val="CBD5E1"/>
                </a:solidFill>
                <a:latin typeface="monospace"/>
                <a:ea typeface="monospace"/>
              </a:rPr>
              <a:t>行返</a:t>
            </a:r>
            <a:r>
              <a:rPr lang="en-US" sz="825">
                <a:solidFill>
                  <a:srgbClr val="CBD5E1"/>
                </a:solidFill>
                <a:latin typeface="monospace"/>
                <a:ea typeface="monospace"/>
              </a:rPr>
              <a:t> 409</a:t>
            </a:r>
            <a:endParaRPr/>
          </a:p>
        </p:txBody>
      </p:sp>
      <p:sp>
        <p:nvSpPr>
          <p:cNvPr id="56" name=""/>
          <p:cNvSpPr/>
          <p:nvPr/>
        </p:nvSpPr>
        <p:spPr>
          <a:xfrm rot="0" flipH="0" flipV="0">
            <a:off x="8029575" y="3381375"/>
            <a:ext cx="3629025" cy="1323975"/>
          </a:xfrm>
          <a:prstGeom prst="roundRect">
            <a:avLst>
              <a:gd name="adj" fmla="val 4317"/>
            </a:avLst>
          </a:prstGeom>
          <a:solidFill>
            <a:srgbClr val="0F172A"/>
          </a:solidFill>
          <a:ln/>
        </p:spPr>
        <p:txBody>
          <a:bodyPr/>
          <a:p/>
        </p:txBody>
      </p:sp>
      <p:sp>
        <p:nvSpPr>
          <p:cNvPr id="57" name="" descr="{&quot;isTemplate&quot;:true,&quot;type&quot;:&quot;text&quot;}"/>
          <p:cNvSpPr txBox="1"/>
          <p:nvPr/>
        </p:nvSpPr>
        <p:spPr>
          <a:xfrm rot="0" flipH="0" flipV="0">
            <a:off x="8181975" y="3533775"/>
            <a:ext cx="33242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10B981"/>
                </a:solidFill>
                <a:latin typeface="Microsoft YaHei"/>
                <a:ea typeface="Microsoft YaHei"/>
              </a:rPr>
              <a:t>PGlite </a:t>
            </a:r>
            <a:r>
              <a:rPr lang="zh-CN" sz="975">
                <a:solidFill>
                  <a:srgbClr val="10B981"/>
                </a:solidFill>
                <a:latin typeface="Microsoft YaHei"/>
                <a:ea typeface="Microsoft YaHei"/>
              </a:rPr>
              <a:t>自愈</a:t>
            </a:r>
            <a:endParaRPr/>
          </a:p>
        </p:txBody>
      </p:sp>
      <p:sp>
        <p:nvSpPr>
          <p:cNvPr id="58" name="" descr="{&quot;isTemplate&quot;:true,&quot;type&quot;:&quot;text&quot;}"/>
          <p:cNvSpPr txBox="1"/>
          <p:nvPr/>
        </p:nvSpPr>
        <p:spPr>
          <a:xfrm rot="0" flipH="0" flipV="0">
            <a:off x="8181975" y="3743325"/>
            <a:ext cx="3324225" cy="4095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825">
                <a:solidFill>
                  <a:srgbClr val="CBD5E1"/>
                </a:solidFill>
                <a:latin typeface="monospace"/>
                <a:ea typeface="monospace"/>
              </a:rPr>
              <a:t>openPgliteWithFallback() → </a:t>
            </a:r>
            <a:r>
              <a:rPr lang="zh-CN" sz="825">
                <a:solidFill>
                  <a:srgbClr val="CBD5E1"/>
                </a:solidFill>
                <a:latin typeface="monospace"/>
                <a:ea typeface="monospace"/>
              </a:rPr>
              <a:t>损坏自动回退到</a:t>
            </a:r>
            <a:r>
              <a:rPr lang="en-US" sz="825">
                <a:solidFill>
                  <a:srgbClr val="CBD5E1"/>
                </a:solidFill>
                <a:latin typeface="monospace"/>
                <a:ea typeface="monospace"/>
              </a:rPr>
              <a:t> data.bak-*</a:t>
            </a:r>
            <a:endParaRPr/>
          </a:p>
          <a:p>
            <a:pPr>
              <a:lnSpc>
                <a:spcPct val="160000"/>
              </a:lnSpc>
            </a:pPr>
            <a:r>
              <a:rPr lang="zh-CN" sz="825">
                <a:solidFill>
                  <a:srgbClr val="CBD5E1"/>
                </a:solidFill>
                <a:latin typeface="monospace"/>
                <a:ea typeface="monospace"/>
              </a:rPr>
              <a:t>最近</a:t>
            </a:r>
            <a:r>
              <a:rPr lang="en-US" sz="825">
                <a:solidFill>
                  <a:srgbClr val="CBD5E1"/>
                </a:solidFill>
                <a:latin typeface="monospace"/>
                <a:ea typeface="monospace"/>
              </a:rPr>
              <a:t> 3 </a:t>
            </a:r>
            <a:r>
              <a:rPr lang="zh-CN" sz="825">
                <a:solidFill>
                  <a:srgbClr val="CBD5E1"/>
                </a:solidFill>
                <a:latin typeface="monospace"/>
                <a:ea typeface="monospace"/>
              </a:rPr>
              <a:t>个备份保留</a:t>
            </a:r>
            <a:r>
              <a:rPr lang="en-US" sz="825">
                <a:solidFill>
                  <a:srgbClr val="CBD5E1"/>
                </a:solidFill>
                <a:latin typeface="monospace"/>
                <a:ea typeface="monospace"/>
              </a:rPr>
              <a:t> · .pglite-active.json </a:t>
            </a:r>
            <a:r>
              <a:rPr lang="zh-CN" sz="825">
                <a:solidFill>
                  <a:srgbClr val="CBD5E1"/>
                </a:solidFill>
                <a:latin typeface="monospace"/>
                <a:ea typeface="monospace"/>
              </a:rPr>
              <a:t>仲裁</a:t>
            </a:r>
            <a:endParaRPr/>
          </a:p>
        </p:txBody>
      </p:sp>
      <p:sp>
        <p:nvSpPr>
          <p:cNvPr id="59" name="" descr="{&quot;isTemplate&quot;:true,&quot;type&quot;:&quot;text&quot;}"/>
          <p:cNvSpPr txBox="1"/>
          <p:nvPr/>
        </p:nvSpPr>
        <p:spPr>
          <a:xfrm rot="0" flipH="0" flipV="0">
            <a:off x="11268075" y="6524625"/>
            <a:ext cx="3905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475569"/>
                </a:solidFill>
                <a:latin typeface="Microsoft YaHei"/>
                <a:ea typeface="Microsoft YaHei"/>
              </a:rPr>
              <a:t>10 / 12</a:t>
            </a:r>
            <a:endParaRPr/>
          </a:p>
        </p:txBody>
      </p:sp>
    </p:spTree>
  </p:cSld>
</p:sld>
</file>

<file path=ppt/slides/slide11.xml><?xml version="1.0" encoding="utf-8"?>
<p:sld xmlns:p="http://schemas.openxmlformats.org/presentationml/2006/main" xmlns:a="http://schemas.openxmlformats.org/drawingml/2006/main">
  <p:cSld>
    <p:spTree>
      <p:nvGrpSpPr>
        <p:cNvPr id="60" name="" descr="&lt;Slide style={{ width: '1280px', height: '720px', padding: '40px 56px', backgroundColor: '#0b1220' }}&gt;&#10;    &lt;Box style={{ display: 'flex', alignItems: 'center', marginBottom: '20px' }}&gt;&#10;      &lt;Text style={{ fontSize: '14px', color: '#06b6d4', letterSpacing: '3px' }}&gt;DIFFERENTIATORS · WHY US&lt;/Text&gt;&#10;      &lt;Box style={{ flex: '1', height: '1px', backgroundColor: '#1e293b', marginLeft: '20px' }} /&gt;&#10;    &lt;/Box&gt;&#10;&#10;    &lt;Text style={{&#10;      fontSize: '32px', fontWeight: 'bold', color: '#e2e8f0', marginBottom: '8px',&#10;    }}&gt;&#10;      三大&lt;span style={{ color: '#f59e0b' }}&gt;差异化&lt;/span&gt;创新&#10;    &lt;/Text&gt;&#10;    &lt;Text style={{ fontSize: '14px', color: '#94a3b8', marginBottom: '24px' }}&gt;&#10;      不是更多功能，而是把每个细节做到生产可用&#10;    &lt;/Text&gt;&#10;&#10;    &lt;Box style={{ display: 'flex', gap: '16px', height: '420px' }}&gt;&#10;      &lt;Box style={{&#10;        flex: 1, padding: '24px', backgroundColor: '#0f172a', borderRadius: '8px',&#10;        borderTop: '3px solid #06b6d4',&#10;        display: 'flex', flexDirection: 'column',&#10;      }}&gt;&#10;        &lt;Text style={{ fontSize: '13px', color: '#06b6d4', letterSpacing: '1px', marginBottom: '8px' }}&gt;&#10;          01&#10;        &lt;/Text&gt;&#10;        &lt;Text style={{ fontSize: '22px', fontWeight: 'bold', color: '#e2e8f0', marginBottom: '12px' }}&gt;&#10;          跨 iframe 拖拽&#10;        &lt;/Text&gt;&#10;        &lt;Text style={{ fontSize: '13px', color: '#94a3b8', lineHeight: '1.7', marginBottom: '12px' }}&gt;&#10;          悬浮 AI 球压在 Godot 检修闯关的 iframe 上。父 window 的 mousemove 会被 iframe 切断，表现为「拖两步就卡」。&#10;        &lt;/Text&gt;&#10;        &lt;Box style={{ marginTop: 'auto', padding: '12px', backgroundColor: '#1e293b', borderRadius: '4px' }}&gt;&#10;          &lt;Text style={{ fontSize: '12px', color: '#06b6d4', marginBottom: '4px' }}&gt;解决方案&lt;/Text&gt;&#10;          &lt;Text style={{ fontSize: '11px', color: '#cbd5e1', lineHeight: '1.6', fontFamily: 'monospace' }}&gt;&#10;            onPointerDown → setPointerCapture(e.pointerId)&#10;            {'\n'}+ window pointermove/pointerup 监听&#10;          &lt;/Text&gt;&#10;        &lt;/Box&gt;&#10;        &lt;Text style={{ fontSize: '11px', color: '#f59e0b', marginTop: '8px' }}&gt;&#10;          验收脚本 commit 72a7fd3 · 位移 14/11 → 142.8/112.8 px&#10;        &lt;/Text&gt;&#10;      &lt;/Box&gt;&#10;&#10;      &lt;Box style={{&#10;        flex: 1, padding: '24px', backgroundColor: '#0f172a', borderRadius: '8px',&#10;        borderTop: '3px solid #f59e0b',&#10;        display: 'flex', flexDirection: 'column',&#10;      }}&gt;&#10;        &lt;Text style={{ fontSize: '13px', color: '#f59e0b', letterSpacing: '1px', marginBottom: '8px' }}&gt;&#10;          02&#10;        &lt;/Text&gt;&#10;        &lt;Text style={{ fontSize: '22px', fontWeight: 'bold', color: '#e2e8f0', marginBottom: '12px' }}&gt;&#10;          设备单台特征化&#10;        &lt;/Text&gt;&#10;        &lt;Text style={{ fontSize: '13px', color: '#94a3b8', lineHeight: '1.7', marginBottom: '12px' }}&gt;&#10;          每台设备的 3D 模型都用独立 GLB 资源 + 独立 EQUIPMENT_GLB_MAP 映射行（追加安全，重排不安全）。&#10;        &lt;/Text&gt;&#10;        &lt;Box style={{ marginTop: 'auto', padding: '12px', backgroundColor: '#1e293b', borderRadius: '4px' }}&gt;&#10;          &lt;Text style={{ fontSize: '12px', color: '#f59e0b', marginBottom: '4px' }}&gt;反「克隆复制」&lt;/Text&gt;&#10;          &lt;Text style={{ fontSize: '11px', color: '#cbd5e1', lineHeight: '1.6' }}&gt;&#10;            离心泵 / 压缩机 / 减速箱 / 机床 / 容器 5 类各自不同的几何 + 故障表现&#10;          &lt;/Text&gt;&#10;        &lt;/Box&gt;&#10;        &lt;Text style={{ fontSize: '11px', color: '#64748b', marginTop: '8px' }}&gt;&#10;          AGENTS.md 显式列出所有权：src/components/equipment3d/equipment.ts 77-100 行&#10;        &lt;/Text&gt;&#10;      &lt;/Box&gt;&#10;&#10;      &lt;Box style={{&#10;        flex: 1, padding: '24px', backgroundColor: '#0f172a', borderRadius: '8px',&#10;        borderTop: '3px solid #10b981',&#10;        display: 'flex', flexDirection: 'column',&#10;      }}&gt;&#10;        &lt;Text style={{ fontSize: '13px', color: '#10b981', letterSpacing: '1px', marginBottom: '8px' }}&gt;&#10;          03&#10;        &lt;/Text&gt;&#10;        &lt;Text style={{ fontSize: '22px', fontWeight: 'bold', color: '#e2e8f0', marginBottom: '12px' }}&gt;&#10;          单进程双形态&#10;        &lt;/Text&gt;&#10;        &lt;Text style={{ fontSize: '13px', color: '#94a3b8', lineHeight: '1.7', marginBottom: '12px' }}&gt;&#10;          开发 PGlite / npm run dev；生产 PostgreSQL / Docker。一份代码、零外部 DB 依赖、DB_TYPE 环境变量切换。&#10;        &lt;/Text&gt;&#10;        &lt;Box style={{ marginTop: 'auto', padding: '12px', backgroundColor: '#1e293b', borderRadius: '4px' }}&gt;&#10;          &lt;Text style={{ fontSize: '12px', color: '#10b981', marginBottom: '4px' }}&gt;真正的「一条命令启动」&lt;/Text&gt;&#10;          &lt;Text style={{ fontSize: '11px', color: '#cbd5e1', lineHeight: '1.6', fontFamily: 'monospace' }}&gt;&#10;            docker compose up -d&#10;            {'\n'}→ http://localhost:3000&#10;          &lt;/Text&gt;&#10;        &lt;/Box&gt;&#10;        &lt;Text style={{ fontSize: '11px', color: '#64748b', marginTop: '8px' }}&gt;&#10;          Vite middleware 模式：前端改动 HMR 即时刷新，无需重启&#10;        &lt;/Text&gt;&#10;      &lt;/Box&gt;&#10;    &lt;/Box&gt;&#10;&#10;    &lt;Box style={{ position: 'absolute', bottom: '20px', right: '56px' }}&gt;&#10;      &lt;Text style={{ fontSize: '12px', color: '#475569' }}&gt;11 / 12&lt;/Text&gt;&#10;    &lt;/Box&gt;&#10;  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/>
        </p:spPr>
        <p:txBody>
          <a:bodyPr/>
          <a:p/>
        </p:txBody>
      </p:sp>
      <p:sp>
        <p:nvSpPr>
          <p:cNvPr id="62" name="" descr="{&quot;isTemplate&quot;:true,&quot;type&quot;:&quot;text&quot;}"/>
          <p:cNvSpPr txBox="1"/>
          <p:nvPr/>
        </p:nvSpPr>
        <p:spPr>
          <a:xfrm rot="0" flipH="0" flipV="0">
            <a:off x="533400" y="381000"/>
            <a:ext cx="25241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225">
                <a:solidFill>
                  <a:srgbClr val="06B6D4"/>
                </a:solidFill>
                <a:latin typeface="Microsoft YaHei"/>
                <a:ea typeface="Microsoft YaHei"/>
              </a:rPr>
              <a:t>DIFFERENTIATORS · WHY US</a:t>
            </a:r>
            <a:endParaRPr/>
          </a:p>
        </p:txBody>
      </p:sp>
      <p:sp>
        <p:nvSpPr>
          <p:cNvPr id="63" name=""/>
          <p:cNvSpPr/>
          <p:nvPr/>
        </p:nvSpPr>
        <p:spPr>
          <a:xfrm rot="0" flipH="0" flipV="0">
            <a:off x="3248025" y="457200"/>
            <a:ext cx="8410575" cy="9525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p/>
        </p:txBody>
      </p:sp>
      <p:sp>
        <p:nvSpPr>
          <p:cNvPr id="64" name="" descr="{&quot;isTemplate&quot;:true,&quot;type&quot;:&quot;text&quot;}"/>
          <p:cNvSpPr txBox="1"/>
          <p:nvPr/>
        </p:nvSpPr>
        <p:spPr>
          <a:xfrm rot="0" flipH="0" flipV="0">
            <a:off x="533400" y="733425"/>
            <a:ext cx="111252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E2E8F0"/>
                </a:solidFill>
                <a:latin typeface="Microsoft YaHei"/>
                <a:ea typeface="Microsoft YaHei"/>
              </a:rPr>
              <a:t>三大</a:t>
            </a:r>
            <a:r>
              <a:rPr lang="zh-CN" sz="2400" b="1">
                <a:solidFill>
                  <a:srgbClr val="F59E0B"/>
                </a:solidFill>
                <a:latin typeface="Microsoft YaHei"/>
                <a:ea typeface="Microsoft YaHei"/>
              </a:rPr>
              <a:t>差异化</a:t>
            </a:r>
            <a:r>
              <a:rPr lang="zh-CN" sz="2400" b="1">
                <a:solidFill>
                  <a:srgbClr val="E2E8F0"/>
                </a:solidFill>
                <a:latin typeface="Microsoft YaHei"/>
                <a:ea typeface="Microsoft YaHei"/>
              </a:rPr>
              <a:t>创新</a:t>
            </a:r>
            <a:endParaRPr/>
          </a:p>
        </p:txBody>
      </p:sp>
      <p:sp>
        <p:nvSpPr>
          <p:cNvPr id="65" name="" descr="{&quot;isTemplate&quot;:true,&quot;type&quot;:&quot;text&quot;}"/>
          <p:cNvSpPr txBox="1"/>
          <p:nvPr/>
        </p:nvSpPr>
        <p:spPr>
          <a:xfrm rot="0" flipH="0" flipV="0">
            <a:off x="533400" y="1181100"/>
            <a:ext cx="11125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94A3B8"/>
                </a:solidFill>
                <a:latin typeface="Microsoft YaHei"/>
                <a:ea typeface="Microsoft YaHei"/>
              </a:rPr>
              <a:t>不是更多功能，而是把每个细节做到生产可用</a:t>
            </a:r>
            <a:endParaRPr/>
          </a:p>
        </p:txBody>
      </p:sp>
      <p:sp>
        <p:nvSpPr>
          <p:cNvPr id="66" name=""/>
          <p:cNvSpPr/>
          <p:nvPr/>
        </p:nvSpPr>
        <p:spPr>
          <a:xfrm rot="0" flipH="0" flipV="0">
            <a:off x="533400" y="1600200"/>
            <a:ext cx="3609975" cy="4000500"/>
          </a:xfrm>
          <a:prstGeom prst="roundRect">
            <a:avLst>
              <a:gd name="adj" fmla="val 2111"/>
            </a:avLst>
          </a:prstGeom>
          <a:solidFill>
            <a:srgbClr val="0F172A"/>
          </a:solidFill>
          <a:ln/>
        </p:spPr>
        <p:txBody>
          <a:bodyPr/>
          <a:p/>
        </p:txBody>
      </p:sp>
      <p:sp>
        <p:nvSpPr>
          <p:cNvPr id="67" name=""/>
          <p:cNvSpPr/>
          <p:nvPr/>
        </p:nvSpPr>
        <p:spPr>
          <a:xfrm rot="0" flipH="0" flipV="0">
            <a:off x="533400" y="1600200"/>
            <a:ext cx="3609975" cy="4000500"/>
          </a:xfrm>
          <a:custGeom>
            <a:pathLst>
              <a:path w="379" h="420">
                <a:moveTo>
                  <a:pt x="371" y="0"/>
                </a:moveTo>
                <a:cubicBezTo>
                  <a:pt x="375" y="0"/>
                  <a:pt x="378" y="3"/>
                  <a:pt x="379" y="7"/>
                </a:cubicBezTo>
                <a:cubicBezTo>
                  <a:pt x="378" y="4"/>
                  <a:pt x="376" y="3"/>
                  <a:pt x="374" y="3"/>
                </a:cubicBezTo>
                <a:lnTo>
                  <a:pt x="5" y="3"/>
                </a:lnTo>
                <a:cubicBezTo>
                  <a:pt x="3" y="3"/>
                  <a:pt x="1" y="5"/>
                  <a:pt x="0" y="7"/>
                </a:cubicBezTo>
                <a:cubicBezTo>
                  <a:pt x="1" y="3"/>
                  <a:pt x="4" y="0"/>
                  <a:pt x="8" y="0"/>
                </a:cubicBezTo>
                <a:lnTo>
                  <a:pt x="371" y="0"/>
                </a:lnTo>
                <a:close/>
              </a:path>
            </a:pathLst>
          </a:custGeom>
          <a:solidFill>
            <a:srgbClr val="06B6D4"/>
          </a:solidFill>
          <a:ln/>
        </p:spPr>
        <p:txBody>
          <a:bodyPr/>
          <a:p/>
        </p:txBody>
      </p:sp>
      <p:sp>
        <p:nvSpPr>
          <p:cNvPr id="68" name="" descr="{&quot;isTemplate&quot;:true,&quot;type&quot;:&quot;text&quot;}"/>
          <p:cNvSpPr txBox="1"/>
          <p:nvPr/>
        </p:nvSpPr>
        <p:spPr>
          <a:xfrm rot="0" flipH="0" flipV="0">
            <a:off x="762000" y="1828800"/>
            <a:ext cx="31527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spc="75">
                <a:solidFill>
                  <a:srgbClr val="06B6D4"/>
                </a:solidFill>
                <a:latin typeface="Microsoft YaHei"/>
                <a:ea typeface="Microsoft YaHei"/>
              </a:rPr>
              <a:t>01</a:t>
            </a:r>
            <a:endParaRPr/>
          </a:p>
        </p:txBody>
      </p:sp>
      <p:sp>
        <p:nvSpPr>
          <p:cNvPr id="69" name="" descr="{&quot;isTemplate&quot;:true,&quot;type&quot;:&quot;text&quot;}"/>
          <p:cNvSpPr txBox="1"/>
          <p:nvPr/>
        </p:nvSpPr>
        <p:spPr>
          <a:xfrm rot="0" flipH="0" flipV="0">
            <a:off x="762000" y="2057400"/>
            <a:ext cx="315277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E2E8F0"/>
                </a:solidFill>
                <a:latin typeface="Microsoft YaHei"/>
                <a:ea typeface="Microsoft YaHei"/>
              </a:rPr>
              <a:t>跨</a:t>
            </a:r>
            <a:r>
              <a:rPr lang="en-US" sz="1650" b="1">
                <a:solidFill>
                  <a:srgbClr val="E2E8F0"/>
                </a:solidFill>
                <a:latin typeface="Microsoft YaHei"/>
                <a:ea typeface="Microsoft YaHei"/>
              </a:rPr>
              <a:t> iframe </a:t>
            </a:r>
            <a:r>
              <a:rPr lang="zh-CN" sz="1650" b="1">
                <a:solidFill>
                  <a:srgbClr val="E2E8F0"/>
                </a:solidFill>
                <a:latin typeface="Microsoft YaHei"/>
                <a:ea typeface="Microsoft YaHei"/>
              </a:rPr>
              <a:t>拖拽</a:t>
            </a:r>
            <a:endParaRPr/>
          </a:p>
        </p:txBody>
      </p:sp>
      <p:sp>
        <p:nvSpPr>
          <p:cNvPr id="70" name="" descr="{&quot;isTemplate&quot;:true,&quot;type&quot;:&quot;text&quot;}"/>
          <p:cNvSpPr txBox="1"/>
          <p:nvPr/>
        </p:nvSpPr>
        <p:spPr>
          <a:xfrm rot="0" flipH="0" flipV="0">
            <a:off x="762000" y="2428875"/>
            <a:ext cx="3152775" cy="7620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975">
                <a:solidFill>
                  <a:srgbClr val="94A3B8"/>
                </a:solidFill>
                <a:latin typeface="Microsoft YaHei"/>
                <a:ea typeface="Microsoft YaHei"/>
              </a:rPr>
              <a:t>悬浮</a:t>
            </a:r>
            <a:r>
              <a:rPr lang="en-US" sz="975">
                <a:solidFill>
                  <a:srgbClr val="94A3B8"/>
                </a:solidFill>
                <a:latin typeface="Microsoft YaHei"/>
                <a:ea typeface="Microsoft YaHei"/>
              </a:rPr>
              <a:t> AI </a:t>
            </a:r>
            <a:r>
              <a:rPr lang="zh-CN" sz="975">
                <a:solidFill>
                  <a:srgbClr val="94A3B8"/>
                </a:solidFill>
                <a:latin typeface="Microsoft YaHei"/>
                <a:ea typeface="Microsoft YaHei"/>
              </a:rPr>
              <a:t>球压在</a:t>
            </a:r>
            <a:r>
              <a:rPr lang="en-US" sz="975">
                <a:solidFill>
                  <a:srgbClr val="94A3B8"/>
                </a:solidFill>
                <a:latin typeface="Microsoft YaHei"/>
                <a:ea typeface="Microsoft YaHei"/>
              </a:rPr>
              <a:t> Godot </a:t>
            </a:r>
            <a:r>
              <a:rPr lang="zh-CN" sz="975">
                <a:solidFill>
                  <a:srgbClr val="94A3B8"/>
                </a:solidFill>
                <a:latin typeface="Microsoft YaHei"/>
                <a:ea typeface="Microsoft YaHei"/>
              </a:rPr>
              <a:t>检修闯关的</a:t>
            </a:r>
            <a:r>
              <a:rPr lang="en-US" sz="975">
                <a:solidFill>
                  <a:srgbClr val="94A3B8"/>
                </a:solidFill>
                <a:latin typeface="Microsoft YaHei"/>
                <a:ea typeface="Microsoft YaHei"/>
              </a:rPr>
              <a:t> iframe </a:t>
            </a:r>
            <a:r>
              <a:rPr lang="zh-CN" sz="975">
                <a:solidFill>
                  <a:srgbClr val="94A3B8"/>
                </a:solidFill>
                <a:latin typeface="Microsoft YaHei"/>
                <a:ea typeface="Microsoft YaHei"/>
              </a:rPr>
              <a:t>上。父</a:t>
            </a:r>
            <a:r>
              <a:rPr lang="en-US" sz="975">
                <a:solidFill>
                  <a:srgbClr val="94A3B8"/>
                </a:solidFill>
                <a:latin typeface="Microsoft YaHei"/>
                <a:ea typeface="Microsoft YaHei"/>
              </a:rPr>
              <a:t> window </a:t>
            </a:r>
            <a:r>
              <a:rPr lang="zh-CN" sz="975">
                <a:solidFill>
                  <a:srgbClr val="94A3B8"/>
                </a:solidFill>
                <a:latin typeface="Microsoft YaHei"/>
                <a:ea typeface="Microsoft YaHei"/>
              </a:rPr>
              <a:t>的</a:t>
            </a:r>
            <a:r>
              <a:rPr lang="en-US" sz="975">
                <a:solidFill>
                  <a:srgbClr val="94A3B8"/>
                </a:solidFill>
                <a:latin typeface="Microsoft YaHei"/>
                <a:ea typeface="Microsoft YaHei"/>
              </a:rPr>
              <a:t> mousemove </a:t>
            </a:r>
            <a:r>
              <a:rPr lang="zh-CN" sz="975">
                <a:solidFill>
                  <a:srgbClr val="94A3B8"/>
                </a:solidFill>
                <a:latin typeface="Microsoft YaHei"/>
                <a:ea typeface="Microsoft YaHei"/>
              </a:rPr>
              <a:t>会被</a:t>
            </a:r>
            <a:r>
              <a:rPr lang="en-US" sz="975">
                <a:solidFill>
                  <a:srgbClr val="94A3B8"/>
                </a:solidFill>
                <a:latin typeface="Microsoft YaHei"/>
                <a:ea typeface="Microsoft YaHei"/>
              </a:rPr>
              <a:t> iframe </a:t>
            </a:r>
            <a:r>
              <a:rPr lang="zh-CN" sz="975">
                <a:solidFill>
                  <a:srgbClr val="94A3B8"/>
                </a:solidFill>
                <a:latin typeface="Microsoft YaHei"/>
                <a:ea typeface="Microsoft YaHei"/>
              </a:rPr>
              <a:t>切断，表现为「拖两步就卡」。</a:t>
            </a:r>
            <a:endParaRPr/>
          </a:p>
        </p:txBody>
      </p:sp>
      <p:sp>
        <p:nvSpPr>
          <p:cNvPr id="71" name=""/>
          <p:cNvSpPr/>
          <p:nvPr/>
        </p:nvSpPr>
        <p:spPr>
          <a:xfrm rot="0" flipH="0" flipV="0">
            <a:off x="762000" y="4314825"/>
            <a:ext cx="3152775" cy="819150"/>
          </a:xfrm>
          <a:prstGeom prst="roundRect">
            <a:avLst>
              <a:gd name="adj" fmla="val 4651"/>
            </a:avLst>
          </a:prstGeom>
          <a:solidFill>
            <a:srgbClr val="1E293B"/>
          </a:solidFill>
          <a:ln/>
        </p:spPr>
        <p:txBody>
          <a:bodyPr/>
          <a:p/>
        </p:txBody>
      </p:sp>
      <p:sp>
        <p:nvSpPr>
          <p:cNvPr id="72" name="" descr="{&quot;isTemplate&quot;:true,&quot;type&quot;:&quot;text&quot;}"/>
          <p:cNvSpPr txBox="1"/>
          <p:nvPr/>
        </p:nvSpPr>
        <p:spPr>
          <a:xfrm rot="0" flipH="0" flipV="0">
            <a:off x="876300" y="4429125"/>
            <a:ext cx="29241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06B6D4"/>
                </a:solidFill>
                <a:latin typeface="Microsoft YaHei"/>
                <a:ea typeface="Microsoft YaHei"/>
              </a:rPr>
              <a:t>解决方案</a:t>
            </a:r>
            <a:endParaRPr/>
          </a:p>
        </p:txBody>
      </p:sp>
      <p:sp>
        <p:nvSpPr>
          <p:cNvPr id="73" name="" descr="{&quot;isTemplate&quot;:true,&quot;type&quot;:&quot;text&quot;}"/>
          <p:cNvSpPr txBox="1"/>
          <p:nvPr/>
        </p:nvSpPr>
        <p:spPr>
          <a:xfrm rot="0" flipH="0" flipV="0">
            <a:off x="876300" y="4610100"/>
            <a:ext cx="2924175" cy="4095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825">
                <a:solidFill>
                  <a:srgbClr val="CBD5E1"/>
                </a:solidFill>
                <a:latin typeface="monospace"/>
                <a:ea typeface="monospace"/>
              </a:rPr>
              <a:t>onPointerDown → setPointerCapture(e.pointerId)</a:t>
            </a:r>
            <a:endParaRPr/>
          </a:p>
          <a:p>
            <a:pPr>
              <a:lnSpc>
                <a:spcPct val="160000"/>
              </a:lnSpc>
            </a:pPr>
            <a:r>
              <a:rPr lang="en-US" sz="825">
                <a:solidFill>
                  <a:srgbClr val="CBD5E1"/>
                </a:solidFill>
                <a:latin typeface="monospace"/>
                <a:ea typeface="monospace"/>
              </a:rPr>
              <a:t>+ window pointermove/pointerup </a:t>
            </a:r>
            <a:r>
              <a:rPr lang="zh-CN" sz="825">
                <a:solidFill>
                  <a:srgbClr val="CBD5E1"/>
                </a:solidFill>
                <a:latin typeface="monospace"/>
                <a:ea typeface="monospace"/>
              </a:rPr>
              <a:t>监听</a:t>
            </a:r>
            <a:endParaRPr/>
          </a:p>
        </p:txBody>
      </p:sp>
      <p:sp>
        <p:nvSpPr>
          <p:cNvPr id="74" name="" descr="{&quot;isTemplate&quot;:true,&quot;type&quot;:&quot;text&quot;}"/>
          <p:cNvSpPr txBox="1"/>
          <p:nvPr/>
        </p:nvSpPr>
        <p:spPr>
          <a:xfrm rot="0" flipH="0" flipV="0">
            <a:off x="762000" y="5210175"/>
            <a:ext cx="31527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F59E0B"/>
                </a:solidFill>
                <a:latin typeface="Microsoft YaHei"/>
                <a:ea typeface="Microsoft YaHei"/>
              </a:rPr>
              <a:t>验收脚本</a:t>
            </a:r>
            <a:r>
              <a:rPr lang="en-US" sz="825">
                <a:solidFill>
                  <a:srgbClr val="F59E0B"/>
                </a:solidFill>
                <a:latin typeface="Microsoft YaHei"/>
                <a:ea typeface="Microsoft YaHei"/>
              </a:rPr>
              <a:t> commit 72a7fd3 · </a:t>
            </a:r>
            <a:r>
              <a:rPr lang="zh-CN" sz="825">
                <a:solidFill>
                  <a:srgbClr val="F59E0B"/>
                </a:solidFill>
                <a:latin typeface="Microsoft YaHei"/>
                <a:ea typeface="Microsoft YaHei"/>
              </a:rPr>
              <a:t>位移</a:t>
            </a:r>
            <a:r>
              <a:rPr lang="en-US" sz="825">
                <a:solidFill>
                  <a:srgbClr val="F59E0B"/>
                </a:solidFill>
                <a:latin typeface="Microsoft YaHei"/>
                <a:ea typeface="Microsoft YaHei"/>
              </a:rPr>
              <a:t> 14/11 → 142.8/112.8 px</a:t>
            </a:r>
            <a:endParaRPr/>
          </a:p>
        </p:txBody>
      </p:sp>
      <p:sp>
        <p:nvSpPr>
          <p:cNvPr id="75" name=""/>
          <p:cNvSpPr/>
          <p:nvPr/>
        </p:nvSpPr>
        <p:spPr>
          <a:xfrm rot="0" flipH="0" flipV="0">
            <a:off x="4295775" y="1600200"/>
            <a:ext cx="3600450" cy="4000500"/>
          </a:xfrm>
          <a:prstGeom prst="roundRect">
            <a:avLst>
              <a:gd name="adj" fmla="val 2116"/>
            </a:avLst>
          </a:prstGeom>
          <a:solidFill>
            <a:srgbClr val="0F172A"/>
          </a:solidFill>
          <a:ln/>
        </p:spPr>
        <p:txBody>
          <a:bodyPr/>
          <a:p/>
        </p:txBody>
      </p:sp>
      <p:sp>
        <p:nvSpPr>
          <p:cNvPr id="76" name=""/>
          <p:cNvSpPr/>
          <p:nvPr/>
        </p:nvSpPr>
        <p:spPr>
          <a:xfrm rot="0" flipH="0" flipV="0">
            <a:off x="4295775" y="1600200"/>
            <a:ext cx="3600450" cy="4000500"/>
          </a:xfrm>
          <a:custGeom>
            <a:pathLst>
              <a:path w="378" h="420">
                <a:moveTo>
                  <a:pt x="370" y="0"/>
                </a:moveTo>
                <a:cubicBezTo>
                  <a:pt x="374" y="0"/>
                  <a:pt x="377" y="3"/>
                  <a:pt x="378" y="7"/>
                </a:cubicBezTo>
                <a:cubicBezTo>
                  <a:pt x="377" y="4"/>
                  <a:pt x="375" y="3"/>
                  <a:pt x="373" y="3"/>
                </a:cubicBezTo>
                <a:lnTo>
                  <a:pt x="5" y="3"/>
                </a:lnTo>
                <a:cubicBezTo>
                  <a:pt x="3" y="3"/>
                  <a:pt x="1" y="5"/>
                  <a:pt x="0" y="7"/>
                </a:cubicBezTo>
                <a:cubicBezTo>
                  <a:pt x="1" y="3"/>
                  <a:pt x="4" y="0"/>
                  <a:pt x="8" y="0"/>
                </a:cubicBezTo>
                <a:lnTo>
                  <a:pt x="370" y="0"/>
                </a:lnTo>
                <a:close/>
              </a:path>
            </a:pathLst>
          </a:custGeom>
          <a:solidFill>
            <a:srgbClr val="F59E0B"/>
          </a:solidFill>
          <a:ln/>
        </p:spPr>
        <p:txBody>
          <a:bodyPr/>
          <a:p/>
        </p:txBody>
      </p:sp>
      <p:sp>
        <p:nvSpPr>
          <p:cNvPr id="77" name="" descr="{&quot;isTemplate&quot;:true,&quot;type&quot;:&quot;text&quot;}"/>
          <p:cNvSpPr txBox="1"/>
          <p:nvPr/>
        </p:nvSpPr>
        <p:spPr>
          <a:xfrm rot="0" flipH="0" flipV="0">
            <a:off x="4524375" y="1828800"/>
            <a:ext cx="31432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spc="75">
                <a:solidFill>
                  <a:srgbClr val="F59E0B"/>
                </a:solidFill>
                <a:latin typeface="Microsoft YaHei"/>
                <a:ea typeface="Microsoft YaHei"/>
              </a:rPr>
              <a:t>02</a:t>
            </a:r>
            <a:endParaRPr/>
          </a:p>
        </p:txBody>
      </p:sp>
      <p:sp>
        <p:nvSpPr>
          <p:cNvPr id="78" name="" descr="{&quot;isTemplate&quot;:true,&quot;type&quot;:&quot;text&quot;}"/>
          <p:cNvSpPr txBox="1"/>
          <p:nvPr/>
        </p:nvSpPr>
        <p:spPr>
          <a:xfrm rot="0" flipH="0" flipV="0">
            <a:off x="4524375" y="2057400"/>
            <a:ext cx="31432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E2E8F0"/>
                </a:solidFill>
                <a:latin typeface="Microsoft YaHei"/>
                <a:ea typeface="Microsoft YaHei"/>
              </a:rPr>
              <a:t>设备单台特征化</a:t>
            </a:r>
            <a:endParaRPr/>
          </a:p>
        </p:txBody>
      </p:sp>
      <p:sp>
        <p:nvSpPr>
          <p:cNvPr id="79" name="" descr="{&quot;isTemplate&quot;:true,&quot;type&quot;:&quot;text&quot;}"/>
          <p:cNvSpPr txBox="1"/>
          <p:nvPr/>
        </p:nvSpPr>
        <p:spPr>
          <a:xfrm rot="0" flipH="0" flipV="0">
            <a:off x="4524375" y="2428875"/>
            <a:ext cx="3143250" cy="7620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975">
                <a:solidFill>
                  <a:srgbClr val="94A3B8"/>
                </a:solidFill>
                <a:latin typeface="Microsoft YaHei"/>
                <a:ea typeface="Microsoft YaHei"/>
              </a:rPr>
              <a:t>每台设备的</a:t>
            </a:r>
            <a:r>
              <a:rPr lang="en-US" sz="975">
                <a:solidFill>
                  <a:srgbClr val="94A3B8"/>
                </a:solidFill>
                <a:latin typeface="Microsoft YaHei"/>
                <a:ea typeface="Microsoft YaHei"/>
              </a:rPr>
              <a:t> 3D </a:t>
            </a:r>
            <a:r>
              <a:rPr lang="zh-CN" sz="975">
                <a:solidFill>
                  <a:srgbClr val="94A3B8"/>
                </a:solidFill>
                <a:latin typeface="Microsoft YaHei"/>
                <a:ea typeface="Microsoft YaHei"/>
              </a:rPr>
              <a:t>模型都用独立</a:t>
            </a:r>
            <a:r>
              <a:rPr lang="en-US" sz="975">
                <a:solidFill>
                  <a:srgbClr val="94A3B8"/>
                </a:solidFill>
                <a:latin typeface="Microsoft YaHei"/>
                <a:ea typeface="Microsoft YaHei"/>
              </a:rPr>
              <a:t> GLB </a:t>
            </a:r>
            <a:r>
              <a:rPr lang="zh-CN" sz="975">
                <a:solidFill>
                  <a:srgbClr val="94A3B8"/>
                </a:solidFill>
                <a:latin typeface="Microsoft YaHei"/>
                <a:ea typeface="Microsoft YaHei"/>
              </a:rPr>
              <a:t>资源</a:t>
            </a:r>
            <a:r>
              <a:rPr lang="en-US" sz="975">
                <a:solidFill>
                  <a:srgbClr val="94A3B8"/>
                </a:solidFill>
                <a:latin typeface="Microsoft YaHei"/>
                <a:ea typeface="Microsoft YaHei"/>
              </a:rPr>
              <a:t> + </a:t>
            </a:r>
            <a:r>
              <a:rPr lang="zh-CN" sz="975">
                <a:solidFill>
                  <a:srgbClr val="94A3B8"/>
                </a:solidFill>
                <a:latin typeface="Microsoft YaHei"/>
                <a:ea typeface="Microsoft YaHei"/>
              </a:rPr>
              <a:t>独立</a:t>
            </a:r>
            <a:r>
              <a:rPr lang="en-US" sz="975">
                <a:solidFill>
                  <a:srgbClr val="94A3B8"/>
                </a:solidFill>
                <a:latin typeface="Microsoft YaHei"/>
                <a:ea typeface="Microsoft YaHei"/>
              </a:rPr>
              <a:t> EQUIPMENT_GLB_MAP </a:t>
            </a:r>
            <a:r>
              <a:rPr lang="zh-CN" sz="975">
                <a:solidFill>
                  <a:srgbClr val="94A3B8"/>
                </a:solidFill>
                <a:latin typeface="Microsoft YaHei"/>
                <a:ea typeface="Microsoft YaHei"/>
              </a:rPr>
              <a:t>映射行（追加安全，重排不安全）。</a:t>
            </a:r>
            <a:endParaRPr/>
          </a:p>
        </p:txBody>
      </p:sp>
      <p:sp>
        <p:nvSpPr>
          <p:cNvPr id="80" name=""/>
          <p:cNvSpPr/>
          <p:nvPr/>
        </p:nvSpPr>
        <p:spPr>
          <a:xfrm rot="0" flipH="0" flipV="0">
            <a:off x="4524375" y="4191000"/>
            <a:ext cx="3143250" cy="819150"/>
          </a:xfrm>
          <a:prstGeom prst="roundRect">
            <a:avLst>
              <a:gd name="adj" fmla="val 4651"/>
            </a:avLst>
          </a:prstGeom>
          <a:solidFill>
            <a:srgbClr val="1E293B"/>
          </a:solidFill>
          <a:ln/>
        </p:spPr>
        <p:txBody>
          <a:bodyPr/>
          <a:p/>
        </p:txBody>
      </p:sp>
      <p:sp>
        <p:nvSpPr>
          <p:cNvPr id="81" name="" descr="{&quot;isTemplate&quot;:true,&quot;type&quot;:&quot;text&quot;}"/>
          <p:cNvSpPr txBox="1"/>
          <p:nvPr/>
        </p:nvSpPr>
        <p:spPr>
          <a:xfrm rot="0" flipH="0" flipV="0">
            <a:off x="4638675" y="4305300"/>
            <a:ext cx="29146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F59E0B"/>
                </a:solidFill>
                <a:latin typeface="Microsoft YaHei"/>
                <a:ea typeface="Microsoft YaHei"/>
              </a:rPr>
              <a:t>反「克隆复制」</a:t>
            </a:r>
            <a:endParaRPr/>
          </a:p>
        </p:txBody>
      </p:sp>
      <p:sp>
        <p:nvSpPr>
          <p:cNvPr id="82" name="" descr="{&quot;isTemplate&quot;:true,&quot;type&quot;:&quot;text&quot;}"/>
          <p:cNvSpPr txBox="1"/>
          <p:nvPr/>
        </p:nvSpPr>
        <p:spPr>
          <a:xfrm rot="0" flipH="0" flipV="0">
            <a:off x="4638675" y="4486275"/>
            <a:ext cx="2914650" cy="4095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825">
                <a:solidFill>
                  <a:srgbClr val="CBD5E1"/>
                </a:solidFill>
                <a:latin typeface="Microsoft YaHei"/>
                <a:ea typeface="Microsoft YaHei"/>
              </a:rPr>
              <a:t>离心泵</a:t>
            </a:r>
            <a:r>
              <a:rPr lang="en-US" sz="825">
                <a:solidFill>
                  <a:srgbClr val="CBD5E1"/>
                </a:solidFill>
                <a:latin typeface="Microsoft YaHei"/>
                <a:ea typeface="Microsoft YaHei"/>
              </a:rPr>
              <a:t> / </a:t>
            </a:r>
            <a:r>
              <a:rPr lang="zh-CN" sz="825">
                <a:solidFill>
                  <a:srgbClr val="CBD5E1"/>
                </a:solidFill>
                <a:latin typeface="Microsoft YaHei"/>
                <a:ea typeface="Microsoft YaHei"/>
              </a:rPr>
              <a:t>压缩机</a:t>
            </a:r>
            <a:r>
              <a:rPr lang="en-US" sz="825">
                <a:solidFill>
                  <a:srgbClr val="CBD5E1"/>
                </a:solidFill>
                <a:latin typeface="Microsoft YaHei"/>
                <a:ea typeface="Microsoft YaHei"/>
              </a:rPr>
              <a:t> / </a:t>
            </a:r>
            <a:r>
              <a:rPr lang="zh-CN" sz="825">
                <a:solidFill>
                  <a:srgbClr val="CBD5E1"/>
                </a:solidFill>
                <a:latin typeface="Microsoft YaHei"/>
                <a:ea typeface="Microsoft YaHei"/>
              </a:rPr>
              <a:t>减速箱</a:t>
            </a:r>
            <a:r>
              <a:rPr lang="en-US" sz="825">
                <a:solidFill>
                  <a:srgbClr val="CBD5E1"/>
                </a:solidFill>
                <a:latin typeface="Microsoft YaHei"/>
                <a:ea typeface="Microsoft YaHei"/>
              </a:rPr>
              <a:t> / </a:t>
            </a:r>
            <a:r>
              <a:rPr lang="zh-CN" sz="825">
                <a:solidFill>
                  <a:srgbClr val="CBD5E1"/>
                </a:solidFill>
                <a:latin typeface="Microsoft YaHei"/>
                <a:ea typeface="Microsoft YaHei"/>
              </a:rPr>
              <a:t>机床</a:t>
            </a:r>
            <a:r>
              <a:rPr lang="en-US" sz="825">
                <a:solidFill>
                  <a:srgbClr val="CBD5E1"/>
                </a:solidFill>
                <a:latin typeface="Microsoft YaHei"/>
                <a:ea typeface="Microsoft YaHei"/>
              </a:rPr>
              <a:t> / </a:t>
            </a:r>
            <a:r>
              <a:rPr lang="zh-CN" sz="825">
                <a:solidFill>
                  <a:srgbClr val="CBD5E1"/>
                </a:solidFill>
                <a:latin typeface="Microsoft YaHei"/>
                <a:ea typeface="Microsoft YaHei"/>
              </a:rPr>
              <a:t>容器</a:t>
            </a:r>
            <a:r>
              <a:rPr lang="en-US" sz="825">
                <a:solidFill>
                  <a:srgbClr val="CBD5E1"/>
                </a:solidFill>
                <a:latin typeface="Microsoft YaHei"/>
                <a:ea typeface="Microsoft YaHei"/>
              </a:rPr>
              <a:t> 5 </a:t>
            </a:r>
            <a:r>
              <a:rPr lang="zh-CN" sz="825">
                <a:solidFill>
                  <a:srgbClr val="CBD5E1"/>
                </a:solidFill>
                <a:latin typeface="Microsoft YaHei"/>
                <a:ea typeface="Microsoft YaHei"/>
              </a:rPr>
              <a:t>类各自不同的几何</a:t>
            </a:r>
            <a:r>
              <a:rPr lang="en-US" sz="825">
                <a:solidFill>
                  <a:srgbClr val="CBD5E1"/>
                </a:solidFill>
                <a:latin typeface="Microsoft YaHei"/>
                <a:ea typeface="Microsoft YaHei"/>
              </a:rPr>
              <a:t> + </a:t>
            </a:r>
            <a:r>
              <a:rPr lang="zh-CN" sz="825">
                <a:solidFill>
                  <a:srgbClr val="CBD5E1"/>
                </a:solidFill>
                <a:latin typeface="Microsoft YaHei"/>
                <a:ea typeface="Microsoft YaHei"/>
              </a:rPr>
              <a:t>故障表现</a:t>
            </a:r>
            <a:endParaRPr/>
          </a:p>
        </p:txBody>
      </p:sp>
      <p:sp>
        <p:nvSpPr>
          <p:cNvPr id="83" name="" descr="{&quot;isTemplate&quot;:true,&quot;type&quot;:&quot;text&quot;}"/>
          <p:cNvSpPr txBox="1"/>
          <p:nvPr/>
        </p:nvSpPr>
        <p:spPr>
          <a:xfrm rot="0" flipH="0" flipV="0">
            <a:off x="4524375" y="5086350"/>
            <a:ext cx="3143250" cy="2571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00000"/>
              </a:lnSpc>
            </a:pPr>
            <a:r>
              <a:rPr lang="en-US" sz="825">
                <a:solidFill>
                  <a:srgbClr val="64748B"/>
                </a:solidFill>
                <a:latin typeface="Microsoft YaHei"/>
                <a:ea typeface="Microsoft YaHei"/>
              </a:rPr>
              <a:t>AGENTS.md </a:t>
            </a:r>
            <a:r>
              <a:rPr lang="zh-CN" sz="825">
                <a:solidFill>
                  <a:srgbClr val="64748B"/>
                </a:solidFill>
                <a:latin typeface="Microsoft YaHei"/>
                <a:ea typeface="Microsoft YaHei"/>
              </a:rPr>
              <a:t>显式列出所有权：</a:t>
            </a:r>
            <a:r>
              <a:rPr lang="en-US" sz="825">
                <a:solidFill>
                  <a:srgbClr val="64748B"/>
                </a:solidFill>
                <a:latin typeface="Microsoft YaHei"/>
                <a:ea typeface="Microsoft YaHei"/>
              </a:rPr>
              <a:t>src/components/equipment3d/equipment.ts 77-100 </a:t>
            </a:r>
            <a:r>
              <a:rPr lang="zh-CN" sz="825">
                <a:solidFill>
                  <a:srgbClr val="64748B"/>
                </a:solidFill>
                <a:latin typeface="Microsoft YaHei"/>
                <a:ea typeface="Microsoft YaHei"/>
              </a:rPr>
              <a:t>行</a:t>
            </a:r>
            <a:endParaRPr/>
          </a:p>
        </p:txBody>
      </p:sp>
      <p:sp>
        <p:nvSpPr>
          <p:cNvPr id="84" name=""/>
          <p:cNvSpPr/>
          <p:nvPr/>
        </p:nvSpPr>
        <p:spPr>
          <a:xfrm rot="0" flipH="0" flipV="0">
            <a:off x="8048625" y="1600200"/>
            <a:ext cx="3609975" cy="4000500"/>
          </a:xfrm>
          <a:prstGeom prst="roundRect">
            <a:avLst>
              <a:gd name="adj" fmla="val 2111"/>
            </a:avLst>
          </a:prstGeom>
          <a:solidFill>
            <a:srgbClr val="0F172A"/>
          </a:solidFill>
          <a:ln/>
        </p:spPr>
        <p:txBody>
          <a:bodyPr/>
          <a:p/>
        </p:txBody>
      </p:sp>
      <p:sp>
        <p:nvSpPr>
          <p:cNvPr id="85" name=""/>
          <p:cNvSpPr/>
          <p:nvPr/>
        </p:nvSpPr>
        <p:spPr>
          <a:xfrm rot="0" flipH="0" flipV="0">
            <a:off x="8048625" y="1600200"/>
            <a:ext cx="3609975" cy="4000500"/>
          </a:xfrm>
          <a:custGeom>
            <a:pathLst>
              <a:path w="379" h="420">
                <a:moveTo>
                  <a:pt x="371" y="0"/>
                </a:moveTo>
                <a:cubicBezTo>
                  <a:pt x="375" y="0"/>
                  <a:pt x="378" y="3"/>
                  <a:pt x="379" y="7"/>
                </a:cubicBezTo>
                <a:cubicBezTo>
                  <a:pt x="378" y="4"/>
                  <a:pt x="376" y="3"/>
                  <a:pt x="374" y="3"/>
                </a:cubicBezTo>
                <a:lnTo>
                  <a:pt x="5" y="3"/>
                </a:lnTo>
                <a:cubicBezTo>
                  <a:pt x="3" y="3"/>
                  <a:pt x="1" y="5"/>
                  <a:pt x="0" y="7"/>
                </a:cubicBezTo>
                <a:cubicBezTo>
                  <a:pt x="1" y="3"/>
                  <a:pt x="4" y="0"/>
                  <a:pt x="8" y="0"/>
                </a:cubicBezTo>
                <a:lnTo>
                  <a:pt x="371" y="0"/>
                </a:lnTo>
                <a:close/>
              </a:path>
            </a:pathLst>
          </a:custGeom>
          <a:solidFill>
            <a:srgbClr val="10B981"/>
          </a:solidFill>
          <a:ln/>
        </p:spPr>
        <p:txBody>
          <a:bodyPr/>
          <a:p/>
        </p:txBody>
      </p:sp>
      <p:sp>
        <p:nvSpPr>
          <p:cNvPr id="86" name="" descr="{&quot;isTemplate&quot;:true,&quot;type&quot;:&quot;text&quot;}"/>
          <p:cNvSpPr txBox="1"/>
          <p:nvPr/>
        </p:nvSpPr>
        <p:spPr>
          <a:xfrm rot="0" flipH="0" flipV="0">
            <a:off x="8277225" y="1828800"/>
            <a:ext cx="31527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spc="75">
                <a:solidFill>
                  <a:srgbClr val="10B981"/>
                </a:solidFill>
                <a:latin typeface="Microsoft YaHei"/>
                <a:ea typeface="Microsoft YaHei"/>
              </a:rPr>
              <a:t>03</a:t>
            </a:r>
            <a:endParaRPr/>
          </a:p>
        </p:txBody>
      </p:sp>
      <p:sp>
        <p:nvSpPr>
          <p:cNvPr id="87" name="" descr="{&quot;isTemplate&quot;:true,&quot;type&quot;:&quot;text&quot;}"/>
          <p:cNvSpPr txBox="1"/>
          <p:nvPr/>
        </p:nvSpPr>
        <p:spPr>
          <a:xfrm rot="0" flipH="0" flipV="0">
            <a:off x="8277225" y="2057400"/>
            <a:ext cx="315277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E2E8F0"/>
                </a:solidFill>
                <a:latin typeface="Microsoft YaHei"/>
                <a:ea typeface="Microsoft YaHei"/>
              </a:rPr>
              <a:t>单进程双形态</a:t>
            </a:r>
            <a:endParaRPr/>
          </a:p>
        </p:txBody>
      </p:sp>
      <p:sp>
        <p:nvSpPr>
          <p:cNvPr id="88" name="" descr="{&quot;isTemplate&quot;:true,&quot;type&quot;:&quot;text&quot;}"/>
          <p:cNvSpPr txBox="1"/>
          <p:nvPr/>
        </p:nvSpPr>
        <p:spPr>
          <a:xfrm rot="0" flipH="0" flipV="0">
            <a:off x="8277225" y="2428875"/>
            <a:ext cx="3152775" cy="7620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975">
                <a:solidFill>
                  <a:srgbClr val="94A3B8"/>
                </a:solidFill>
                <a:latin typeface="Microsoft YaHei"/>
                <a:ea typeface="Microsoft YaHei"/>
              </a:rPr>
              <a:t>开发</a:t>
            </a:r>
            <a:r>
              <a:rPr lang="en-US" sz="975">
                <a:solidFill>
                  <a:srgbClr val="94A3B8"/>
                </a:solidFill>
                <a:latin typeface="Microsoft YaHei"/>
                <a:ea typeface="Microsoft YaHei"/>
              </a:rPr>
              <a:t> PGlite / npm run dev</a:t>
            </a:r>
            <a:r>
              <a:rPr lang="zh-CN" sz="975">
                <a:solidFill>
                  <a:srgbClr val="94A3B8"/>
                </a:solidFill>
                <a:latin typeface="Microsoft YaHei"/>
                <a:ea typeface="Microsoft YaHei"/>
              </a:rPr>
              <a:t>；生产</a:t>
            </a:r>
            <a:r>
              <a:rPr lang="en-US" sz="975">
                <a:solidFill>
                  <a:srgbClr val="94A3B8"/>
                </a:solidFill>
                <a:latin typeface="Microsoft YaHei"/>
                <a:ea typeface="Microsoft YaHei"/>
              </a:rPr>
              <a:t> PostgreSQL / Docker</a:t>
            </a:r>
            <a:r>
              <a:rPr lang="zh-CN" sz="975">
                <a:solidFill>
                  <a:srgbClr val="94A3B8"/>
                </a:solidFill>
                <a:latin typeface="Microsoft YaHei"/>
                <a:ea typeface="Microsoft YaHei"/>
              </a:rPr>
              <a:t>。一份代码、零外部</a:t>
            </a:r>
            <a:r>
              <a:rPr lang="en-US" sz="975">
                <a:solidFill>
                  <a:srgbClr val="94A3B8"/>
                </a:solidFill>
                <a:latin typeface="Microsoft YaHei"/>
                <a:ea typeface="Microsoft YaHei"/>
              </a:rPr>
              <a:t> DB </a:t>
            </a:r>
            <a:r>
              <a:rPr lang="zh-CN" sz="975">
                <a:solidFill>
                  <a:srgbClr val="94A3B8"/>
                </a:solidFill>
                <a:latin typeface="Microsoft YaHei"/>
                <a:ea typeface="Microsoft YaHei"/>
              </a:rPr>
              <a:t>依赖、</a:t>
            </a:r>
            <a:r>
              <a:rPr lang="en-US" sz="975">
                <a:solidFill>
                  <a:srgbClr val="94A3B8"/>
                </a:solidFill>
                <a:latin typeface="Microsoft YaHei"/>
                <a:ea typeface="Microsoft YaHei"/>
              </a:rPr>
              <a:t>DB_TYPE </a:t>
            </a:r>
            <a:r>
              <a:rPr lang="zh-CN" sz="975">
                <a:solidFill>
                  <a:srgbClr val="94A3B8"/>
                </a:solidFill>
                <a:latin typeface="Microsoft YaHei"/>
                <a:ea typeface="Microsoft YaHei"/>
              </a:rPr>
              <a:t>环境变量切换。</a:t>
            </a:r>
            <a:endParaRPr/>
          </a:p>
        </p:txBody>
      </p:sp>
      <p:sp>
        <p:nvSpPr>
          <p:cNvPr id="89" name=""/>
          <p:cNvSpPr/>
          <p:nvPr/>
        </p:nvSpPr>
        <p:spPr>
          <a:xfrm rot="0" flipH="0" flipV="0">
            <a:off x="8277225" y="4314825"/>
            <a:ext cx="3152775" cy="819150"/>
          </a:xfrm>
          <a:prstGeom prst="roundRect">
            <a:avLst>
              <a:gd name="adj" fmla="val 4651"/>
            </a:avLst>
          </a:prstGeom>
          <a:solidFill>
            <a:srgbClr val="1E293B"/>
          </a:solidFill>
          <a:ln/>
        </p:spPr>
        <p:txBody>
          <a:bodyPr/>
          <a:p/>
        </p:txBody>
      </p:sp>
      <p:sp>
        <p:nvSpPr>
          <p:cNvPr id="90" name="" descr="{&quot;isTemplate&quot;:true,&quot;type&quot;:&quot;text&quot;}"/>
          <p:cNvSpPr txBox="1"/>
          <p:nvPr/>
        </p:nvSpPr>
        <p:spPr>
          <a:xfrm rot="0" flipH="0" flipV="0">
            <a:off x="8391525" y="4429125"/>
            <a:ext cx="29241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10B981"/>
                </a:solidFill>
                <a:latin typeface="Microsoft YaHei"/>
                <a:ea typeface="Microsoft YaHei"/>
              </a:rPr>
              <a:t>真正的「一条命令启动」</a:t>
            </a:r>
            <a:endParaRPr/>
          </a:p>
        </p:txBody>
      </p:sp>
      <p:sp>
        <p:nvSpPr>
          <p:cNvPr id="91" name="" descr="{&quot;isTemplate&quot;:true,&quot;type&quot;:&quot;text&quot;}"/>
          <p:cNvSpPr txBox="1"/>
          <p:nvPr/>
        </p:nvSpPr>
        <p:spPr>
          <a:xfrm rot="0" flipH="0" flipV="0">
            <a:off x="8391525" y="4610100"/>
            <a:ext cx="2924175" cy="4095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825">
                <a:solidFill>
                  <a:srgbClr val="CBD5E1"/>
                </a:solidFill>
                <a:latin typeface="monospace"/>
                <a:ea typeface="monospace"/>
              </a:rPr>
              <a:t>docker compose up -d</a:t>
            </a:r>
            <a:endParaRPr/>
          </a:p>
          <a:p>
            <a:pPr>
              <a:lnSpc>
                <a:spcPct val="160000"/>
              </a:lnSpc>
            </a:pPr>
            <a:r>
              <a:rPr lang="en-US" sz="825">
                <a:solidFill>
                  <a:srgbClr val="CBD5E1"/>
                </a:solidFill>
                <a:latin typeface="monospace"/>
                <a:ea typeface="monospace"/>
              </a:rPr>
              <a:t>→ http://localhost:3000</a:t>
            </a:r>
            <a:endParaRPr/>
          </a:p>
        </p:txBody>
      </p:sp>
      <p:sp>
        <p:nvSpPr>
          <p:cNvPr id="92" name="" descr="{&quot;isTemplate&quot;:true,&quot;type&quot;:&quot;text&quot;}"/>
          <p:cNvSpPr txBox="1"/>
          <p:nvPr/>
        </p:nvSpPr>
        <p:spPr>
          <a:xfrm rot="0" flipH="0" flipV="0">
            <a:off x="8277225" y="5210175"/>
            <a:ext cx="31527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>
                <a:solidFill>
                  <a:srgbClr val="64748B"/>
                </a:solidFill>
                <a:latin typeface="Microsoft YaHei"/>
                <a:ea typeface="Microsoft YaHei"/>
              </a:rPr>
              <a:t>Vite middleware </a:t>
            </a:r>
            <a:r>
              <a:rPr lang="zh-CN" sz="825">
                <a:solidFill>
                  <a:srgbClr val="64748B"/>
                </a:solidFill>
                <a:latin typeface="Microsoft YaHei"/>
                <a:ea typeface="Microsoft YaHei"/>
              </a:rPr>
              <a:t>模式：前端改动</a:t>
            </a:r>
            <a:r>
              <a:rPr lang="en-US" sz="825">
                <a:solidFill>
                  <a:srgbClr val="64748B"/>
                </a:solidFill>
                <a:latin typeface="Microsoft YaHei"/>
                <a:ea typeface="Microsoft YaHei"/>
              </a:rPr>
              <a:t> HMR </a:t>
            </a:r>
            <a:r>
              <a:rPr lang="zh-CN" sz="825">
                <a:solidFill>
                  <a:srgbClr val="64748B"/>
                </a:solidFill>
                <a:latin typeface="Microsoft YaHei"/>
                <a:ea typeface="Microsoft YaHei"/>
              </a:rPr>
              <a:t>即时刷新，无需重启</a:t>
            </a:r>
            <a:endParaRPr/>
          </a:p>
        </p:txBody>
      </p:sp>
      <p:sp>
        <p:nvSpPr>
          <p:cNvPr id="93" name="" descr="{&quot;isTemplate&quot;:true,&quot;type&quot;:&quot;text&quot;}"/>
          <p:cNvSpPr txBox="1"/>
          <p:nvPr/>
        </p:nvSpPr>
        <p:spPr>
          <a:xfrm rot="0" flipH="0" flipV="0">
            <a:off x="11268075" y="6524625"/>
            <a:ext cx="3905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475569"/>
                </a:solidFill>
                <a:latin typeface="Microsoft YaHei"/>
                <a:ea typeface="Microsoft YaHei"/>
              </a:rPr>
              <a:t>11 / 12</a:t>
            </a:r>
            <a:endParaRPr/>
          </a:p>
        </p:txBody>
      </p:sp>
    </p:spTree>
  </p:cSld>
</p:sld>
</file>

<file path=ppt/slides/slide12.xml><?xml version="1.0" encoding="utf-8"?>
<p:sld xmlns:p="http://schemas.openxmlformats.org/presentationml/2006/main" xmlns:a="http://schemas.openxmlformats.org/drawingml/2006/main">
  <p:cSld>
    <p:spTree>
      <p:nvGrpSpPr>
        <p:cNvPr id="94" name="" descr="&lt;Slide style={{ width: '1280px', height: '720px', padding: '40px 56px', backgroundColor: '#0b1220' }}&gt;&#10;    &lt;Box style={{ display: 'flex', flexDirection: 'column', justifyContent: 'center', alignItems: 'center', height: '100%' }}&gt;&#10;      &lt;Text style={{ fontSize: '14px', color: '#06b6d4', letterSpacing: '4px', marginBottom: '16px' }}&gt;&#10;        SUMMARY &amp; ACKNOWLEDGEMENTS&#10;      &lt;/Text&gt;&#10;      &lt;Text style={{&#10;        fontSize: '60px', fontWeight: 'bold', color: '#e2e8f0', lineHeight: '1.2',&#10;        textAlign: 'center', marginBottom: '12px',&#10;      }}&gt;&#10;        &lt;span style={{ color: '#06b6d4' }}&gt;谢谢聆听&lt;/span&gt;&#10;      &lt;/Text&gt;&#10;      &lt;Text style={{ fontSize: '18px', color: '#94a3b8', textAlign: 'center', marginBottom: '36px' }}&gt;&#10;        工业设备智能检修一体化平台 · 期待您的提问&#10;      &lt;/Text&gt;&#10;&#10;      &lt;Box style={{ display: 'flex', justifyContent: 'center', gap: '32px', marginBottom: '32px' }}&gt;&#10;        {[&#10;          { num: '31', unit: '张业务表', color: '#06b6d4' },&#10;          { num: '25', unit: '个迁移', color: '#06b6d4' },&#10;          { num: '24', unit: '项 AI', color: '#f59e0b' },&#10;          { num: '7', unit: '个角色', color: '#10b981' },&#10;          { num: '12', unit: '个分镜', color: '#06b6d4' },&#10;          { num: '88', unit: '个测试', color: '#8b5cf6' },&#10;        ].map((d, i) =&gt; (&#10;          &lt;Box key={i} style={{ textAlign: 'center' }}&gt;&#10;            &lt;Text style={{ fontSize: '36px', fontWeight: 'bold', color: d.color, lineHeight: '1' }}&gt;&#10;              {d.num}&#10;            &lt;/Text&gt;&#10;            &lt;Text style={{ fontSize: '11px', color: '#64748b', marginTop: '4px' }}&gt;&#10;              {d.unit}&#10;            &lt;/Text&gt;&#10;          &lt;/Box&gt;&#10;        ))}&#10;      &lt;/Box&gt;&#10;&#10;      &lt;Box style={{&#10;        padding: '16px 32px', backgroundColor: '#0f172a', borderRadius: '8px',&#10;        borderTop: '3px solid #06b6d4',&#10;      }}&gt;&#10;        &lt;Text style={{ fontSize: '14px', color: '#cbd5e1', textAlign: 'center', lineHeight: '1.7' }}&gt;&#10;          &lt;span style={{ color: '#06b6d4', fontWeight: 'bold' }}&gt;后续展望：&lt;/span&gt;&#10;          接入更多 AI 模型（Claude / GPT） · 移动端 PWA · 工业硬件对接（PLC / SCADA）&#10;          {'\n'}知识图谱自动构建 · 数字孪生实时联动 · 国际化（英文 / 阿拉伯文）&#10;        &lt;/Text&gt;&#10;      &lt;/Box&gt;&#10;    &lt;/Box&gt;&#10;&#10;    &lt;Box style={{ position: 'absolute', bottom: '20px', right: '56px' }}&gt;&#10;      &lt;Text style={{ fontSize: '12px', color: '#475569' }}&gt;12 / 12&lt;/Text&gt;&#10;    &lt;/Box&gt;&#10;  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/>
        </p:spPr>
        <p:txBody>
          <a:bodyPr/>
          <a:p/>
        </p:txBody>
      </p:sp>
      <p:sp>
        <p:nvSpPr>
          <p:cNvPr id="96" name="" descr="{&quot;isTemplate&quot;:true,&quot;type&quot;:&quot;text&quot;}"/>
          <p:cNvSpPr txBox="1"/>
          <p:nvPr/>
        </p:nvSpPr>
        <p:spPr>
          <a:xfrm rot="0" flipH="0" flipV="0">
            <a:off x="4400550" y="1638300"/>
            <a:ext cx="33909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300">
                <a:solidFill>
                  <a:srgbClr val="06B6D4"/>
                </a:solidFill>
                <a:latin typeface="Microsoft YaHei"/>
                <a:ea typeface="Microsoft YaHei"/>
              </a:rPr>
              <a:t>SUMMARY &amp; ACKNOWLEDGEMENTS</a:t>
            </a:r>
            <a:endParaRPr/>
          </a:p>
        </p:txBody>
      </p:sp>
      <p:sp>
        <p:nvSpPr>
          <p:cNvPr id="97" name="" descr="{&quot;isTemplate&quot;:true,&quot;type&quot;:&quot;text&quot;}"/>
          <p:cNvSpPr txBox="1"/>
          <p:nvPr/>
        </p:nvSpPr>
        <p:spPr>
          <a:xfrm rot="0" flipH="0" flipV="0">
            <a:off x="4953000" y="1952625"/>
            <a:ext cx="2286000" cy="828675"/>
          </a:xfrm>
          <a:prstGeom prst="rect"/>
        </p:spPr>
        <p:txBody>
          <a:bodyPr wrap="none" lIns="0" tIns="0" rIns="0" bIns="0"/>
          <a:p>
            <a:pPr algn="ctr">
              <a:lnSpc>
                <a:spcPct val="120000"/>
              </a:lnSpc>
            </a:pPr>
            <a:r>
              <a:rPr lang="zh-CN" sz="4500" b="1">
                <a:solidFill>
                  <a:srgbClr val="06B6D4"/>
                </a:solidFill>
                <a:latin typeface="Microsoft YaHei"/>
                <a:ea typeface="Microsoft YaHei"/>
              </a:rPr>
              <a:t>谢谢聆听</a:t>
            </a:r>
            <a:endParaRPr/>
          </a:p>
        </p:txBody>
      </p:sp>
      <p:sp>
        <p:nvSpPr>
          <p:cNvPr id="98" name="" descr="{&quot;isTemplate&quot;:true,&quot;type&quot;:&quot;text&quot;}"/>
          <p:cNvSpPr txBox="1"/>
          <p:nvPr/>
        </p:nvSpPr>
        <p:spPr>
          <a:xfrm rot="0" flipH="0" flipV="0">
            <a:off x="4400550" y="2895600"/>
            <a:ext cx="3400425" cy="20955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1350">
                <a:solidFill>
                  <a:srgbClr val="94A3B8"/>
                </a:solidFill>
                <a:latin typeface="Microsoft YaHei"/>
                <a:ea typeface="Microsoft YaHei"/>
              </a:rPr>
              <a:t>工业设备智能检修一体化平台</a:t>
            </a:r>
            <a:r>
              <a:rPr lang="en-US" sz="1350">
                <a:solidFill>
                  <a:srgbClr val="94A3B8"/>
                </a:solidFill>
                <a:latin typeface="Microsoft YaHei"/>
                <a:ea typeface="Microsoft YaHei"/>
              </a:rPr>
              <a:t> · </a:t>
            </a:r>
            <a:r>
              <a:rPr lang="zh-CN" sz="1350">
                <a:solidFill>
                  <a:srgbClr val="94A3B8"/>
                </a:solidFill>
                <a:latin typeface="Microsoft YaHei"/>
                <a:ea typeface="Microsoft YaHei"/>
              </a:rPr>
              <a:t>期待您的提问</a:t>
            </a:r>
            <a:endParaRPr/>
          </a:p>
        </p:txBody>
      </p:sp>
      <p:sp>
        <p:nvSpPr>
          <p:cNvPr id="99" name="" descr="{&quot;isTemplate&quot;:true,&quot;type&quot;:&quot;text&quot;}"/>
          <p:cNvSpPr txBox="1"/>
          <p:nvPr/>
        </p:nvSpPr>
        <p:spPr>
          <a:xfrm rot="0" flipH="0" flipV="0">
            <a:off x="4105275" y="3448050"/>
            <a:ext cx="428625" cy="4191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2700" b="1">
                <a:solidFill>
                  <a:srgbClr val="06B6D4"/>
                </a:solidFill>
                <a:latin typeface="Microsoft YaHei"/>
                <a:ea typeface="Microsoft YaHei"/>
              </a:rPr>
              <a:t>30</a:t>
            </a:r>
            <a:endParaRPr/>
          </a:p>
        </p:txBody>
      </p:sp>
      <p:sp>
        <p:nvSpPr>
          <p:cNvPr id="100" name="" descr="{&quot;isTemplate&quot;:true,&quot;type&quot;:&quot;text&quot;}"/>
          <p:cNvSpPr txBox="1"/>
          <p:nvPr/>
        </p:nvSpPr>
        <p:spPr>
          <a:xfrm rot="0" flipH="0" flipV="0">
            <a:off x="4105275" y="3905250"/>
            <a:ext cx="428625" cy="13335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825">
                <a:solidFill>
                  <a:srgbClr val="64748B"/>
                </a:solidFill>
                <a:latin typeface="Microsoft YaHei"/>
                <a:ea typeface="Microsoft YaHei"/>
              </a:rPr>
              <a:t>张业务表</a:t>
            </a:r>
            <a:endParaRPr/>
          </a:p>
        </p:txBody>
      </p:sp>
      <p:sp>
        <p:nvSpPr>
          <p:cNvPr id="101" name="" descr="{&quot;isTemplate&quot;:true,&quot;type&quot;:&quot;text&quot;}"/>
          <p:cNvSpPr txBox="1"/>
          <p:nvPr/>
        </p:nvSpPr>
        <p:spPr>
          <a:xfrm rot="0" flipH="0" flipV="0">
            <a:off x="4838700" y="3448050"/>
            <a:ext cx="428625" cy="4191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2700" b="1">
                <a:solidFill>
                  <a:srgbClr val="06B6D4"/>
                </a:solidFill>
                <a:latin typeface="Microsoft YaHei"/>
                <a:ea typeface="Microsoft YaHei"/>
              </a:rPr>
              <a:t>25</a:t>
            </a:r>
            <a:endParaRPr/>
          </a:p>
        </p:txBody>
      </p:sp>
      <p:sp>
        <p:nvSpPr>
          <p:cNvPr id="102" name="" descr="{&quot;isTemplate&quot;:true,&quot;type&quot;:&quot;text&quot;}"/>
          <p:cNvSpPr txBox="1"/>
          <p:nvPr/>
        </p:nvSpPr>
        <p:spPr>
          <a:xfrm rot="0" flipH="0" flipV="0">
            <a:off x="4838700" y="3905250"/>
            <a:ext cx="428625" cy="13335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825">
                <a:solidFill>
                  <a:srgbClr val="64748B"/>
                </a:solidFill>
                <a:latin typeface="Microsoft YaHei"/>
                <a:ea typeface="Microsoft YaHei"/>
              </a:rPr>
              <a:t>个迁移</a:t>
            </a:r>
            <a:endParaRPr/>
          </a:p>
        </p:txBody>
      </p:sp>
      <p:sp>
        <p:nvSpPr>
          <p:cNvPr id="103" name="" descr="{&quot;isTemplate&quot;:true,&quot;type&quot;:&quot;text&quot;}"/>
          <p:cNvSpPr txBox="1"/>
          <p:nvPr/>
        </p:nvSpPr>
        <p:spPr>
          <a:xfrm rot="0" flipH="0" flipV="0">
            <a:off x="5572125" y="3448050"/>
            <a:ext cx="428625" cy="4191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2700" b="1">
                <a:solidFill>
                  <a:srgbClr val="F59E0B"/>
                </a:solidFill>
                <a:latin typeface="Microsoft YaHei"/>
                <a:ea typeface="Microsoft YaHei"/>
              </a:rPr>
              <a:t>24</a:t>
            </a:r>
            <a:endParaRPr/>
          </a:p>
        </p:txBody>
      </p:sp>
      <p:sp>
        <p:nvSpPr>
          <p:cNvPr id="104" name="" descr="{&quot;isTemplate&quot;:true,&quot;type&quot;:&quot;text&quot;}"/>
          <p:cNvSpPr txBox="1"/>
          <p:nvPr/>
        </p:nvSpPr>
        <p:spPr>
          <a:xfrm rot="0" flipH="0" flipV="0">
            <a:off x="5572125" y="3905250"/>
            <a:ext cx="428625" cy="13335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825">
                <a:solidFill>
                  <a:srgbClr val="64748B"/>
                </a:solidFill>
                <a:latin typeface="Microsoft YaHei"/>
                <a:ea typeface="Microsoft YaHei"/>
              </a:rPr>
              <a:t>项</a:t>
            </a:r>
            <a:r>
              <a:rPr lang="en-US" sz="825">
                <a:solidFill>
                  <a:srgbClr val="64748B"/>
                </a:solidFill>
                <a:latin typeface="Microsoft YaHei"/>
                <a:ea typeface="Microsoft YaHei"/>
              </a:rPr>
              <a:t> AI</a:t>
            </a:r>
            <a:endParaRPr/>
          </a:p>
        </p:txBody>
      </p:sp>
      <p:sp>
        <p:nvSpPr>
          <p:cNvPr id="105" name="" descr="{&quot;isTemplate&quot;:true,&quot;type&quot;:&quot;text&quot;}"/>
          <p:cNvSpPr txBox="1"/>
          <p:nvPr/>
        </p:nvSpPr>
        <p:spPr>
          <a:xfrm rot="0" flipH="0" flipV="0">
            <a:off x="6305550" y="3448050"/>
            <a:ext cx="314325" cy="4191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2700" b="1">
                <a:solidFill>
                  <a:srgbClr val="10B981"/>
                </a:solidFill>
                <a:latin typeface="Microsoft YaHei"/>
                <a:ea typeface="Microsoft YaHei"/>
              </a:rPr>
              <a:t>7</a:t>
            </a:r>
            <a:endParaRPr/>
          </a:p>
        </p:txBody>
      </p:sp>
      <p:sp>
        <p:nvSpPr>
          <p:cNvPr id="106" name="" descr="{&quot;isTemplate&quot;:true,&quot;type&quot;:&quot;text&quot;}"/>
          <p:cNvSpPr txBox="1"/>
          <p:nvPr/>
        </p:nvSpPr>
        <p:spPr>
          <a:xfrm rot="0" flipH="0" flipV="0">
            <a:off x="6305550" y="3905250"/>
            <a:ext cx="314325" cy="13335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825">
                <a:solidFill>
                  <a:srgbClr val="64748B"/>
                </a:solidFill>
                <a:latin typeface="Microsoft YaHei"/>
                <a:ea typeface="Microsoft YaHei"/>
              </a:rPr>
              <a:t>个角色</a:t>
            </a:r>
            <a:endParaRPr/>
          </a:p>
        </p:txBody>
      </p:sp>
      <p:sp>
        <p:nvSpPr>
          <p:cNvPr id="107" name="" descr="{&quot;isTemplate&quot;:true,&quot;type&quot;:&quot;text&quot;}"/>
          <p:cNvSpPr txBox="1"/>
          <p:nvPr/>
        </p:nvSpPr>
        <p:spPr>
          <a:xfrm rot="0" flipH="0" flipV="0">
            <a:off x="6924675" y="3448050"/>
            <a:ext cx="428625" cy="4191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2700" b="1">
                <a:solidFill>
                  <a:srgbClr val="06B6D4"/>
                </a:solidFill>
                <a:latin typeface="Microsoft YaHei"/>
                <a:ea typeface="Microsoft YaHei"/>
              </a:rPr>
              <a:t>12</a:t>
            </a:r>
            <a:endParaRPr/>
          </a:p>
        </p:txBody>
      </p:sp>
      <p:sp>
        <p:nvSpPr>
          <p:cNvPr id="108" name="" descr="{&quot;isTemplate&quot;:true,&quot;type&quot;:&quot;text&quot;}"/>
          <p:cNvSpPr txBox="1"/>
          <p:nvPr/>
        </p:nvSpPr>
        <p:spPr>
          <a:xfrm rot="0" flipH="0" flipV="0">
            <a:off x="6924675" y="3905250"/>
            <a:ext cx="428625" cy="13335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825">
                <a:solidFill>
                  <a:srgbClr val="64748B"/>
                </a:solidFill>
                <a:latin typeface="Microsoft YaHei"/>
                <a:ea typeface="Microsoft YaHei"/>
              </a:rPr>
              <a:t>个分镜</a:t>
            </a:r>
            <a:endParaRPr/>
          </a:p>
        </p:txBody>
      </p:sp>
      <p:sp>
        <p:nvSpPr>
          <p:cNvPr id="109" name="" descr="{&quot;isTemplate&quot;:true,&quot;type&quot;:&quot;text&quot;}"/>
          <p:cNvSpPr txBox="1"/>
          <p:nvPr/>
        </p:nvSpPr>
        <p:spPr>
          <a:xfrm rot="0" flipH="0" flipV="0">
            <a:off x="7658100" y="3448050"/>
            <a:ext cx="428625" cy="4191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2700" b="1">
                <a:solidFill>
                  <a:srgbClr val="8B5CF6"/>
                </a:solidFill>
                <a:latin typeface="Microsoft YaHei"/>
                <a:ea typeface="Microsoft YaHei"/>
              </a:rPr>
              <a:t>88</a:t>
            </a:r>
            <a:endParaRPr/>
          </a:p>
        </p:txBody>
      </p:sp>
      <p:sp>
        <p:nvSpPr>
          <p:cNvPr id="110" name="" descr="{&quot;isTemplate&quot;:true,&quot;type&quot;:&quot;text&quot;}"/>
          <p:cNvSpPr txBox="1"/>
          <p:nvPr/>
        </p:nvSpPr>
        <p:spPr>
          <a:xfrm rot="0" flipH="0" flipV="0">
            <a:off x="7658100" y="3905250"/>
            <a:ext cx="428625" cy="13335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825">
                <a:solidFill>
                  <a:srgbClr val="64748B"/>
                </a:solidFill>
                <a:latin typeface="Microsoft YaHei"/>
                <a:ea typeface="Microsoft YaHei"/>
              </a:rPr>
              <a:t>个测试</a:t>
            </a:r>
            <a:endParaRPr/>
          </a:p>
        </p:txBody>
      </p:sp>
      <p:sp>
        <p:nvSpPr>
          <p:cNvPr id="111" name=""/>
          <p:cNvSpPr/>
          <p:nvPr/>
        </p:nvSpPr>
        <p:spPr>
          <a:xfrm rot="0" flipH="0" flipV="0">
            <a:off x="2971800" y="4371975"/>
            <a:ext cx="6257925" cy="885825"/>
          </a:xfrm>
          <a:prstGeom prst="roundRect">
            <a:avLst>
              <a:gd name="adj" fmla="val 8602"/>
            </a:avLst>
          </a:prstGeom>
          <a:solidFill>
            <a:srgbClr val="0F172A"/>
          </a:solidFill>
          <a:ln/>
        </p:spPr>
        <p:txBody>
          <a:bodyPr/>
          <a:p/>
        </p:txBody>
      </p:sp>
      <p:sp>
        <p:nvSpPr>
          <p:cNvPr id="112" name=""/>
          <p:cNvSpPr/>
          <p:nvPr/>
        </p:nvSpPr>
        <p:spPr>
          <a:xfrm rot="0" flipH="0" flipV="0">
            <a:off x="2971800" y="4371975"/>
            <a:ext cx="6257925" cy="885825"/>
          </a:xfrm>
          <a:custGeom>
            <a:pathLst>
              <a:path w="657" h="93">
                <a:moveTo>
                  <a:pt x="649" y="0"/>
                </a:moveTo>
                <a:cubicBezTo>
                  <a:pt x="653" y="0"/>
                  <a:pt x="656" y="3"/>
                  <a:pt x="657" y="7"/>
                </a:cubicBezTo>
                <a:cubicBezTo>
                  <a:pt x="656" y="4"/>
                  <a:pt x="654" y="3"/>
                  <a:pt x="652" y="3"/>
                </a:cubicBezTo>
                <a:lnTo>
                  <a:pt x="5" y="3"/>
                </a:lnTo>
                <a:cubicBezTo>
                  <a:pt x="3" y="3"/>
                  <a:pt x="1" y="5"/>
                  <a:pt x="0" y="7"/>
                </a:cubicBezTo>
                <a:cubicBezTo>
                  <a:pt x="1" y="3"/>
                  <a:pt x="4" y="0"/>
                  <a:pt x="8" y="0"/>
                </a:cubicBezTo>
                <a:lnTo>
                  <a:pt x="649" y="0"/>
                </a:lnTo>
                <a:close/>
              </a:path>
            </a:pathLst>
          </a:custGeom>
          <a:solidFill>
            <a:srgbClr val="06B6D4"/>
          </a:solidFill>
          <a:ln/>
        </p:spPr>
        <p:txBody>
          <a:bodyPr/>
          <a:p/>
        </p:txBody>
      </p:sp>
      <p:sp>
        <p:nvSpPr>
          <p:cNvPr id="113" name="" descr="{&quot;isTemplate&quot;:true,&quot;type&quot;:&quot;text&quot;}"/>
          <p:cNvSpPr txBox="1"/>
          <p:nvPr/>
        </p:nvSpPr>
        <p:spPr>
          <a:xfrm rot="0" flipH="0" flipV="0">
            <a:off x="3276600" y="4524375"/>
            <a:ext cx="5648325" cy="552450"/>
          </a:xfrm>
          <a:prstGeom prst="rect"/>
        </p:spPr>
        <p:txBody>
          <a:bodyPr wrap="none" lIns="0" tIns="0" rIns="0" bIns="0"/>
          <a:p>
            <a:pPr algn="ctr">
              <a:lnSpc>
                <a:spcPct val="170000"/>
              </a:lnSpc>
            </a:pPr>
            <a:r>
              <a:rPr lang="zh-CN" sz="1050" b="1">
                <a:solidFill>
                  <a:srgbClr val="06B6D4"/>
                </a:solidFill>
                <a:latin typeface="Microsoft YaHei"/>
                <a:ea typeface="Microsoft YaHei"/>
              </a:rPr>
              <a:t>后续展望：</a:t>
            </a:r>
            <a:r>
              <a:rPr lang="zh-CN" sz="1050">
                <a:solidFill>
                  <a:srgbClr val="CBD5E1"/>
                </a:solidFill>
                <a:latin typeface="Microsoft YaHei"/>
                <a:ea typeface="Microsoft YaHei"/>
              </a:rPr>
              <a:t>接入更多</a:t>
            </a:r>
            <a:r>
              <a:rPr lang="en-US" sz="1050">
                <a:solidFill>
                  <a:srgbClr val="CBD5E1"/>
                </a:solidFill>
                <a:latin typeface="Microsoft YaHei"/>
                <a:ea typeface="Microsoft YaHei"/>
              </a:rPr>
              <a:t> AI </a:t>
            </a:r>
            <a:r>
              <a:rPr lang="zh-CN" sz="1050">
                <a:solidFill>
                  <a:srgbClr val="CBD5E1"/>
                </a:solidFill>
                <a:latin typeface="Microsoft YaHei"/>
                <a:ea typeface="Microsoft YaHei"/>
              </a:rPr>
              <a:t>模型（</a:t>
            </a:r>
            <a:r>
              <a:rPr lang="en-US" sz="1050">
                <a:solidFill>
                  <a:srgbClr val="CBD5E1"/>
                </a:solidFill>
                <a:latin typeface="Microsoft YaHei"/>
                <a:ea typeface="Microsoft YaHei"/>
              </a:rPr>
              <a:t>Claude / GPT</a:t>
            </a:r>
            <a:r>
              <a:rPr lang="zh-CN" sz="1050">
                <a:solidFill>
                  <a:srgbClr val="CBD5E1"/>
                </a:solidFill>
                <a:latin typeface="Microsoft YaHei"/>
                <a:ea typeface="Microsoft YaHei"/>
              </a:rPr>
              <a:t>）</a:t>
            </a:r>
            <a:r>
              <a:rPr lang="en-US" sz="1050">
                <a:solidFill>
                  <a:srgbClr val="CBD5E1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CBD5E1"/>
                </a:solidFill>
                <a:latin typeface="Microsoft YaHei"/>
                <a:ea typeface="Microsoft YaHei"/>
              </a:rPr>
              <a:t>移动端</a:t>
            </a:r>
            <a:r>
              <a:rPr lang="en-US" sz="1050">
                <a:solidFill>
                  <a:srgbClr val="CBD5E1"/>
                </a:solidFill>
                <a:latin typeface="Microsoft YaHei"/>
                <a:ea typeface="Microsoft YaHei"/>
              </a:rPr>
              <a:t> PWA · </a:t>
            </a:r>
            <a:r>
              <a:rPr lang="zh-CN" sz="1050">
                <a:solidFill>
                  <a:srgbClr val="CBD5E1"/>
                </a:solidFill>
                <a:latin typeface="Microsoft YaHei"/>
                <a:ea typeface="Microsoft YaHei"/>
              </a:rPr>
              <a:t>工业硬件对接（</a:t>
            </a:r>
            <a:r>
              <a:rPr lang="en-US" sz="1050">
                <a:solidFill>
                  <a:srgbClr val="CBD5E1"/>
                </a:solidFill>
                <a:latin typeface="Microsoft YaHei"/>
                <a:ea typeface="Microsoft YaHei"/>
              </a:rPr>
              <a:t>PLC / SCADA</a:t>
            </a:r>
            <a:r>
              <a:rPr lang="zh-CN" sz="1050">
                <a:solidFill>
                  <a:srgbClr val="CBD5E1"/>
                </a:solidFill>
                <a:latin typeface="Microsoft YaHei"/>
                <a:ea typeface="Microsoft YaHei"/>
              </a:rPr>
              <a:t>）</a:t>
            </a:r>
            <a:endParaRPr/>
          </a:p>
          <a:p>
            <a:pPr algn="ctr">
              <a:lnSpc>
                <a:spcPct val="170000"/>
              </a:lnSpc>
            </a:pPr>
            <a:r>
              <a:rPr lang="zh-CN" sz="1050">
                <a:solidFill>
                  <a:srgbClr val="CBD5E1"/>
                </a:solidFill>
                <a:latin typeface="Microsoft YaHei"/>
                <a:ea typeface="Microsoft YaHei"/>
              </a:rPr>
              <a:t>知识图谱自动构建</a:t>
            </a:r>
            <a:r>
              <a:rPr lang="en-US" sz="1050">
                <a:solidFill>
                  <a:srgbClr val="CBD5E1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CBD5E1"/>
                </a:solidFill>
                <a:latin typeface="Microsoft YaHei"/>
                <a:ea typeface="Microsoft YaHei"/>
              </a:rPr>
              <a:t>数字孪生实时联动</a:t>
            </a:r>
            <a:r>
              <a:rPr lang="en-US" sz="1050">
                <a:solidFill>
                  <a:srgbClr val="CBD5E1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CBD5E1"/>
                </a:solidFill>
                <a:latin typeface="Microsoft YaHei"/>
                <a:ea typeface="Microsoft YaHei"/>
              </a:rPr>
              <a:t>国际化（英文</a:t>
            </a:r>
            <a:r>
              <a:rPr lang="en-US" sz="1050">
                <a:solidFill>
                  <a:srgbClr val="CBD5E1"/>
                </a:solidFill>
                <a:latin typeface="Microsoft YaHei"/>
                <a:ea typeface="Microsoft YaHei"/>
              </a:rPr>
              <a:t> / </a:t>
            </a:r>
            <a:r>
              <a:rPr lang="zh-CN" sz="1050">
                <a:solidFill>
                  <a:srgbClr val="CBD5E1"/>
                </a:solidFill>
                <a:latin typeface="Microsoft YaHei"/>
                <a:ea typeface="Microsoft YaHei"/>
              </a:rPr>
              <a:t>阿拉伯文）</a:t>
            </a:r>
            <a:endParaRPr/>
          </a:p>
        </p:txBody>
      </p:sp>
      <p:sp>
        <p:nvSpPr>
          <p:cNvPr id="114" name="" descr="{&quot;isTemplate&quot;:true,&quot;type&quot;:&quot;text&quot;}"/>
          <p:cNvSpPr txBox="1"/>
          <p:nvPr/>
        </p:nvSpPr>
        <p:spPr>
          <a:xfrm rot="0" flipH="0" flipV="0">
            <a:off x="11268075" y="6524625"/>
            <a:ext cx="3905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475569"/>
                </a:solidFill>
                <a:latin typeface="Microsoft YaHei"/>
                <a:ea typeface="Microsoft YaHei"/>
              </a:rPr>
              <a:t>12 / 12</a:t>
            </a:r>
            <a:endParaRPr/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Tencent office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2026-09-21T16:10:25Z</dcterms:created>
  <dcterms:modified xsi:type="dcterms:W3CDTF">2026-09-21T16:10:25Z</dcterms:modified>
</cp:coreProperties>
</file>