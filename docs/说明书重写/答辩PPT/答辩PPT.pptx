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3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padding: '40px 56px', backgroundColor: '#0b1220', position: 'relative' }}&gt;&#10;    {/* A 标题区 — 队伍信息 */}&#10;    &lt;Box style={{ display: 'flex', justifyContent: 'space-between', alignItems: 'center', marginBottom: '24px' }}&gt;&#10;      &lt;Text style={{ fontSize: '14px', color: '#64748b', letterSpacing: '2px' }}&gt;&#10;        工业设备智能检修一体化平台 · 答辩 PPT&#10;      &lt;/Text&gt;&#10;      &lt;Text style={{ fontSize: '14px', color: '#64748b' }}&gt;2026.09&lt;/Text&gt;&#10;    &lt;/Box&gt;&#10;&#10;    {/* B 主体 — Hero 区 */}&#10;    &lt;Box style={{ display: 'flex', flexDirection: 'column', justifyContent: 'center', height: '440px' }}&gt;&#10;      &lt;Text style={{ fontSize: '18px', color: '#06b6d4', letterSpacing: '4px', marginBottom: '24px' }}&gt;&#10;        INDUSTRIAL EQUIPMENT INTELLIGENT MAINTENANCE PLATFORM&#10;      &lt;/Text&gt;&#10;      &lt;Text style={{&#10;        fontSize: '72px', fontWeight: 'bold', color: '#e2e8f0',&#10;        lineHeight: '1.2', marginBottom: '32px',&#10;      }}&gt;&#10;        &lt;span style={{ color: '#06b6d4' }}&gt;工业设备&lt;/span&gt;智能检修&#10;        &lt;br /&gt;&#10;        一体化平台&#10;      &lt;/Text&gt;&#10;      &lt;Text style={{ fontSize: '22px', color: '#94a3b8', lineHeight: '1.7', maxWidth: '900px' }}&gt;&#10;        从巡检发现 → 报修 → 调度 → 维修 → 验收 → 知识沉淀的全链路数字化解决方案&#10;        &lt;br /&gt;&#10;        解决流程制造企业的&lt;span style={{ color: '#f59e0b', fontWeight: 'bold' }}&gt;信息孤岛 / 流程断裂 / 知识流失&lt;/span&gt;三大痛点&#10;      &lt;/Text&gt;&#10;    &lt;/Box&gt;&#10;&#10;    {/* C 关键数据 4 列 */}&#10;    &lt;Box style={{ display: 'flex', justifyContent: 'space-between', marginTop: '32px' }}&gt;&#10;      {[&#10;        { num: '31', unit: '张业务表', color: '#06b6d4' },&#10;        { num: '25', unit: '个幂等迁移', color: '#06b6d4' },&#10;        { num: '24', unit: '项 AI 能力', color: '#f59e0b' },&#10;        { num: '88', unit: '个测试文件', color: '#06b6d4' },&#10;      ].map((item, i) =&gt; (&#10;        &lt;Box key={i} style={{&#10;          flex: 1, padding: '18px', marginRight: i &lt; 3 ? '16px' : '0',&#10;          backgroundColor: '#0f172a', borderRadius: '8px',&#10;          borderLeft: `3px solid ${item.color}`,&#10;        }}&gt;&#10;          &lt;Text style={{ fontSize: '44px', fontWeight: 'bold', color: item.color, lineHeight: '1' }}&gt;&#10;            {item.num}&#10;          &lt;/Text&gt;&#10;          &lt;Text style={{ fontSize: '13px', color: '#94a3b8', marginTop: '6px' }}&gt;&#10;            {item.unit}&#10;          &lt;/Text&gt;&#10;        &lt;/Box&gt;&#10;      ))}&#10;    &lt;/Box&gt;&#10;&#10;    {/* 页脚 */}&#10;    &lt;Box style={{ position: 'absolute', bottom: '20px', right: '56px', display: 'flex', alignItems: 'center' }}&gt;&#10;      &lt;Text style={{ fontSize: '12px', color: '#475569' }}&gt;01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2809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64748B"/>
                </a:solidFill>
                <a:latin typeface="Microsoft YaHei"/>
                <a:ea typeface="Microsoft YaHei"/>
              </a:rPr>
              <a:t>工业设备智能检修一体化平台</a:t>
            </a:r>
            <a:r>
              <a:rPr lang="en-US" sz="1050" spc="15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1050" spc="150">
                <a:solidFill>
                  <a:srgbClr val="64748B"/>
                </a:solidFill>
                <a:latin typeface="Microsoft YaHei"/>
                <a:ea typeface="Microsoft YaHei"/>
              </a:rPr>
              <a:t>答辩</a:t>
            </a:r>
            <a:r>
              <a:rPr lang="en-US" sz="1050" spc="150">
                <a:solidFill>
                  <a:srgbClr val="64748B"/>
                </a:solidFill>
                <a:latin typeface="Microsoft YaHei"/>
                <a:ea typeface="Microsoft YaHei"/>
              </a:rPr>
              <a:t> PPT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1153775" y="381000"/>
            <a:ext cx="504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2026.09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533400" y="1076325"/>
            <a:ext cx="1112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00">
                <a:solidFill>
                  <a:srgbClr val="06B6D4"/>
                </a:solidFill>
                <a:latin typeface="Microsoft YaHei"/>
                <a:ea typeface="Microsoft YaHei"/>
              </a:rPr>
              <a:t>INDUSTRIAL EQUIPMENT INTELLIGENT MAINTENANCE PLATFORM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533400" y="1514475"/>
            <a:ext cx="11125200" cy="19812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5400" b="1">
                <a:solidFill>
                  <a:srgbClr val="06B6D4"/>
                </a:solidFill>
                <a:latin typeface="Microsoft YaHei"/>
                <a:ea typeface="Microsoft YaHei"/>
              </a:rPr>
              <a:t>工业设备</a:t>
            </a:r>
            <a:r>
              <a:rPr lang="zh-CN" sz="5400" b="1">
                <a:solidFill>
                  <a:srgbClr val="E2E8F0"/>
                </a:solidFill>
                <a:latin typeface="Microsoft YaHei"/>
                <a:ea typeface="Microsoft YaHei"/>
              </a:rPr>
              <a:t>智能检修</a:t>
            </a:r>
            <a:endParaRPr/>
          </a:p>
          <a:p>
            <a:pPr>
              <a:lnSpc>
                <a:spcPct val="120000"/>
              </a:lnSpc>
            </a:pPr>
            <a:r>
              <a:rPr lang="zh-CN" sz="5400" b="1">
                <a:solidFill>
                  <a:srgbClr val="E2E8F0"/>
                </a:solidFill>
                <a:latin typeface="Microsoft YaHei"/>
                <a:ea typeface="Microsoft YaHei"/>
              </a:rPr>
              <a:t>一体化平台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533400" y="3800475"/>
            <a:ext cx="8572500" cy="8572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从巡检发现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报修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调度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维修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验收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知识沉淀的全链路数字化解决方案</a:t>
            </a:r>
            <a:endParaRPr/>
          </a:p>
          <a:p>
            <a:pPr>
              <a:lnSpc>
                <a:spcPct val="17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解决流程制造企业的</a:t>
            </a:r>
            <a:r>
              <a:rPr lang="zh-CN" sz="1650" b="1">
                <a:solidFill>
                  <a:srgbClr val="F59E0B"/>
                </a:solidFill>
                <a:latin typeface="Microsoft YaHei"/>
                <a:ea typeface="Microsoft YaHei"/>
              </a:rPr>
              <a:t>信息孤岛</a:t>
            </a:r>
            <a:r>
              <a:rPr lang="en-US" sz="1650" b="1">
                <a:solidFill>
                  <a:srgbClr val="F59E0B"/>
                </a:solidFill>
                <a:latin typeface="Microsoft YaHei"/>
                <a:ea typeface="Microsoft YaHei"/>
              </a:rPr>
              <a:t> / </a:t>
            </a:r>
            <a:r>
              <a:rPr lang="zh-CN" sz="1650" b="1">
                <a:solidFill>
                  <a:srgbClr val="F59E0B"/>
                </a:solidFill>
                <a:latin typeface="Microsoft YaHei"/>
                <a:ea typeface="Microsoft YaHei"/>
              </a:rPr>
              <a:t>流程断裂</a:t>
            </a:r>
            <a:r>
              <a:rPr lang="en-US" sz="1650" b="1">
                <a:solidFill>
                  <a:srgbClr val="F59E0B"/>
                </a:solidFill>
                <a:latin typeface="Microsoft YaHei"/>
                <a:ea typeface="Microsoft YaHei"/>
              </a:rPr>
              <a:t> / </a:t>
            </a:r>
            <a:r>
              <a:rPr lang="zh-CN" sz="1650" b="1">
                <a:solidFill>
                  <a:srgbClr val="F59E0B"/>
                </a:solidFill>
                <a:latin typeface="Microsoft YaHei"/>
                <a:ea typeface="Microsoft YaHei"/>
              </a:rPr>
              <a:t>知识流失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三大痛点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561975" y="5267325"/>
            <a:ext cx="2667000" cy="1057275"/>
          </a:xfrm>
          <a:prstGeom prst="roundRect">
            <a:avLst>
              <a:gd name="adj" fmla="val 72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9" name=""/>
          <p:cNvSpPr/>
          <p:nvPr/>
        </p:nvSpPr>
        <p:spPr>
          <a:xfrm rot="0" flipH="0" flipV="0">
            <a:off x="561975" y="5267325"/>
            <a:ext cx="2667000" cy="1057275"/>
          </a:xfrm>
          <a:custGeom>
            <a:pathLst>
              <a:path w="280" h="11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106"/>
                </a:lnTo>
                <a:cubicBezTo>
                  <a:pt x="3" y="108"/>
                  <a:pt x="5" y="110"/>
                  <a:pt x="7" y="111"/>
                </a:cubicBezTo>
                <a:cubicBezTo>
                  <a:pt x="3" y="110"/>
                  <a:pt x="0" y="107"/>
                  <a:pt x="0" y="10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33425" y="5438775"/>
            <a:ext cx="22955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6B6D4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33425" y="6000750"/>
            <a:ext cx="2295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张业务表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3381375" y="5267325"/>
            <a:ext cx="2667000" cy="1057275"/>
          </a:xfrm>
          <a:prstGeom prst="roundRect">
            <a:avLst>
              <a:gd name="adj" fmla="val 72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3" name=""/>
          <p:cNvSpPr/>
          <p:nvPr/>
        </p:nvSpPr>
        <p:spPr>
          <a:xfrm rot="0" flipH="0" flipV="0">
            <a:off x="3381375" y="5267325"/>
            <a:ext cx="2667000" cy="1057275"/>
          </a:xfrm>
          <a:custGeom>
            <a:pathLst>
              <a:path w="280" h="11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106"/>
                </a:lnTo>
                <a:cubicBezTo>
                  <a:pt x="3" y="108"/>
                  <a:pt x="5" y="110"/>
                  <a:pt x="7" y="111"/>
                </a:cubicBezTo>
                <a:cubicBezTo>
                  <a:pt x="3" y="110"/>
                  <a:pt x="0" y="107"/>
                  <a:pt x="0" y="10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3552825" y="5438775"/>
            <a:ext cx="22955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6B6D4"/>
                </a:solidFill>
                <a:latin typeface="Microsoft YaHei"/>
                <a:ea typeface="Microsoft YaHei"/>
              </a:rPr>
              <a:t>25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3552825" y="6000750"/>
            <a:ext cx="2295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个幂等迁移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200775" y="5267325"/>
            <a:ext cx="2667000" cy="1057275"/>
          </a:xfrm>
          <a:prstGeom prst="roundRect">
            <a:avLst>
              <a:gd name="adj" fmla="val 72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200775" y="5267325"/>
            <a:ext cx="2667000" cy="1057275"/>
          </a:xfrm>
          <a:custGeom>
            <a:pathLst>
              <a:path w="280" h="11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106"/>
                </a:lnTo>
                <a:cubicBezTo>
                  <a:pt x="3" y="108"/>
                  <a:pt x="5" y="110"/>
                  <a:pt x="7" y="111"/>
                </a:cubicBezTo>
                <a:cubicBezTo>
                  <a:pt x="3" y="110"/>
                  <a:pt x="0" y="107"/>
                  <a:pt x="0" y="10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372225" y="5438775"/>
            <a:ext cx="22955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F59E0B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372225" y="6000750"/>
            <a:ext cx="2295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项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AI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能力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9020175" y="5267325"/>
            <a:ext cx="2667000" cy="1057275"/>
          </a:xfrm>
          <a:prstGeom prst="roundRect">
            <a:avLst>
              <a:gd name="adj" fmla="val 72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1" name=""/>
          <p:cNvSpPr/>
          <p:nvPr/>
        </p:nvSpPr>
        <p:spPr>
          <a:xfrm rot="0" flipH="0" flipV="0">
            <a:off x="9020175" y="5267325"/>
            <a:ext cx="2667000" cy="1057275"/>
          </a:xfrm>
          <a:custGeom>
            <a:pathLst>
              <a:path w="280" h="11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106"/>
                </a:lnTo>
                <a:cubicBezTo>
                  <a:pt x="3" y="108"/>
                  <a:pt x="5" y="110"/>
                  <a:pt x="7" y="111"/>
                </a:cubicBezTo>
                <a:cubicBezTo>
                  <a:pt x="3" y="110"/>
                  <a:pt x="0" y="107"/>
                  <a:pt x="0" y="10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9191625" y="5438775"/>
            <a:ext cx="22955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6B6D4"/>
                </a:solidFill>
                <a:latin typeface="Microsoft YaHei"/>
                <a:ea typeface="Microsoft YaHei"/>
              </a:rPr>
              <a:t>88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9191625" y="6000750"/>
            <a:ext cx="2295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个测试文件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15" name="" descr="&lt;Slide style={{ width: '1280px', height: '720px', padding: '40px 56px', backgroundColor: '#0b1220' }}&gt;&#10;    &lt;Box style={{ display: 'flex', alignItems: 'center', marginBottom: '40px' }}&gt;&#10;      &lt;Text style={{ fontSize: '14px', color: '#06b6d4', letterSpacing: '3px' }}&gt;CONTENTS&lt;/Text&gt;&#10;      &lt;Box style={{ flex: 1, height: '1px', backgroundColor: '#1e293b', marginLeft: '20px' }} /&gt;&#10;    &lt;/Box&gt;&#10;&#10;    &lt;Text style={{&#10;      fontSize: '48px', fontWeight: 'bold', color: '#e2e8f0',&#10;      marginBottom: '48px',&#10;    }}&gt;&#10;      &lt;span style={{ color: '#06b6d4' }}&gt;目录&lt;/span&gt;&#10;    &lt;/Text&gt;&#10;&#10;    &lt;Box style={{ display: 'flex', flexWrap: 'wrap', gap: '20px', height: '440px' }}&gt;&#10;      {[&#10;        { num: '01', title: '背景与痛点', sub: '传统维修的三大痛点', color: '#06b6d4' },&#10;        { num: '02', title: '方案与架构', sub: '单进程双形态 + AI + RBAC', color: '#06b6d4' },&#10;        { num: '03', title: '现场演示', sub: '报修 → 作业票 → AI → 数字人 → 闯关', color: '#f59e0b' },&#10;        { num: '04', title: '差异化创新', sub: '跨 iframe 拖拽 / 单台特征化', color: '#f59e0b' },&#10;        { num: '05', title: '总结与展望', sub: '关键数据 + 后续工作', color: '#06b6d4' },&#10;      ].map((item, i) =&gt; (&#10;        &lt;Box key={i} style={{&#10;          width: 'calc((100% - 60px) / 4)', padding: '28px',&#10;          backgroundColor: '#0f172a', borderRadius: '8px',&#10;          borderLeft: `3px solid ${item.color}`, minHeight: '180px',&#10;        }}&gt;&#10;          &lt;Text style={{ fontSize: '14px', color: item.color, letterSpacing: '2px', marginBottom: '12px' }}&gt;&#10;            {item.num}&#10;          &lt;/Text&gt;&#10;          &lt;Text style={{ fontSize: '26px', fontWeight: 'bold', color: '#e2e8f0', lineHeight: '1.3', marginBottom: '12px' }}&gt;&#10;            {item.title}&#10;          &lt;/Text&gt;&#10;          &lt;Text style={{ fontSize: '14px', color: '#94a3b8', lineHeight: '1.6' }}&gt;&#10;            {item.sub}&#10;          &lt;/Text&gt;&#10;        &lt;/Box&gt;&#10;      ))}&#10;    &lt;/Box&gt;&#10;&#10;    &lt;Box style={{ position: 'absolute', bottom: '20px', right: '56px' }}&gt;&#10;      &lt;Text style={{ fontSize: '12px', color: '#475569' }}&gt;02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95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1676400" y="457200"/>
            <a:ext cx="99822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533400" y="923925"/>
            <a:ext cx="111252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06B6D4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561975" y="1933575"/>
            <a:ext cx="2638425" cy="200025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561975" y="1933575"/>
            <a:ext cx="2638425" cy="2000250"/>
          </a:xfrm>
          <a:custGeom>
            <a:pathLst>
              <a:path w="277" h="21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205"/>
                </a:lnTo>
                <a:cubicBezTo>
                  <a:pt x="3" y="207"/>
                  <a:pt x="5" y="209"/>
                  <a:pt x="7" y="210"/>
                </a:cubicBezTo>
                <a:cubicBezTo>
                  <a:pt x="3" y="209"/>
                  <a:pt x="0" y="206"/>
                  <a:pt x="0" y="20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28675" y="2200275"/>
            <a:ext cx="2076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6B6D4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828675" y="2476500"/>
            <a:ext cx="207645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E2E8F0"/>
                </a:solidFill>
                <a:latin typeface="Microsoft YaHei"/>
                <a:ea typeface="Microsoft YaHei"/>
              </a:rPr>
              <a:t>背景与痛点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28675" y="2981325"/>
            <a:ext cx="20764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传统维修的三大痛点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3390900" y="1933575"/>
            <a:ext cx="2638425" cy="200025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26" name=""/>
          <p:cNvSpPr/>
          <p:nvPr/>
        </p:nvSpPr>
        <p:spPr>
          <a:xfrm rot="0" flipH="0" flipV="0">
            <a:off x="3390900" y="1933575"/>
            <a:ext cx="2638425" cy="2000250"/>
          </a:xfrm>
          <a:custGeom>
            <a:pathLst>
              <a:path w="277" h="21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205"/>
                </a:lnTo>
                <a:cubicBezTo>
                  <a:pt x="3" y="207"/>
                  <a:pt x="5" y="209"/>
                  <a:pt x="7" y="210"/>
                </a:cubicBezTo>
                <a:cubicBezTo>
                  <a:pt x="3" y="209"/>
                  <a:pt x="0" y="206"/>
                  <a:pt x="0" y="20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3657600" y="2200275"/>
            <a:ext cx="2076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6B6D4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3657600" y="2476500"/>
            <a:ext cx="207645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E2E8F0"/>
                </a:solidFill>
                <a:latin typeface="Microsoft YaHei"/>
                <a:ea typeface="Microsoft YaHei"/>
              </a:rPr>
              <a:t>方案与架构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657600" y="2981325"/>
            <a:ext cx="20764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单进程双形态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+ AI + RBAC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6219825" y="1933575"/>
            <a:ext cx="2638425" cy="200025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6219825" y="1933575"/>
            <a:ext cx="2638425" cy="2000250"/>
          </a:xfrm>
          <a:custGeom>
            <a:pathLst>
              <a:path w="277" h="21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205"/>
                </a:lnTo>
                <a:cubicBezTo>
                  <a:pt x="3" y="207"/>
                  <a:pt x="5" y="209"/>
                  <a:pt x="7" y="210"/>
                </a:cubicBezTo>
                <a:cubicBezTo>
                  <a:pt x="3" y="209"/>
                  <a:pt x="0" y="206"/>
                  <a:pt x="0" y="20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486525" y="2200275"/>
            <a:ext cx="2076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F59E0B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486525" y="2476500"/>
            <a:ext cx="207645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E2E8F0"/>
                </a:solidFill>
                <a:latin typeface="Microsoft YaHei"/>
                <a:ea typeface="Microsoft YaHei"/>
              </a:rPr>
              <a:t>现场演示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486525" y="2981325"/>
            <a:ext cx="20764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报修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作业票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→ AI →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数字人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闯关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9048750" y="1933575"/>
            <a:ext cx="2638425" cy="200025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9048750" y="1933575"/>
            <a:ext cx="2638425" cy="2000250"/>
          </a:xfrm>
          <a:custGeom>
            <a:pathLst>
              <a:path w="277" h="21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205"/>
                </a:lnTo>
                <a:cubicBezTo>
                  <a:pt x="3" y="207"/>
                  <a:pt x="5" y="209"/>
                  <a:pt x="7" y="210"/>
                </a:cubicBezTo>
                <a:cubicBezTo>
                  <a:pt x="3" y="209"/>
                  <a:pt x="0" y="206"/>
                  <a:pt x="0" y="20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315450" y="2200275"/>
            <a:ext cx="2076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F59E0B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315450" y="2476500"/>
            <a:ext cx="207645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E2E8F0"/>
                </a:solidFill>
                <a:latin typeface="Microsoft YaHei"/>
                <a:ea typeface="Microsoft YaHei"/>
              </a:rPr>
              <a:t>差异化创新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315450" y="2981325"/>
            <a:ext cx="20764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跨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iframe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拖拽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单台特征化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561975" y="4124325"/>
            <a:ext cx="2638425" cy="200025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561975" y="4124325"/>
            <a:ext cx="2638425" cy="2000250"/>
          </a:xfrm>
          <a:custGeom>
            <a:pathLst>
              <a:path w="277" h="21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205"/>
                </a:lnTo>
                <a:cubicBezTo>
                  <a:pt x="3" y="207"/>
                  <a:pt x="5" y="209"/>
                  <a:pt x="7" y="210"/>
                </a:cubicBezTo>
                <a:cubicBezTo>
                  <a:pt x="3" y="209"/>
                  <a:pt x="0" y="206"/>
                  <a:pt x="0" y="20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828675" y="4391025"/>
            <a:ext cx="2076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6B6D4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828675" y="4667250"/>
            <a:ext cx="207645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E2E8F0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828675" y="5172075"/>
            <a:ext cx="20764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关键数据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后续工作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46" name="" descr="&lt;Slide style={{ width: '1280px', height: '720px', padding: '40px 56px', backgroundColor: '#0b1220' }}&gt;&#10;    &lt;Box style={{ display: 'flex', alignItems: 'center', marginBottom: '24px' }}&gt;&#10;      &lt;Text style={{ fontSize: '14px', color: '#06b6d4', letterSpacing: '3px' }}&gt;BACKGROUND &amp; PAIN POINTS&lt;/Text&gt;&#10;      &lt;Box style={{ flex: 1, height: '1px', backgroundColor: '#1e293b', marginLeft: '20px' }} /&gt;&#10;    &lt;/Box&gt;&#10;&#10;    &lt;Text style={{&#10;      fontSize: '36px', fontWeight: 'bold', color: '#e2e8f0', marginBottom: '8px',&#10;    }}&gt;&#10;      传统设备维修的&lt;span style={{ color: '#f43f5e' }}&gt;三大痛点&lt;/span&gt;&#10;    &lt;/Text&gt;&#10;    &lt;Text style={{ fontSize: '16px', color: '#94a3b8', marginBottom: '40px' }}&gt;&#10;      流程制造企业普遍存在的共性问题，制约维修效率与质量&#10;    &lt;/Text&gt;&#10;&#10;    &lt;Box style={{ display: 'flex', gap: '20px', height: '420px' }}&gt;&#10;      {[&#10;        {&#10;          num: '1', title: '信息孤岛',&#10;          sym: '◇',&#10;          desc: '工单 / 巡检 / 知识 / 备件 / 安全模块独立运行',&#10;          impact: '数据互不相通，维修人员需切换 5+ 系统',&#10;          color: '#06b6d4',&#10;        },&#10;        {&#10;          num: '2', title: '流程断裂',&#10;          sym: '◇',&#10;          desc: '报修 → 派工 → 作业票 → LOTO → 验收',&#10;          impact: '纸质单据 + 微信群通知，关键节点丢失',&#10;          color: '#f59e0b',&#10;        },&#10;        {&#10;          num: '3', title: '知识流失',&#10;          sym: '◇',&#10;          desc: '老师傅经验靠口口相传',&#10;          impact: '人员流动即知识流失，故障反复发生',&#10;          color: '#f43f5e',&#10;        },&#10;      ].map((p, i) =&gt; (&#10;        &lt;Box key={i} style={{&#10;          flex: 1, padding: '32px', backgroundColor: '#0f172a', borderRadius: '8px',&#10;          borderTop: `3px solid ${p.color}`,&#10;          display: 'flex', flexDirection: 'column',&#10;        }}&gt;&#10;          &lt;Box style={{ display: 'flex', alignItems: 'center', marginBottom: '20px' }}&gt;&#10;            &lt;Box style={{&#10;              width: '48px', height: '48px', borderRadius: '50%',&#10;              backgroundColor: p.color, display: 'flex',&#10;              justifyContent: 'center', alignItems: 'center', marginRight: '12px',&#10;            }}&gt;&#10;              &lt;Text style={{ fontSize: '20px', fontWeight: 'bold', color: '#0b1220' }}&gt;{p.num}&lt;/Text&gt;&#10;            &lt;/Box&gt;&#10;            &lt;Text style={{ fontSize: '24px', fontWeight: 'bold', color: '#e2e8f0' }}&gt;{p.title}&lt;/Text&gt;&#10;          &lt;/Box&gt;&#10;          &lt;Text style={{ fontSize: '16px', color: '#cbd5e1', lineHeight: '1.7', marginBottom: '16px' }}&gt;&#10;            {p.desc}&#10;          &lt;/Text&gt;&#10;          &lt;Box style={{ marginTop: 'auto', padding: '16px', backgroundColor: '#1e293b', borderRadius: '6px' }}&gt;&#10;            &lt;Text style={{ fontSize: '12px', color: p.color, letterSpacing: '1px', marginBottom: '4px' }}&gt;&#10;              影响&#10;            &lt;/Text&gt;&#10;            &lt;Text style={{ fontSize: '14px', color: '#e2e8f0', lineHeight: '1.6' }}&gt;&#10;              {p.impact}&#10;            &lt;/Text&gt;&#10;          &lt;/Box&gt;&#10;        &lt;/Box&gt;&#10;      ))}&#10;    &lt;/Box&gt;&#10;&#10;    &lt;Box style={{ position: 'absolute', bottom: '20px', right: '56px' }}&gt;&#10;      &lt;Text style={{ fontSize: '12px', color: '#475569' }}&gt;03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2695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BACKGROUND &amp; PAIN POINTS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3419475" y="457200"/>
            <a:ext cx="8239125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533400" y="771525"/>
            <a:ext cx="11125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2E8F0"/>
                </a:solidFill>
                <a:latin typeface="Microsoft YaHei"/>
                <a:ea typeface="Microsoft YaHei"/>
              </a:rPr>
              <a:t>传统设备维修的</a:t>
            </a:r>
            <a:r>
              <a:rPr lang="zh-CN" sz="2700" b="1">
                <a:solidFill>
                  <a:srgbClr val="F43F5E"/>
                </a:solidFill>
                <a:latin typeface="Microsoft YaHei"/>
                <a:ea typeface="Microsoft YaHei"/>
              </a:rPr>
              <a:t>三大痛点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33400" y="1266825"/>
            <a:ext cx="1112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流程制造企业普遍存在的共性问题，制约维修效率与质量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533400" y="1866900"/>
            <a:ext cx="3581400" cy="4000500"/>
          </a:xfrm>
          <a:prstGeom prst="roundRect">
            <a:avLst>
              <a:gd name="adj" fmla="val 2128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533400" y="1866900"/>
            <a:ext cx="3581400" cy="4000500"/>
          </a:xfrm>
          <a:custGeom>
            <a:pathLst>
              <a:path w="376" h="420">
                <a:moveTo>
                  <a:pt x="368" y="0"/>
                </a:moveTo>
                <a:cubicBezTo>
                  <a:pt x="372" y="0"/>
                  <a:pt x="375" y="3"/>
                  <a:pt x="376" y="7"/>
                </a:cubicBezTo>
                <a:cubicBezTo>
                  <a:pt x="375" y="4"/>
                  <a:pt x="373" y="3"/>
                  <a:pt x="371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368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838200" y="2171700"/>
            <a:ext cx="457200" cy="457200"/>
          </a:xfrm>
          <a:custGeom>
            <a:pathLst>
              <a:path w="48" h="48">
                <a:moveTo>
                  <a:pt x="24" y="0"/>
                </a:moveTo>
                <a:lnTo>
                  <a:pt x="24" y="0"/>
                </a:lnTo>
                <a:cubicBezTo>
                  <a:pt x="37" y="0"/>
                  <a:pt x="48" y="11"/>
                  <a:pt x="48" y="24"/>
                </a:cubicBezTo>
                <a:lnTo>
                  <a:pt x="48" y="24"/>
                </a:lnTo>
                <a:cubicBezTo>
                  <a:pt x="48" y="37"/>
                  <a:pt x="37" y="48"/>
                  <a:pt x="24" y="48"/>
                </a:cubicBezTo>
                <a:lnTo>
                  <a:pt x="24" y="48"/>
                </a:lnTo>
                <a:cubicBezTo>
                  <a:pt x="11" y="48"/>
                  <a:pt x="0" y="37"/>
                  <a:pt x="0" y="24"/>
                </a:cubicBezTo>
                <a:lnTo>
                  <a:pt x="0" y="24"/>
                </a:lnTo>
                <a:cubicBezTo>
                  <a:pt x="0" y="11"/>
                  <a:pt x="11" y="0"/>
                  <a:pt x="24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1009650" y="22860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B1220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1409700" y="22669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2E8F0"/>
                </a:solidFill>
                <a:latin typeface="Microsoft YaHei"/>
                <a:ea typeface="Microsoft YaHei"/>
              </a:rPr>
              <a:t>信息孤岛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38200" y="2819400"/>
            <a:ext cx="2971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工单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巡检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知识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备件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安全模块独立运行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838200" y="4791075"/>
            <a:ext cx="2971800" cy="74295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990600" y="4943475"/>
            <a:ext cx="2667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75">
                <a:solidFill>
                  <a:srgbClr val="06B6D4"/>
                </a:solidFill>
                <a:latin typeface="Microsoft YaHei"/>
                <a:ea typeface="Microsoft YaHei"/>
              </a:rPr>
              <a:t>影响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990600" y="5124450"/>
            <a:ext cx="26670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E2E8F0"/>
                </a:solidFill>
                <a:latin typeface="Microsoft YaHei"/>
                <a:ea typeface="Microsoft YaHei"/>
              </a:rPr>
              <a:t>数据互不相通，维修人员需切换</a:t>
            </a:r>
            <a:r>
              <a:rPr lang="en-US" sz="1050">
                <a:solidFill>
                  <a:srgbClr val="E2E8F0"/>
                </a:solidFill>
                <a:latin typeface="Microsoft YaHei"/>
                <a:ea typeface="Microsoft YaHei"/>
              </a:rPr>
              <a:t> 5+ </a:t>
            </a:r>
            <a:r>
              <a:rPr lang="zh-CN" sz="1050">
                <a:solidFill>
                  <a:srgbClr val="E2E8F0"/>
                </a:solidFill>
                <a:latin typeface="Microsoft YaHei"/>
                <a:ea typeface="Microsoft YaHei"/>
              </a:rPr>
              <a:t>系统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4305300" y="1866900"/>
            <a:ext cx="3581400" cy="4000500"/>
          </a:xfrm>
          <a:prstGeom prst="roundRect">
            <a:avLst>
              <a:gd name="adj" fmla="val 2128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62" name=""/>
          <p:cNvSpPr/>
          <p:nvPr/>
        </p:nvSpPr>
        <p:spPr>
          <a:xfrm rot="0" flipH="0" flipV="0">
            <a:off x="4305300" y="1866900"/>
            <a:ext cx="3581400" cy="4000500"/>
          </a:xfrm>
          <a:custGeom>
            <a:pathLst>
              <a:path w="376" h="420">
                <a:moveTo>
                  <a:pt x="368" y="0"/>
                </a:moveTo>
                <a:cubicBezTo>
                  <a:pt x="372" y="0"/>
                  <a:pt x="375" y="3"/>
                  <a:pt x="376" y="7"/>
                </a:cubicBezTo>
                <a:cubicBezTo>
                  <a:pt x="375" y="4"/>
                  <a:pt x="373" y="3"/>
                  <a:pt x="371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368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4610100" y="2171700"/>
            <a:ext cx="457200" cy="457200"/>
          </a:xfrm>
          <a:custGeom>
            <a:pathLst>
              <a:path w="48" h="48">
                <a:moveTo>
                  <a:pt x="24" y="0"/>
                </a:moveTo>
                <a:lnTo>
                  <a:pt x="24" y="0"/>
                </a:lnTo>
                <a:cubicBezTo>
                  <a:pt x="37" y="0"/>
                  <a:pt x="48" y="11"/>
                  <a:pt x="48" y="24"/>
                </a:cubicBezTo>
                <a:lnTo>
                  <a:pt x="48" y="24"/>
                </a:lnTo>
                <a:cubicBezTo>
                  <a:pt x="48" y="37"/>
                  <a:pt x="37" y="48"/>
                  <a:pt x="24" y="48"/>
                </a:cubicBezTo>
                <a:lnTo>
                  <a:pt x="24" y="48"/>
                </a:lnTo>
                <a:cubicBezTo>
                  <a:pt x="11" y="48"/>
                  <a:pt x="0" y="37"/>
                  <a:pt x="0" y="24"/>
                </a:cubicBezTo>
                <a:lnTo>
                  <a:pt x="0" y="24"/>
                </a:lnTo>
                <a:cubicBezTo>
                  <a:pt x="0" y="11"/>
                  <a:pt x="11" y="0"/>
                  <a:pt x="24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781550" y="22860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B1220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5181600" y="22669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2E8F0"/>
                </a:solidFill>
                <a:latin typeface="Microsoft YaHei"/>
                <a:ea typeface="Microsoft YaHei"/>
              </a:rPr>
              <a:t>流程断裂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610100" y="2819400"/>
            <a:ext cx="29718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报修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派工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作业票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 → LOTO →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验收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4610100" y="4791075"/>
            <a:ext cx="2971800" cy="74295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762500" y="4943475"/>
            <a:ext cx="2667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75">
                <a:solidFill>
                  <a:srgbClr val="F59E0B"/>
                </a:solidFill>
                <a:latin typeface="Microsoft YaHei"/>
                <a:ea typeface="Microsoft YaHei"/>
              </a:rPr>
              <a:t>影响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762500" y="5124450"/>
            <a:ext cx="26670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E2E8F0"/>
                </a:solidFill>
                <a:latin typeface="Microsoft YaHei"/>
                <a:ea typeface="Microsoft YaHei"/>
              </a:rPr>
              <a:t>纸质单据</a:t>
            </a:r>
            <a:r>
              <a:rPr lang="en-US" sz="1050">
                <a:solidFill>
                  <a:srgbClr val="E2E8F0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E2E8F0"/>
                </a:solidFill>
                <a:latin typeface="Microsoft YaHei"/>
                <a:ea typeface="Microsoft YaHei"/>
              </a:rPr>
              <a:t>微信群通知，关键节点丢失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77200" y="1866900"/>
            <a:ext cx="3581400" cy="4000500"/>
          </a:xfrm>
          <a:prstGeom prst="roundRect">
            <a:avLst>
              <a:gd name="adj" fmla="val 2128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8077200" y="1866900"/>
            <a:ext cx="3581400" cy="4000500"/>
          </a:xfrm>
          <a:custGeom>
            <a:pathLst>
              <a:path w="376" h="420">
                <a:moveTo>
                  <a:pt x="368" y="0"/>
                </a:moveTo>
                <a:cubicBezTo>
                  <a:pt x="372" y="0"/>
                  <a:pt x="375" y="3"/>
                  <a:pt x="376" y="7"/>
                </a:cubicBezTo>
                <a:cubicBezTo>
                  <a:pt x="375" y="4"/>
                  <a:pt x="373" y="3"/>
                  <a:pt x="371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368" y="0"/>
                </a:lnTo>
                <a:close/>
              </a:path>
            </a:pathLst>
          </a:custGeom>
          <a:solidFill>
            <a:srgbClr val="F43F5E"/>
          </a:solidFill>
          <a:ln/>
        </p:spPr>
        <p:txBody>
          <a:bodyPr/>
          <a:p/>
        </p:txBody>
      </p:sp>
      <p:sp>
        <p:nvSpPr>
          <p:cNvPr id="172" name=""/>
          <p:cNvSpPr/>
          <p:nvPr/>
        </p:nvSpPr>
        <p:spPr>
          <a:xfrm rot="0" flipH="0" flipV="0">
            <a:off x="8382000" y="2171700"/>
            <a:ext cx="457200" cy="457200"/>
          </a:xfrm>
          <a:custGeom>
            <a:pathLst>
              <a:path w="48" h="48">
                <a:moveTo>
                  <a:pt x="24" y="0"/>
                </a:moveTo>
                <a:lnTo>
                  <a:pt x="24" y="0"/>
                </a:lnTo>
                <a:cubicBezTo>
                  <a:pt x="37" y="0"/>
                  <a:pt x="48" y="11"/>
                  <a:pt x="48" y="24"/>
                </a:cubicBezTo>
                <a:lnTo>
                  <a:pt x="48" y="24"/>
                </a:lnTo>
                <a:cubicBezTo>
                  <a:pt x="48" y="37"/>
                  <a:pt x="37" y="48"/>
                  <a:pt x="24" y="48"/>
                </a:cubicBezTo>
                <a:lnTo>
                  <a:pt x="24" y="48"/>
                </a:lnTo>
                <a:cubicBezTo>
                  <a:pt x="11" y="48"/>
                  <a:pt x="0" y="37"/>
                  <a:pt x="0" y="24"/>
                </a:cubicBezTo>
                <a:lnTo>
                  <a:pt x="0" y="24"/>
                </a:lnTo>
                <a:cubicBezTo>
                  <a:pt x="0" y="11"/>
                  <a:pt x="11" y="0"/>
                  <a:pt x="24" y="0"/>
                </a:cubicBezTo>
                <a:close/>
              </a:path>
            </a:pathLst>
          </a:custGeom>
          <a:solidFill>
            <a:srgbClr val="F43F5E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553450" y="22860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B1220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953500" y="22669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2E8F0"/>
                </a:solidFill>
                <a:latin typeface="Microsoft YaHei"/>
                <a:ea typeface="Microsoft YaHei"/>
              </a:rPr>
              <a:t>知识流失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382000" y="2819400"/>
            <a:ext cx="29718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老师傅经验靠口口相传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8382000" y="4791075"/>
            <a:ext cx="2971800" cy="74295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534400" y="4943475"/>
            <a:ext cx="2667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75">
                <a:solidFill>
                  <a:srgbClr val="F43F5E"/>
                </a:solidFill>
                <a:latin typeface="Microsoft YaHei"/>
                <a:ea typeface="Microsoft YaHei"/>
              </a:rPr>
              <a:t>影响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534400" y="5124450"/>
            <a:ext cx="26670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E2E8F0"/>
                </a:solidFill>
                <a:latin typeface="Microsoft YaHei"/>
                <a:ea typeface="Microsoft YaHei"/>
              </a:rPr>
              <a:t>人员流动即知识流失，故障反复发生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80" name="" descr="&lt;Slide style={{ width: '1280px', height: '720px', padding: '40px 56px', backgroundColor: '#0b1220' }}&gt;&#10;    &lt;Box style={{ display: 'flex', alignItems: 'center', marginBottom: '24px' }}&gt;&#10;      &lt;Text style={{ fontSize: '14px', color: '#06b6d4', letterSpacing: '3px' }}&gt;SOLUTION ARCHITECTURE&lt;/Text&gt;&#10;      &lt;Box style={{ flex: 1, height: '1px', backgroundColor: '#1e293b', marginLeft: '20px' }} /&gt;&#10;    &lt;/Box&gt;&#10;&#10;    &lt;Text style={{&#10;      fontSize: '36px', fontWeight: 'bold', color: '#e2e8f0', marginBottom: '8px',&#10;    }}&gt;&#10;      解决方案 · &lt;span style={{ color: '#06b6d4' }}&gt;单进程双形态&lt;/span&gt;&#10;    &lt;/Text&gt;&#10;    &lt;Text style={{ fontSize: '16px', color: '#94a3b8', marginBottom: '32px' }}&gt;&#10;      开发用 PGlite + npm run dev；生产用 PostgreSQL + Docker，一条命令切换&#10;    &lt;/Text&gt;&#10;&#10;    &lt;Box style={{ display: 'flex', flexDirection: 'column', gap: '12px', height: '440px' }}&gt;&#10;      {/* 第一层：浏览器 */}&#10;      &lt;Box style={{&#10;        padding: '20px', backgroundColor: '#0f172a', borderRadius: '6px',&#10;        borderLeft: '3px solid #06b6d4',&#10;      }}&gt;&#10;        &lt;Text style={{ fontSize: '13px', color: '#06b6d4', letterSpacing: '1px', marginBottom: '8px' }}&gt;&#10;          LAYER 1 · BROWSER&#10;        &lt;/Text&gt;&#10;        &lt;Box style={{ display: 'flex', gap: '12px' }}&gt;&#10;          {['React 19 + Vite 6', 'Tailwind 4 + motion 12', 'three.js 0.186 + VRM 3.5', 'Godot 4.7 Web 导出（3 套独立工程）'].map((t, i) =&gt; (&#10;            &lt;Box key={i} style={{ flex: 1, padding: '10px', backgroundColor: '#1e293b', borderRadius: '4px' }}&gt;&#10;              &lt;Text style={{ fontSize: '13px', color: '#e2e8f0' }}&gt;{t}&lt;/Text&gt;&#10;            &lt;/Box&gt;&#10;          ))}&#10;        &lt;/Box&gt;&#10;      &lt;/Box&gt;&#10;&#10;      {/* 箭头 */}&#10;      &lt;Text style={{ fontSize: '14px', color: '#06b6d4', textAlign: 'center' }}&gt;↓ HTTP / SSE / WebSocket&lt;/Text&gt;&#10;&#10;      {/* 第二层：Express */}&#10;      &lt;Box style={{&#10;        padding: '20px', backgroundColor: '#0f172a', borderRadius: '6px',&#10;        borderLeft: '3px solid #06b6d4',&#10;      }}&gt;&#10;        &lt;Text style={{ fontSize: '13px', color: '#06b6d4', letterSpacing: '1px', marginBottom: '8px' }}&gt;&#10;          LAYER 2 · EXPRESS API（src/server/index.ts）&#10;        &lt;/Text&gt;&#10;        &lt;Box style={{ display: 'flex', gap: '12px' }}&gt;&#10;          {['Helmet CSP + CORS + CSRF', 'globalAuthGuard + JWT', '20 个路由模块', 'AI 服务层（OpenAI SDK → DashScope 兼容端点）', 'SSE 流式输出'].map((t, i) =&gt; (&#10;            &lt;Box key={i} style={{ flex: 1, padding: '10px', backgroundColor: '#1e293b', borderRadius: '4px' }}&gt;&#10;              &lt;Text style={{ fontSize: '13px', color: '#e2e8f0' }}&gt;{t}&lt;/Text&gt;&#10;            &lt;/Box&gt;&#10;          ))}&#10;        &lt;/Box&gt;&#10;      &lt;/Box&gt;&#10;&#10;      &lt;Text style={{ fontSize: '14px', color: '#06b6d4', textAlign: 'center' }}&gt;↓ SQL（DatabaseAdapter 双模式）&lt;/Text&gt;&#10;&#10;      {/* 第三层：数据库 */}&#10;      &lt;Box style={{&#10;        padding: '20px', backgroundColor: '#0f172a', borderRadius: '6px',&#10;        borderLeft: '3px solid #f59e0b',&#10;      }}&gt;&#10;        &lt;Text style={{ fontSize: '13px', color: '#f59e0b', letterSpacing: '1px', marginBottom: '8px' }}&gt;&#10;          LAYER 3 · DATABASE（src/db/db.ts 通过 DB_TYPE 切换）&#10;        &lt;/Text&gt;&#10;        &lt;Box style={{ display: 'flex', gap: '12px' }}&gt;&#10;          &lt;Box style={{ flex: 1, padding: '10px', backgroundColor: '#1e293b', borderRadius: '4px' }}&gt;&#10;            &lt;Text style={{ fontSize: '13px', color: '#06b6d4' }}&gt;PGlite 0.5&lt;/Text&gt;&#10;            &lt;Text style={{ fontSize: '11px', color: '#94a3b8', marginTop: '2px' }}&gt;开发 / 测试 · WASM 内嵌&lt;/Text&gt;&#10;          &lt;/Box&gt;&#10;          &lt;Box style={{ flex: 1, padding: '10px', backgroundColor: '#1e293b', borderRadius: '4px' }}&gt;&#10;            &lt;Text style={{ fontSize: '13px', color: '#f59e0b' }}&gt;PostgreSQL 15 + pgvector&lt;/Text&gt;&#10;            &lt;Text style={{ fontSize: '11px', color: '#94a3b8', marginTop: '2px' }}&gt;生产 · 25 个幂等迁移&lt;/Text&gt;&#10;          &lt;/Box&gt;&#10;        &lt;/Box&gt;&#10;      &lt;/Box&gt;&#10;    &lt;/Box&gt;&#10;&#10;    &lt;Box style={{ position: 'absolute', bottom: '20px', right: '56px' }}&gt;&#10;      &lt;Text style={{ fontSize: '12px', color: '#475569' }}&gt;04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2314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SOLUTION ARCHITECTURE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3038475" y="457200"/>
            <a:ext cx="8620125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33400" y="771525"/>
            <a:ext cx="11125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2E8F0"/>
                </a:solidFill>
                <a:latin typeface="Microsoft YaHei"/>
                <a:ea typeface="Microsoft YaHei"/>
              </a:rPr>
              <a:t>解决方案</a:t>
            </a:r>
            <a:r>
              <a:rPr lang="en-US" sz="2700" b="1">
                <a:solidFill>
                  <a:srgbClr val="E2E8F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06B6D4"/>
                </a:solidFill>
                <a:latin typeface="Microsoft YaHei"/>
                <a:ea typeface="Microsoft YaHei"/>
              </a:rPr>
              <a:t>单进程双形态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33400" y="1266825"/>
            <a:ext cx="1112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开发用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PGlite + npm run dev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；生产用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PostgreSQL + Docker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，一条命令切换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561975" y="1762125"/>
            <a:ext cx="11125200" cy="9525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87" name=""/>
          <p:cNvSpPr/>
          <p:nvPr/>
        </p:nvSpPr>
        <p:spPr>
          <a:xfrm rot="0" flipH="0" flipV="0">
            <a:off x="561975" y="1762125"/>
            <a:ext cx="11125200" cy="952500"/>
          </a:xfrm>
          <a:custGeom>
            <a:pathLst>
              <a:path w="1168" h="100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97"/>
                </a:lnTo>
                <a:cubicBezTo>
                  <a:pt x="3" y="98"/>
                  <a:pt x="4" y="100"/>
                  <a:pt x="5" y="100"/>
                </a:cubicBezTo>
                <a:cubicBezTo>
                  <a:pt x="2" y="100"/>
                  <a:pt x="0" y="97"/>
                  <a:pt x="0" y="94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52475" y="1952625"/>
            <a:ext cx="1071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06B6D4"/>
                </a:solidFill>
                <a:latin typeface="Microsoft YaHei"/>
                <a:ea typeface="Microsoft YaHei"/>
              </a:rPr>
              <a:t>LAYER 1 · BROWSER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752475" y="2181225"/>
            <a:ext cx="2590800" cy="34290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47725" y="2276475"/>
            <a:ext cx="2400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React 19 + Vite 6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3457575" y="2181225"/>
            <a:ext cx="2600325" cy="34290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3552825" y="2276475"/>
            <a:ext cx="2409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Tailwind 4 + motion 12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172200" y="2181225"/>
            <a:ext cx="2590800" cy="34290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267450" y="2276475"/>
            <a:ext cx="2400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three.js 0.186 + VRM 3.5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8877300" y="2181225"/>
            <a:ext cx="2590800" cy="34290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972550" y="2276475"/>
            <a:ext cx="2400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Godot 4.7 Web </a:t>
            </a:r>
            <a:r>
              <a:rPr lang="zh-CN" sz="975">
                <a:solidFill>
                  <a:srgbClr val="E2E8F0"/>
                </a:solidFill>
                <a:latin typeface="Microsoft YaHei"/>
                <a:ea typeface="Microsoft YaHei"/>
              </a:rPr>
              <a:t>导出（</a:t>
            </a: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E2E8F0"/>
                </a:solidFill>
                <a:latin typeface="Microsoft YaHei"/>
                <a:ea typeface="Microsoft YaHei"/>
              </a:rPr>
              <a:t>套独立工程）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533400" y="2828925"/>
            <a:ext cx="111252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50">
                <a:solidFill>
                  <a:srgbClr val="06B6D4"/>
                </a:solidFill>
                <a:latin typeface="Microsoft YaHei"/>
                <a:ea typeface="Microsoft YaHei"/>
              </a:rPr>
              <a:t>↓ HTTP / SSE / WebSocket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561975" y="3105150"/>
            <a:ext cx="11125200" cy="1104900"/>
          </a:xfrm>
          <a:prstGeom prst="roundRect">
            <a:avLst>
              <a:gd name="adj" fmla="val 5172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99" name=""/>
          <p:cNvSpPr/>
          <p:nvPr/>
        </p:nvSpPr>
        <p:spPr>
          <a:xfrm rot="0" flipH="0" flipV="0">
            <a:off x="561975" y="3105150"/>
            <a:ext cx="11125200" cy="1104900"/>
          </a:xfrm>
          <a:custGeom>
            <a:pathLst>
              <a:path w="1168" h="11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113"/>
                </a:lnTo>
                <a:cubicBezTo>
                  <a:pt x="3" y="114"/>
                  <a:pt x="4" y="116"/>
                  <a:pt x="5" y="116"/>
                </a:cubicBezTo>
                <a:cubicBezTo>
                  <a:pt x="2" y="116"/>
                  <a:pt x="0" y="113"/>
                  <a:pt x="0" y="1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52475" y="3295650"/>
            <a:ext cx="1071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06B6D4"/>
                </a:solidFill>
                <a:latin typeface="Microsoft YaHei"/>
                <a:ea typeface="Microsoft YaHei"/>
              </a:rPr>
              <a:t>LAYER 2 · EXPRESS API</a:t>
            </a:r>
            <a:r>
              <a:rPr lang="zh-CN" sz="975" spc="75">
                <a:solidFill>
                  <a:srgbClr val="06B6D4"/>
                </a:solidFill>
                <a:latin typeface="Microsoft YaHei"/>
                <a:ea typeface="Microsoft YaHei"/>
              </a:rPr>
              <a:t>（</a:t>
            </a:r>
            <a:r>
              <a:rPr lang="en-US" sz="975" spc="75">
                <a:solidFill>
                  <a:srgbClr val="06B6D4"/>
                </a:solidFill>
                <a:latin typeface="Microsoft YaHei"/>
                <a:ea typeface="Microsoft YaHei"/>
              </a:rPr>
              <a:t>src/server/index.ts</a:t>
            </a:r>
            <a:r>
              <a:rPr lang="zh-CN" sz="975" spc="75">
                <a:solidFill>
                  <a:srgbClr val="06B6D4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752475" y="3524250"/>
            <a:ext cx="2047875" cy="49530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47725" y="3619500"/>
            <a:ext cx="185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Helmet CSP + CORS + CSRF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2914650" y="3524250"/>
            <a:ext cx="2057400" cy="49530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009900" y="3619500"/>
            <a:ext cx="1866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globalAuthGuard + JWT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5086350" y="3524250"/>
            <a:ext cx="2047875" cy="49530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5181600" y="3619500"/>
            <a:ext cx="185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20 </a:t>
            </a:r>
            <a:r>
              <a:rPr lang="zh-CN" sz="975">
                <a:solidFill>
                  <a:srgbClr val="E2E8F0"/>
                </a:solidFill>
                <a:latin typeface="Microsoft YaHei"/>
                <a:ea typeface="Microsoft YaHei"/>
              </a:rPr>
              <a:t>个路由模块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7248525" y="3524250"/>
            <a:ext cx="2057400" cy="49530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343775" y="3619500"/>
            <a:ext cx="18669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AI </a:t>
            </a:r>
            <a:r>
              <a:rPr lang="zh-CN" sz="975">
                <a:solidFill>
                  <a:srgbClr val="E2E8F0"/>
                </a:solidFill>
                <a:latin typeface="Microsoft YaHei"/>
                <a:ea typeface="Microsoft YaHei"/>
              </a:rPr>
              <a:t>服务层（</a:t>
            </a: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OpenAI SDK → DashScope </a:t>
            </a:r>
            <a:r>
              <a:rPr lang="zh-CN" sz="975">
                <a:solidFill>
                  <a:srgbClr val="E2E8F0"/>
                </a:solidFill>
                <a:latin typeface="Microsoft YaHei"/>
                <a:ea typeface="Microsoft YaHei"/>
              </a:rPr>
              <a:t>兼容端点）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9420225" y="3524250"/>
            <a:ext cx="2047875" cy="49530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515475" y="3619500"/>
            <a:ext cx="185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2E8F0"/>
                </a:solidFill>
                <a:latin typeface="Microsoft YaHei"/>
                <a:ea typeface="Microsoft YaHei"/>
              </a:rPr>
              <a:t>SSE </a:t>
            </a:r>
            <a:r>
              <a:rPr lang="zh-CN" sz="975">
                <a:solidFill>
                  <a:srgbClr val="E2E8F0"/>
                </a:solidFill>
                <a:latin typeface="Microsoft YaHei"/>
                <a:ea typeface="Microsoft YaHei"/>
              </a:rPr>
              <a:t>流式输出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533400" y="4324350"/>
            <a:ext cx="111252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50">
                <a:solidFill>
                  <a:srgbClr val="06B6D4"/>
                </a:solidFill>
                <a:latin typeface="Microsoft YaHei"/>
                <a:ea typeface="Microsoft YaHei"/>
              </a:rPr>
              <a:t>↓ SQL</a:t>
            </a:r>
            <a:r>
              <a:rPr lang="zh-CN" sz="1050">
                <a:solidFill>
                  <a:srgbClr val="06B6D4"/>
                </a:solidFill>
                <a:latin typeface="Microsoft YaHei"/>
                <a:ea typeface="Microsoft YaHei"/>
              </a:rPr>
              <a:t>（</a:t>
            </a:r>
            <a:r>
              <a:rPr lang="en-US" sz="1050">
                <a:solidFill>
                  <a:srgbClr val="06B6D4"/>
                </a:solidFill>
                <a:latin typeface="Microsoft YaHei"/>
                <a:ea typeface="Microsoft YaHei"/>
              </a:rPr>
              <a:t>DatabaseAdapter </a:t>
            </a:r>
            <a:r>
              <a:rPr lang="zh-CN" sz="1050">
                <a:solidFill>
                  <a:srgbClr val="06B6D4"/>
                </a:solidFill>
                <a:latin typeface="Microsoft YaHei"/>
                <a:ea typeface="Microsoft YaHei"/>
              </a:rPr>
              <a:t>双模式）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561975" y="4600575"/>
            <a:ext cx="11125200" cy="1104900"/>
          </a:xfrm>
          <a:prstGeom prst="roundRect">
            <a:avLst>
              <a:gd name="adj" fmla="val 5172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561975" y="4600575"/>
            <a:ext cx="11125200" cy="1104900"/>
          </a:xfrm>
          <a:custGeom>
            <a:pathLst>
              <a:path w="1168" h="11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113"/>
                </a:lnTo>
                <a:cubicBezTo>
                  <a:pt x="3" y="114"/>
                  <a:pt x="4" y="116"/>
                  <a:pt x="5" y="116"/>
                </a:cubicBezTo>
                <a:cubicBezTo>
                  <a:pt x="2" y="116"/>
                  <a:pt x="0" y="113"/>
                  <a:pt x="0" y="1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52475" y="4791075"/>
            <a:ext cx="1071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F59E0B"/>
                </a:solidFill>
                <a:latin typeface="Microsoft YaHei"/>
                <a:ea typeface="Microsoft YaHei"/>
              </a:rPr>
              <a:t>LAYER 3 · DATABASE</a:t>
            </a:r>
            <a:r>
              <a:rPr lang="zh-CN" sz="975" spc="75">
                <a:solidFill>
                  <a:srgbClr val="F59E0B"/>
                </a:solidFill>
                <a:latin typeface="Microsoft YaHei"/>
                <a:ea typeface="Microsoft YaHei"/>
              </a:rPr>
              <a:t>（</a:t>
            </a:r>
            <a:r>
              <a:rPr lang="en-US" sz="975" spc="75">
                <a:solidFill>
                  <a:srgbClr val="F59E0B"/>
                </a:solidFill>
                <a:latin typeface="Microsoft YaHei"/>
                <a:ea typeface="Microsoft YaHei"/>
              </a:rPr>
              <a:t>src/db/db.ts </a:t>
            </a:r>
            <a:r>
              <a:rPr lang="zh-CN" sz="975" spc="75">
                <a:solidFill>
                  <a:srgbClr val="F59E0B"/>
                </a:solidFill>
                <a:latin typeface="Microsoft YaHei"/>
                <a:ea typeface="Microsoft YaHei"/>
              </a:rPr>
              <a:t>通过</a:t>
            </a:r>
            <a:r>
              <a:rPr lang="en-US" sz="975" spc="75">
                <a:solidFill>
                  <a:srgbClr val="F59E0B"/>
                </a:solidFill>
                <a:latin typeface="Microsoft YaHei"/>
                <a:ea typeface="Microsoft YaHei"/>
              </a:rPr>
              <a:t> DB_TYPE </a:t>
            </a:r>
            <a:r>
              <a:rPr lang="zh-CN" sz="975" spc="75">
                <a:solidFill>
                  <a:srgbClr val="F59E0B"/>
                </a:solidFill>
                <a:latin typeface="Microsoft YaHei"/>
                <a:ea typeface="Microsoft YaHei"/>
              </a:rPr>
              <a:t>切换）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752475" y="5019675"/>
            <a:ext cx="5305425" cy="49530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47725" y="5114925"/>
            <a:ext cx="5114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06B6D4"/>
                </a:solidFill>
                <a:latin typeface="Microsoft YaHei"/>
                <a:ea typeface="Microsoft YaHei"/>
              </a:rPr>
              <a:t>PGlite 0.5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847725" y="5286375"/>
            <a:ext cx="5114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开发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测试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· WASM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内嵌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6172200" y="5019675"/>
            <a:ext cx="5295900" cy="49530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267450" y="5114925"/>
            <a:ext cx="5105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59E0B"/>
                </a:solidFill>
                <a:latin typeface="Microsoft YaHei"/>
                <a:ea typeface="Microsoft YaHei"/>
              </a:rPr>
              <a:t>PostgreSQL 15 + pgvector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267450" y="5286375"/>
            <a:ext cx="51054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生产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· 25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个幂等迁移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22" name="" descr="&lt;Slide style={{ width: '1280px', height: '720px', padding: '40px 56px', backgroundColor: '#0b1220' }}&gt;&#10;    &lt;Box style={{ display: 'flex', alignItems: 'center', marginBottom: '24px' }}&gt;&#10;      &lt;Text style={{ fontSize: '14px', color: '#06b6d4', letterSpacing: '3px' }}&gt;WORKFLOW &amp; STATE MACHINE&lt;/Text&gt;&#10;      &lt;Box style={{ flex: '1', height: '1px', backgroundColor: '#1e293b', marginLeft: '20px' }} /&gt;&#10;    &lt;/Box&gt;&#10;&#10;    &lt;Text style={{&#10;      fontSize: '36px', fontWeight: 'bold', color: '#e2e8f0', marginBottom: '8px',&#10;    }}&gt;&#10;      全链路业务流程 · &lt;span style={{ color: '#06b6d4' }}&gt;7 角色协同&lt;/span&gt;&#10;    &lt;/Text&gt;&#10;    &lt;Text style={{ fontSize: '16px', color: '#94a3b8', marginBottom: '32px' }}&gt;&#10;      巡检员 → 操作工 → 车间主任 → 安全员 → 检修工 → 质检 → 知识管理员，全闭环&#10;    &lt;/Text&gt;&#10;&#10;    &lt;Box style={{&#10;      padding: '24px', backgroundColor: '#0f172a', borderRadius: '8px', marginBottom: '20px',&#10;    }}&gt;&#10;      &lt;Text style={{ fontSize: '13px', color: '#94a3b8', letterSpacing: '1px', marginBottom: '16px' }}&gt;&#10;        工单状态机（src/utils/orderStatus.ts）&#10;      &lt;/Text&gt;&#10;      &lt;Box style={{ display: 'flex', flexWrap: 'wrap', gap: '8px', alignItems: 'center' }}&gt;&#10;        {[&#10;          { label: 'draft', color: '#64748b' },&#10;          { label: '→', color: '#06b6d4', noBg: true },&#10;          { label: 'submitted', color: '#06b6d4' },&#10;          { label: '→', color: '#06b6d4', noBg: true },&#10;          { label: 'assigned', color: '#06b6d4' },&#10;          { label: '→', color: '#06b6d4', noBg: true },&#10;          { label: 'in_progress', color: '#f59e0b' },&#10;          { label: '→', color: '#06b6d4', noBg: true },&#10;          { label: 'pending_review', color: '#f59e0b' },&#10;          { label: '→', color: '#06b6d4', noBg: true },&#10;          { label: 'completed', color: '#10b981' },&#10;          { label: '→', color: '#06b6d4', noBg: true },&#10;          { label: 'closed', color: '#64748b' },&#10;        ].map((s, i) =&gt; (&#10;          s.noBg&#10;            ? &lt;Text key={i} style={{ fontSize: '18px', color: s.color, fontWeight: 'bold', margin: '0 4px' }}&gt;{s.label}&lt;/Text&gt;&#10;            : &lt;Box key={i} style={{&#10;                padding: '8px 16px', backgroundColor: s.color, borderRadius: '4px',&#10;              }}&gt;&#10;                &lt;Text style={{ fontSize: '14px', color: '#0b1220', fontWeight: 'bold' }}&gt;{s.label}&lt;/Text&gt;&#10;              &lt;/Box&gt;&#10;        ))}&#10;      &lt;/Box&gt;&#10;    &lt;/Box&gt;&#10;&#10;    &lt;Box style={{ display: 'flex', gap: '12px', height: '220px' }}&gt;&#10;      &lt;Box style={{ flex: 1, padding: '20px', backgroundColor: '#0f172a', borderRadius: '6px', borderLeft: '3px solid #06b6d4' }}&gt;&#10;        &lt;Text style={{ fontSize: '14px', color: '#06b6d4', marginBottom: '8px' }}&gt;15 分钟防重复&lt;/Text&gt;&#10;        &lt;Text style={{ fontSize: '13px', color: '#cbd5e1', lineHeight: '1.6' }}&gt;&#10;          同 creator + 同 equipment + 同 fault_type 在 15 分钟内报修，返回 409 DUPLICATE_ORDER&#10;        &lt;/Text&gt;&#10;      &lt;/Box&gt;&#10;      &lt;Box style={{ flex: 1, padding: '20px', backgroundColor: '#0f172a', borderRadius: '6px', borderLeft: '3px solid #f59e0b' }}&gt;&#10;        &lt;Text style={{ fontSize: '14px', color: '#f59e0b', marginBottom: '8px' }}&gt;乐观锁 version&lt;/Text&gt;&#10;        &lt;Text style={{ fontSize: '13px', color: '#cbd5e1', lineHeight: '1.6' }}&gt;&#10;          每次更新携带 version 字段；WHERE id=? AND version=? 匹配失败返回 409 VERSION_CONFLICT&#10;        &lt;/Text&gt;&#10;      &lt;/Box&gt;&#10;      &lt;Box style={{ flex: 1, padding: '20px', backgroundColor: '#0f172a', borderRadius: '6px', borderLeft: '3px solid #10b981' }}&gt;&#10;        &lt;Text style={{ fontSize: '14px', color: '#10b981', marginBottom: '8px' }}&gt;双人会签&lt;/Text&gt;&#10;        &lt;Text style={{ fontSize: '13px', color: '#cbd5e1', lineHeight: '1.6' }}&gt;&#10;          guardian_approval + supervisor_approval 两份 JSONB 都签完，作业票 status='signed'&#10;        &lt;/Text&gt;&#10;      &lt;/Box&gt;&#10;    &lt;/Box&gt;&#10;&#10;    &lt;Box style={{ position: 'absolute', bottom: '20px', right: '56px' }}&gt;&#10;      &lt;Text style={{ fontSize: '12px', color: '#475569' }}&gt;05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WORKFLOW &amp; STATE MACHINE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3486150" y="457200"/>
            <a:ext cx="817245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533400" y="771525"/>
            <a:ext cx="11125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2E8F0"/>
                </a:solidFill>
                <a:latin typeface="Microsoft YaHei"/>
                <a:ea typeface="Microsoft YaHei"/>
              </a:rPr>
              <a:t>全链路业务流程</a:t>
            </a:r>
            <a:r>
              <a:rPr lang="en-US" sz="2700" b="1">
                <a:solidFill>
                  <a:srgbClr val="E2E8F0"/>
                </a:solidFill>
                <a:latin typeface="Microsoft YaHei"/>
                <a:ea typeface="Microsoft YaHei"/>
              </a:rPr>
              <a:t> · </a:t>
            </a: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7 </a:t>
            </a:r>
            <a:r>
              <a:rPr lang="zh-CN" sz="2700" b="1">
                <a:solidFill>
                  <a:srgbClr val="06B6D4"/>
                </a:solidFill>
                <a:latin typeface="Microsoft YaHei"/>
                <a:ea typeface="Microsoft YaHei"/>
              </a:rPr>
              <a:t>角色协同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33400" y="1266825"/>
            <a:ext cx="1112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巡检员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操作工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车间主任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安全员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检修工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质检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知识管理员，全闭环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533400" y="1762125"/>
            <a:ext cx="11125200" cy="1076325"/>
          </a:xfrm>
          <a:prstGeom prst="roundRect">
            <a:avLst>
              <a:gd name="adj" fmla="val 708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62000" y="1990725"/>
            <a:ext cx="1066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4A3B8"/>
                </a:solidFill>
                <a:latin typeface="Microsoft YaHei"/>
                <a:ea typeface="Microsoft YaHei"/>
              </a:rPr>
              <a:t>工单状态机（</a:t>
            </a:r>
            <a:r>
              <a:rPr lang="en-US" sz="975" spc="75">
                <a:solidFill>
                  <a:srgbClr val="94A3B8"/>
                </a:solidFill>
                <a:latin typeface="Microsoft YaHei"/>
                <a:ea typeface="Microsoft YaHei"/>
              </a:rPr>
              <a:t>src/utils/orderStatus.ts</a:t>
            </a:r>
            <a:r>
              <a:rPr lang="zh-CN" sz="975" spc="75">
                <a:solidFill>
                  <a:srgbClr val="94A3B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762000" y="2295525"/>
            <a:ext cx="647700" cy="314325"/>
          </a:xfrm>
          <a:prstGeom prst="roundRect">
            <a:avLst>
              <a:gd name="adj" fmla="val 12121"/>
            </a:avLst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14400" y="2371725"/>
            <a:ext cx="342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B1220"/>
                </a:solidFill>
                <a:latin typeface="Microsoft YaHei"/>
                <a:ea typeface="Microsoft YaHei"/>
              </a:rPr>
              <a:t>draft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524000" y="23526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06B6D4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1809750" y="2295525"/>
            <a:ext cx="1000125" cy="314325"/>
          </a:xfrm>
          <a:prstGeom prst="roundRect">
            <a:avLst>
              <a:gd name="adj" fmla="val 12121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962150" y="2371725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B1220"/>
                </a:solidFill>
                <a:latin typeface="Microsoft YaHei"/>
                <a:ea typeface="Microsoft YaHei"/>
              </a:rPr>
              <a:t>submitted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2924175" y="23526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06B6D4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3209925" y="2295525"/>
            <a:ext cx="895350" cy="314325"/>
          </a:xfrm>
          <a:prstGeom prst="roundRect">
            <a:avLst>
              <a:gd name="adj" fmla="val 12121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362325" y="2371725"/>
            <a:ext cx="590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B1220"/>
                </a:solidFill>
                <a:latin typeface="Microsoft YaHei"/>
                <a:ea typeface="Microsoft YaHei"/>
              </a:rPr>
              <a:t>assigned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4219575" y="23526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06B6D4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4505325" y="2295525"/>
            <a:ext cx="1085850" cy="314325"/>
          </a:xfrm>
          <a:prstGeom prst="roundRect">
            <a:avLst>
              <a:gd name="adj" fmla="val 12121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657725" y="2371725"/>
            <a:ext cx="781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B1220"/>
                </a:solidFill>
                <a:latin typeface="Microsoft YaHei"/>
                <a:ea typeface="Microsoft YaHei"/>
              </a:rPr>
              <a:t>in_progress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705475" y="23526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06B6D4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5991225" y="2295525"/>
            <a:ext cx="1362075" cy="314325"/>
          </a:xfrm>
          <a:prstGeom prst="roundRect">
            <a:avLst>
              <a:gd name="adj" fmla="val 12121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143625" y="2371725"/>
            <a:ext cx="1057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B1220"/>
                </a:solidFill>
                <a:latin typeface="Microsoft YaHei"/>
                <a:ea typeface="Microsoft YaHei"/>
              </a:rPr>
              <a:t>pending_review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467600" y="23526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06B6D4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7753350" y="2295525"/>
            <a:ext cx="1019175" cy="314325"/>
          </a:xfrm>
          <a:prstGeom prst="roundRect">
            <a:avLst>
              <a:gd name="adj" fmla="val 12121"/>
            </a:avLst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905750" y="2371725"/>
            <a:ext cx="714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B1220"/>
                </a:solidFill>
                <a:latin typeface="Microsoft YaHei"/>
                <a:ea typeface="Microsoft YaHei"/>
              </a:rPr>
              <a:t>completed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8886825" y="23526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06B6D4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9172575" y="2295525"/>
            <a:ext cx="733425" cy="314325"/>
          </a:xfrm>
          <a:prstGeom prst="roundRect">
            <a:avLst>
              <a:gd name="adj" fmla="val 12121"/>
            </a:avLst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9324975" y="23717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B1220"/>
                </a:solidFill>
                <a:latin typeface="Microsoft YaHei"/>
                <a:ea typeface="Microsoft YaHei"/>
              </a:rPr>
              <a:t>closed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561975" y="3028950"/>
            <a:ext cx="3629025" cy="2095500"/>
          </a:xfrm>
          <a:prstGeom prst="roundRect">
            <a:avLst>
              <a:gd name="adj" fmla="val 272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561975" y="3028950"/>
            <a:ext cx="3629025" cy="2095500"/>
          </a:xfrm>
          <a:custGeom>
            <a:pathLst>
              <a:path w="381" h="220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217"/>
                </a:lnTo>
                <a:cubicBezTo>
                  <a:pt x="3" y="218"/>
                  <a:pt x="4" y="220"/>
                  <a:pt x="5" y="220"/>
                </a:cubicBezTo>
                <a:cubicBezTo>
                  <a:pt x="2" y="220"/>
                  <a:pt x="0" y="217"/>
                  <a:pt x="0" y="214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752475" y="3219450"/>
            <a:ext cx="3219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6B6D4"/>
                </a:solidFill>
                <a:latin typeface="Microsoft YaHei"/>
                <a:ea typeface="Microsoft YaHei"/>
              </a:rPr>
              <a:t>15 </a:t>
            </a:r>
            <a:r>
              <a:rPr lang="zh-CN" sz="1050">
                <a:solidFill>
                  <a:srgbClr val="06B6D4"/>
                </a:solidFill>
                <a:latin typeface="Microsoft YaHei"/>
                <a:ea typeface="Microsoft YaHei"/>
              </a:rPr>
              <a:t>分钟防重复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52475" y="3457575"/>
            <a:ext cx="32194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同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creator +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同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equipment +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同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fault_type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在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15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分钟内报修，返回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409 DUPLICATE_ORDER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4305300" y="3028950"/>
            <a:ext cx="3638550" cy="2095500"/>
          </a:xfrm>
          <a:prstGeom prst="roundRect">
            <a:avLst>
              <a:gd name="adj" fmla="val 272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4305300" y="3028950"/>
            <a:ext cx="3638550" cy="2095500"/>
          </a:xfrm>
          <a:custGeom>
            <a:pathLst>
              <a:path w="382" h="220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217"/>
                </a:lnTo>
                <a:cubicBezTo>
                  <a:pt x="3" y="218"/>
                  <a:pt x="4" y="220"/>
                  <a:pt x="5" y="220"/>
                </a:cubicBezTo>
                <a:cubicBezTo>
                  <a:pt x="2" y="220"/>
                  <a:pt x="0" y="217"/>
                  <a:pt x="0" y="214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495800" y="3219450"/>
            <a:ext cx="3228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59E0B"/>
                </a:solidFill>
                <a:latin typeface="Microsoft YaHei"/>
                <a:ea typeface="Microsoft YaHei"/>
              </a:rPr>
              <a:t>乐观锁</a:t>
            </a:r>
            <a:r>
              <a:rPr lang="en-US" sz="1050">
                <a:solidFill>
                  <a:srgbClr val="F59E0B"/>
                </a:solidFill>
                <a:latin typeface="Microsoft YaHei"/>
                <a:ea typeface="Microsoft YaHei"/>
              </a:rPr>
              <a:t> version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4495800" y="3457575"/>
            <a:ext cx="322897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每次更新携带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version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字段；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WHERE id=? AND version=?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匹配失败返回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409 VERSION_CONFLICT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8058150" y="3028950"/>
            <a:ext cx="3629025" cy="2095500"/>
          </a:xfrm>
          <a:prstGeom prst="roundRect">
            <a:avLst>
              <a:gd name="adj" fmla="val 272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8058150" y="3028950"/>
            <a:ext cx="3629025" cy="2095500"/>
          </a:xfrm>
          <a:custGeom>
            <a:pathLst>
              <a:path w="381" h="220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217"/>
                </a:lnTo>
                <a:cubicBezTo>
                  <a:pt x="3" y="218"/>
                  <a:pt x="4" y="220"/>
                  <a:pt x="5" y="220"/>
                </a:cubicBezTo>
                <a:cubicBezTo>
                  <a:pt x="2" y="220"/>
                  <a:pt x="0" y="217"/>
                  <a:pt x="0" y="214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8248650" y="3219450"/>
            <a:ext cx="3219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0B981"/>
                </a:solidFill>
                <a:latin typeface="Microsoft YaHei"/>
                <a:ea typeface="Microsoft YaHei"/>
              </a:rPr>
              <a:t>双人会签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248650" y="3457575"/>
            <a:ext cx="32194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guardian_approval + supervisor_approval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两份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JSONB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都签完，作业票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status='signed'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63" name="" descr="&lt;Slide style={{ width: '1280px', height: '720px', padding: '40px 56px', backgroundColor: '#0b1220' }}&gt;&#10;    &lt;Box style={{ display: 'flex', alignItems: 'center', marginBottom: '20px' }}&gt;&#10;      &lt;Text style={{ fontSize: '14px', color: '#06b6d4', letterSpacing: '3px' }}&gt;RBAC &amp; ACCESS CONTROL&lt;/Text&gt;&#10;      &lt;Box style={{ flex: '1', height: '1px', backgroundColor: '#1e293b', marginLeft: '20px' }} /&gt;&#10;    &lt;/Box&gt;&#10;&#10;    &lt;Text style={{&#10;      fontSize: '32px', fontWeight: 'bold', color: '#e2e8f0', marginBottom: '6px',&#10;    }}&gt;&#10;      &lt;span style={{ color: '#06b6d4' }}&gt;7 角色 RBAC&lt;/span&gt; · 单一真源&#10;    &lt;/Text&gt;&#10;    &lt;Text style={{ fontSize: '14px', color: '#94a3b8', marginBottom: '24px' }}&gt;&#10;      权限码格式 module:action · 唯一真源 src/utils/rbac.ts · 前端 can() + 后端 globalAuthGuard 双重校验&#10;    &lt;/Text&gt;&#10;&#10;    &lt;Box style={{ display: 'flex', flexWrap: 'wrap', gap: '10px' }}&gt;&#10;      {[&#10;        { name: 'admin', role: '系统管理员', perms: '全部权限 (*)', color: '#06b6d4' },&#10;        { name: 'manager', role: '车间主任', perms: '工单审批 · 作业票审批 · 报表', color: '#06b6d4' },&#10;        { name: 'tech1', role: '检修工 - 主修', perms: '接单 · 执行 · AI 诊断 · 签名', color: '#f59e0b' },&#10;        { name: 'tech2', role: '检修工 - 副修', perms: '执行 · 副签', color: '#f59e0b' },&#10;        { name: 'inspector', role: '巡检员', perms: '巡检 · 创建报修', color: '#10b981' },&#10;        { name: 'operator', role: '操作工', perms: '报修 · 创建作业票', color: '#10b981' },&#10;        { name: 'archivist', role: '知识管理员', perms: '知识 CRUD · RAG 检索', color: '#8b5cf6' },&#10;      ].map((r, i) =&gt; (&#10;        &lt;Box key={i} style={{&#10;          width: 'calc((100% - 30px) / 4)', padding: '14px',&#10;          backgroundColor: '#0f172a', borderRadius: '6px',&#10;          borderLeft: `3px solid ${r.color}`,&#10;        }}&gt;&#10;          &lt;Box style={{ display: 'flex', alignItems: 'baseline', marginBottom: '4px' }}&gt;&#10;            &lt;Text style={{ fontSize: '18px', fontWeight: 'bold', color: r.color, marginRight: '8px', fontFamily: 'monospace' }}&gt;&#10;              {r.name}&#10;            &lt;/Text&gt;&#10;            &lt;Text style={{ fontSize: '12px', color: '#64748b' }}&gt;{r.role}&lt;/Text&gt;&#10;          &lt;/Box&gt;&#10;          &lt;Text style={{ fontSize: '12px', color: '#cbd5e1', lineHeight: '1.5' }}&gt;&#10;            {r.perms}&#10;          &lt;/Text&gt;&#10;        &lt;/Box&gt;&#10;      ))}&#10;    &lt;/Box&gt;&#10;&#10;    &lt;Box style={{ marginTop: '16px', padding: '14px', backgroundColor: '#1e293b', borderRadius: '6px' }}&gt;&#10;      &lt;Text style={{ fontSize: '13px', color: '#06b6d4' }}&gt;&#10;        &lt;span style={{ fontWeight: 'bold' }}&gt;RBAC 关键约束：&lt;/span&gt;&#10;        &lt;span style={{ color: '#cbd5e1' }}&gt;&#10;          {' '}admin 角色恒放行（permissions 含 '*'） · 菜单口径 navConfig.ts 唯一 · 后端 JWT 全局守卫&#10;        &lt;/span&gt;&#10;      &lt;/Text&gt;&#10;    &lt;/Box&gt;&#10;&#10;    &lt;Box style={{ position: 'absolute', bottom: '20px', right: '56px' }}&gt;&#10;      &lt;Text style={{ fontSize: '12px', color: '#475569' }}&gt;06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2343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RBAC &amp; ACCESS CONTROL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067050" y="457200"/>
            <a:ext cx="859155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533400" y="733425"/>
            <a:ext cx="11125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6B6D4"/>
                </a:solidFill>
                <a:latin typeface="Microsoft YaHei"/>
                <a:ea typeface="Microsoft YaHei"/>
              </a:rPr>
              <a:t>7 </a:t>
            </a:r>
            <a:r>
              <a:rPr lang="zh-CN" sz="2400" b="1">
                <a:solidFill>
                  <a:srgbClr val="06B6D4"/>
                </a:solidFill>
                <a:latin typeface="Microsoft YaHei"/>
                <a:ea typeface="Microsoft YaHei"/>
              </a:rPr>
              <a:t>角色</a:t>
            </a:r>
            <a:r>
              <a:rPr lang="en-US" sz="2400" b="1">
                <a:solidFill>
                  <a:srgbClr val="06B6D4"/>
                </a:solidFill>
                <a:latin typeface="Microsoft YaHei"/>
                <a:ea typeface="Microsoft YaHei"/>
              </a:rPr>
              <a:t> RBAC</a:t>
            </a:r>
            <a:r>
              <a:rPr lang="en-US" sz="2400" b="1">
                <a:solidFill>
                  <a:srgbClr val="E2E8F0"/>
                </a:solidFill>
                <a:latin typeface="Microsoft YaHei"/>
                <a:ea typeface="Microsoft YaHei"/>
              </a:rPr>
              <a:t> · </a:t>
            </a:r>
            <a:r>
              <a:rPr lang="zh-CN" sz="2400" b="1">
                <a:solidFill>
                  <a:srgbClr val="E2E8F0"/>
                </a:solidFill>
                <a:latin typeface="Microsoft YaHei"/>
                <a:ea typeface="Microsoft YaHei"/>
              </a:rPr>
              <a:t>单一真源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533400" y="1162050"/>
            <a:ext cx="11125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权限码格式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module:action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唯一真源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src/utils/rbac.ts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can() +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globalAuthGuard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双重校验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561975" y="1552575"/>
            <a:ext cx="2714625" cy="723900"/>
          </a:xfrm>
          <a:prstGeom prst="roundRect">
            <a:avLst>
              <a:gd name="adj" fmla="val 7895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561975" y="1552575"/>
            <a:ext cx="2714625" cy="723900"/>
          </a:xfrm>
          <a:custGeom>
            <a:pathLst>
              <a:path w="285" h="7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73"/>
                </a:lnTo>
                <a:cubicBezTo>
                  <a:pt x="3" y="74"/>
                  <a:pt x="4" y="76"/>
                  <a:pt x="5" y="76"/>
                </a:cubicBezTo>
                <a:cubicBezTo>
                  <a:pt x="2" y="76"/>
                  <a:pt x="0" y="73"/>
                  <a:pt x="0" y="7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695325" y="1685925"/>
            <a:ext cx="523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6B6D4"/>
                </a:solidFill>
                <a:latin typeface="monospace"/>
                <a:ea typeface="monospace"/>
              </a:rPr>
              <a:t>admin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295400" y="1685925"/>
            <a:ext cx="571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系统管理员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95325" y="1933575"/>
            <a:ext cx="24193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全部权限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(*)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3371850" y="1552575"/>
            <a:ext cx="2705100" cy="723900"/>
          </a:xfrm>
          <a:prstGeom prst="roundRect">
            <a:avLst>
              <a:gd name="adj" fmla="val 7895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3371850" y="1552575"/>
            <a:ext cx="2705100" cy="723900"/>
          </a:xfrm>
          <a:custGeom>
            <a:pathLst>
              <a:path w="284" h="7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73"/>
                </a:lnTo>
                <a:cubicBezTo>
                  <a:pt x="3" y="74"/>
                  <a:pt x="4" y="76"/>
                  <a:pt x="5" y="76"/>
                </a:cubicBezTo>
                <a:cubicBezTo>
                  <a:pt x="2" y="76"/>
                  <a:pt x="0" y="73"/>
                  <a:pt x="0" y="7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3505200" y="1685925"/>
            <a:ext cx="723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6B6D4"/>
                </a:solidFill>
                <a:latin typeface="monospace"/>
                <a:ea typeface="monospace"/>
              </a:rPr>
              <a:t>manager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4305300" y="1685925"/>
            <a:ext cx="457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车间主任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3505200" y="1933575"/>
            <a:ext cx="24098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工单审批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作业票审批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报表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172200" y="1552575"/>
            <a:ext cx="2714625" cy="723900"/>
          </a:xfrm>
          <a:prstGeom prst="roundRect">
            <a:avLst>
              <a:gd name="adj" fmla="val 7895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6172200" y="1552575"/>
            <a:ext cx="2714625" cy="723900"/>
          </a:xfrm>
          <a:custGeom>
            <a:pathLst>
              <a:path w="285" h="7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73"/>
                </a:lnTo>
                <a:cubicBezTo>
                  <a:pt x="3" y="74"/>
                  <a:pt x="4" y="76"/>
                  <a:pt x="5" y="76"/>
                </a:cubicBezTo>
                <a:cubicBezTo>
                  <a:pt x="2" y="76"/>
                  <a:pt x="0" y="73"/>
                  <a:pt x="0" y="7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305550" y="1685925"/>
            <a:ext cx="523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59E0B"/>
                </a:solidFill>
                <a:latin typeface="monospace"/>
                <a:ea typeface="monospace"/>
              </a:rPr>
              <a:t>tech1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905625" y="1685925"/>
            <a:ext cx="695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检修工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-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主修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305550" y="1933575"/>
            <a:ext cx="24193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接单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执行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· AI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诊断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签名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8982075" y="1552575"/>
            <a:ext cx="2705100" cy="723900"/>
          </a:xfrm>
          <a:prstGeom prst="roundRect">
            <a:avLst>
              <a:gd name="adj" fmla="val 7895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8982075" y="1552575"/>
            <a:ext cx="2705100" cy="723900"/>
          </a:xfrm>
          <a:custGeom>
            <a:pathLst>
              <a:path w="284" h="7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73"/>
                </a:lnTo>
                <a:cubicBezTo>
                  <a:pt x="3" y="74"/>
                  <a:pt x="4" y="76"/>
                  <a:pt x="5" y="76"/>
                </a:cubicBezTo>
                <a:cubicBezTo>
                  <a:pt x="2" y="76"/>
                  <a:pt x="0" y="73"/>
                  <a:pt x="0" y="7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9115425" y="1685925"/>
            <a:ext cx="523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59E0B"/>
                </a:solidFill>
                <a:latin typeface="monospace"/>
                <a:ea typeface="monospace"/>
              </a:rPr>
              <a:t>tech2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9715500" y="1685925"/>
            <a:ext cx="695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检修工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-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副修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9115425" y="1933575"/>
            <a:ext cx="24098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执行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副签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61975" y="2371725"/>
            <a:ext cx="2714625" cy="723900"/>
          </a:xfrm>
          <a:prstGeom prst="roundRect">
            <a:avLst>
              <a:gd name="adj" fmla="val 7895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561975" y="2371725"/>
            <a:ext cx="2714625" cy="723900"/>
          </a:xfrm>
          <a:custGeom>
            <a:pathLst>
              <a:path w="285" h="7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73"/>
                </a:lnTo>
                <a:cubicBezTo>
                  <a:pt x="3" y="74"/>
                  <a:pt x="4" y="76"/>
                  <a:pt x="5" y="76"/>
                </a:cubicBezTo>
                <a:cubicBezTo>
                  <a:pt x="2" y="76"/>
                  <a:pt x="0" y="73"/>
                  <a:pt x="0" y="7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95325" y="2505075"/>
            <a:ext cx="933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0B981"/>
                </a:solidFill>
                <a:latin typeface="monospace"/>
                <a:ea typeface="monospace"/>
              </a:rPr>
              <a:t>inspector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704975" y="2505075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巡检员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695325" y="2752725"/>
            <a:ext cx="24193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巡检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创建报修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3371850" y="2371725"/>
            <a:ext cx="2705100" cy="723900"/>
          </a:xfrm>
          <a:prstGeom prst="roundRect">
            <a:avLst>
              <a:gd name="adj" fmla="val 7895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95" name=""/>
          <p:cNvSpPr/>
          <p:nvPr/>
        </p:nvSpPr>
        <p:spPr>
          <a:xfrm rot="0" flipH="0" flipV="0">
            <a:off x="3371850" y="2371725"/>
            <a:ext cx="2705100" cy="723900"/>
          </a:xfrm>
          <a:custGeom>
            <a:pathLst>
              <a:path w="284" h="7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73"/>
                </a:lnTo>
                <a:cubicBezTo>
                  <a:pt x="3" y="74"/>
                  <a:pt x="4" y="76"/>
                  <a:pt x="5" y="76"/>
                </a:cubicBezTo>
                <a:cubicBezTo>
                  <a:pt x="2" y="76"/>
                  <a:pt x="0" y="73"/>
                  <a:pt x="0" y="7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505200" y="2505075"/>
            <a:ext cx="828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0B981"/>
                </a:solidFill>
                <a:latin typeface="monospace"/>
                <a:ea typeface="monospace"/>
              </a:rPr>
              <a:t>operator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410075" y="2505075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操作工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3505200" y="2752725"/>
            <a:ext cx="24098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报修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创建作业票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6172200" y="2371725"/>
            <a:ext cx="2714625" cy="723900"/>
          </a:xfrm>
          <a:prstGeom prst="roundRect">
            <a:avLst>
              <a:gd name="adj" fmla="val 7895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00" name=""/>
          <p:cNvSpPr/>
          <p:nvPr/>
        </p:nvSpPr>
        <p:spPr>
          <a:xfrm rot="0" flipH="0" flipV="0">
            <a:off x="6172200" y="2371725"/>
            <a:ext cx="2714625" cy="723900"/>
          </a:xfrm>
          <a:custGeom>
            <a:pathLst>
              <a:path w="285" h="76">
                <a:moveTo>
                  <a:pt x="6" y="0"/>
                </a:moveTo>
                <a:cubicBezTo>
                  <a:pt x="4" y="0"/>
                  <a:pt x="3" y="1"/>
                  <a:pt x="3" y="3"/>
                </a:cubicBezTo>
                <a:lnTo>
                  <a:pt x="3" y="73"/>
                </a:lnTo>
                <a:cubicBezTo>
                  <a:pt x="3" y="74"/>
                  <a:pt x="4" y="76"/>
                  <a:pt x="5" y="76"/>
                </a:cubicBezTo>
                <a:cubicBezTo>
                  <a:pt x="2" y="76"/>
                  <a:pt x="0" y="73"/>
                  <a:pt x="0" y="7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8B5CF6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305550" y="2505075"/>
            <a:ext cx="933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5CF6"/>
                </a:solidFill>
                <a:latin typeface="monospace"/>
                <a:ea typeface="monospace"/>
              </a:rPr>
              <a:t>archivist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315200" y="2505075"/>
            <a:ext cx="571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知识管理员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305550" y="2752725"/>
            <a:ext cx="24193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知识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CRUD · RAG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533400" y="3248025"/>
            <a:ext cx="11125200" cy="41910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66750" y="3381375"/>
            <a:ext cx="10858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6B6D4"/>
                </a:solidFill>
                <a:latin typeface="Microsoft YaHei"/>
                <a:ea typeface="Microsoft YaHei"/>
              </a:rPr>
              <a:t>RBAC </a:t>
            </a:r>
            <a:r>
              <a:rPr lang="zh-CN" sz="975" b="1">
                <a:solidFill>
                  <a:srgbClr val="06B6D4"/>
                </a:solidFill>
                <a:latin typeface="Microsoft YaHei"/>
                <a:ea typeface="Microsoft YaHei"/>
              </a:rPr>
              <a:t>关键约束：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admin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角色恒放行（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permissions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含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'*'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）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菜单口径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navConfig.ts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唯一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后端</a:t>
            </a:r>
            <a:r>
              <a:rPr lang="en-US" sz="975">
                <a:solidFill>
                  <a:srgbClr val="CBD5E1"/>
                </a:solidFill>
                <a:latin typeface="Microsoft YaHei"/>
                <a:ea typeface="Microsoft YaHei"/>
              </a:rPr>
              <a:t> JWT </a:t>
            </a: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全局守卫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07" name="" descr="&lt;Slide style={{ width: '1280px', height: '720px', padding: '40px 56px', backgroundColor: '#0b1220' }}&gt;&#10;    &lt;Box style={{ display: 'flex', alignItems: 'center', marginBottom: '24px' }}&gt;&#10;      &lt;Text style={{ fontSize: '14px', color: '#06b6d4', letterSpacing: '3px' }}&gt;LIVE DEMO · 5 SCENES&lt;/Text&gt;&#10;      &lt;Box style={{ flex: '1', height: '1px', backgroundColor: '#1e293b', marginLeft: '20px' }} /&gt;&#10;    &lt;/Box&gt;&#10;&#10;    &lt;Text style={{&#10;      fontSize: '36px', fontWeight: 'bold', color: '#e2e8f0', marginBottom: '8px',&#10;    }}&gt;&#10;      现场演示 · &lt;span style={{ color: '#f59e0b' }}&gt;五场景串联&lt;/span&gt;&#10;    &lt;/Text&gt;&#10;    &lt;Text style={{ fontSize: '16px', color: '#94a3b8', marginBottom: '32px' }}&gt;&#10;      从一线操作工到检修工，到车间主任 + 安全员，AI 助手全程在线&#10;    &lt;/Text&gt;&#10;&#10;    &lt;Box style={{ display: 'flex', gap: '12px', height: '420px' }}&gt;&#10;      {[&#10;        { num: '01', role: '操作工', scene: '报修创建', detail: '扫码 + 选设备 + 选故障类型\n15 分钟防重复命中', icon: '报', color: '#06b6d4' },&#10;        { num: '02', role: '车间主任', scene: '作业票审批', detail: '6 类许可证 + 双人会签\nLOTO 自动登记', icon: '票', color: '#f59e0b' },&#10;        { num: '03', role: 'AI 助手', scene: '诊断流式输出', detail: 'POST /chat/stream\n按 token 逐字渲染', icon: 'AI', color: '#06b6d4' },&#10;        { num: '04', role: '数字人', scene: '跨页面拖拽', detail: 'Pointer Capture\n跨 iframe 不卡', icon: '人', color: '#f59e0b' },&#10;        { num: '05', role: '检修闯关', scene: 'Godot 2D', detail: 'A/D 移动 + 空格跳跃\n3 关 × 3 小关键盘作答', icon: '游', color: '#06b6d4' },&#10;      ].map((s, i) =&gt; (&#10;        &lt;Box key={i} style={{&#10;          flex: 1, padding: '20px', backgroundColor: '#0f172a', borderRadius: '6px',&#10;          borderTop: `3px solid ${s.color}`,&#10;          display: 'flex', flexDirection: 'column',&#10;        }}&gt;&#10;          &lt;Text style={{ fontSize: '13px', color: s.color, letterSpacing: '1px' }}&gt;&#10;            {s.num}&#10;          &lt;/Text&gt;&#10;          &lt;Text style={{ fontSize: '18px', fontWeight: 'bold', color: '#e2e8f0', marginTop: '6px', marginBottom: '4px' }}&gt;&#10;            {s.role}&#10;          &lt;/Text&gt;&#10;          &lt;Text style={{ fontSize: '15px', color: s.color, marginBottom: '12px' }}&gt;&#10;            {s.scene}&#10;          &lt;/Text&gt;&#10;          &lt;Text style={{ fontSize: '12px', color: '#94a3b8', lineHeight: '1.6', whiteSpace: 'pre-line' }}&gt;&#10;            {s.detail}&#10;          &lt;/Text&gt;&#10;          &lt;Box style={{&#10;            marginTop: 'auto', padding: '12px', backgroundColor: '#1e293b', borderRadius: '4px',&#10;            textAlign: 'center',&#10;          }}&gt;&#10;            &lt;Text style={{ fontSize: '22px', color: s.color, fontWeight: 'bold' }}&gt;&#10;              {s.icon}&#10;            &lt;/Text&gt;&#10;          &lt;/Box&gt;&#10;        &lt;/Box&gt;&#10;      ))}&#10;    &lt;/Box&gt;&#10;&#10;    &lt;Box style={{ position: 'absolute', bottom: '20px', right: '56px' }}&gt;&#10;      &lt;Text style={{ fontSize: '12px', color: '#475569' }}&gt;07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2028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LIVE DEMO · 5 SCENES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2752725" y="457200"/>
            <a:ext cx="8905875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33400" y="771525"/>
            <a:ext cx="11125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2E8F0"/>
                </a:solidFill>
                <a:latin typeface="Microsoft YaHei"/>
                <a:ea typeface="Microsoft YaHei"/>
              </a:rPr>
              <a:t>现场演示</a:t>
            </a:r>
            <a:r>
              <a:rPr lang="en-US" sz="2700" b="1">
                <a:solidFill>
                  <a:srgbClr val="E2E8F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F59E0B"/>
                </a:solidFill>
                <a:latin typeface="Microsoft YaHei"/>
                <a:ea typeface="Microsoft YaHei"/>
              </a:rPr>
              <a:t>五场景串联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33400" y="1266825"/>
            <a:ext cx="1112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从一线操作工到检修工，到车间主任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安全员，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助手全程在线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533400" y="1790700"/>
            <a:ext cx="2133600" cy="4000500"/>
          </a:xfrm>
          <a:prstGeom prst="roundRect">
            <a:avLst>
              <a:gd name="adj" fmla="val 2679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533400" y="1790700"/>
            <a:ext cx="2133600" cy="4000500"/>
          </a:xfrm>
          <a:custGeom>
            <a:pathLst>
              <a:path w="224" h="420">
                <a:moveTo>
                  <a:pt x="218" y="0"/>
                </a:moveTo>
                <a:cubicBezTo>
                  <a:pt x="221" y="0"/>
                  <a:pt x="224" y="2"/>
                  <a:pt x="224" y="5"/>
                </a:cubicBezTo>
                <a:cubicBezTo>
                  <a:pt x="223" y="4"/>
                  <a:pt x="222" y="3"/>
                  <a:pt x="221" y="3"/>
                </a:cubicBezTo>
                <a:lnTo>
                  <a:pt x="3" y="3"/>
                </a:lnTo>
                <a:cubicBezTo>
                  <a:pt x="2" y="3"/>
                  <a:pt x="0" y="4"/>
                  <a:pt x="0" y="5"/>
                </a:cubicBezTo>
                <a:cubicBezTo>
                  <a:pt x="0" y="2"/>
                  <a:pt x="3" y="0"/>
                  <a:pt x="6" y="0"/>
                </a:cubicBezTo>
                <a:lnTo>
                  <a:pt x="218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23900" y="1981200"/>
            <a:ext cx="1752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06B6D4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23900" y="2190750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操作工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23900" y="243840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6B6D4"/>
                </a:solidFill>
                <a:latin typeface="Microsoft YaHei"/>
                <a:ea typeface="Microsoft YaHei"/>
              </a:rPr>
              <a:t>报修创建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23900" y="2724150"/>
            <a:ext cx="175260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扫码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选设备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选故障类型
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15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分钟防重复命中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723900" y="5086350"/>
            <a:ext cx="1752600" cy="485775"/>
          </a:xfrm>
          <a:prstGeom prst="roundRect">
            <a:avLst>
              <a:gd name="adj" fmla="val 7843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838200" y="5200650"/>
            <a:ext cx="15240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 b="1">
                <a:solidFill>
                  <a:srgbClr val="06B6D4"/>
                </a:solidFill>
                <a:latin typeface="Microsoft YaHei"/>
                <a:ea typeface="Microsoft YaHei"/>
              </a:rPr>
              <a:t>报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2781300" y="1790700"/>
            <a:ext cx="2133600" cy="4000500"/>
          </a:xfrm>
          <a:prstGeom prst="roundRect">
            <a:avLst>
              <a:gd name="adj" fmla="val 2679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2781300" y="1790700"/>
            <a:ext cx="2133600" cy="4000500"/>
          </a:xfrm>
          <a:custGeom>
            <a:pathLst>
              <a:path w="224" h="420">
                <a:moveTo>
                  <a:pt x="218" y="0"/>
                </a:moveTo>
                <a:cubicBezTo>
                  <a:pt x="221" y="0"/>
                  <a:pt x="224" y="2"/>
                  <a:pt x="224" y="5"/>
                </a:cubicBezTo>
                <a:cubicBezTo>
                  <a:pt x="223" y="4"/>
                  <a:pt x="222" y="3"/>
                  <a:pt x="221" y="3"/>
                </a:cubicBezTo>
                <a:lnTo>
                  <a:pt x="3" y="3"/>
                </a:lnTo>
                <a:cubicBezTo>
                  <a:pt x="2" y="3"/>
                  <a:pt x="0" y="4"/>
                  <a:pt x="0" y="5"/>
                </a:cubicBezTo>
                <a:cubicBezTo>
                  <a:pt x="0" y="2"/>
                  <a:pt x="3" y="0"/>
                  <a:pt x="6" y="0"/>
                </a:cubicBezTo>
                <a:lnTo>
                  <a:pt x="218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2971800" y="1981200"/>
            <a:ext cx="1752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F59E0B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2971800" y="2190750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车间主任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2971800" y="243840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Microsoft YaHei"/>
                <a:ea typeface="Microsoft YaHei"/>
              </a:rPr>
              <a:t>作业票审批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2971800" y="2724150"/>
            <a:ext cx="175260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6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类许可证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双人会签
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LOTO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自动登记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2971800" y="5086350"/>
            <a:ext cx="1752600" cy="485775"/>
          </a:xfrm>
          <a:prstGeom prst="roundRect">
            <a:avLst>
              <a:gd name="adj" fmla="val 7843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086100" y="5200650"/>
            <a:ext cx="15240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 b="1">
                <a:solidFill>
                  <a:srgbClr val="F59E0B"/>
                </a:solidFill>
                <a:latin typeface="Microsoft YaHei"/>
                <a:ea typeface="Microsoft YaHei"/>
              </a:rPr>
              <a:t>票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5029200" y="1790700"/>
            <a:ext cx="2133600" cy="4000500"/>
          </a:xfrm>
          <a:prstGeom prst="roundRect">
            <a:avLst>
              <a:gd name="adj" fmla="val 2679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30" name=""/>
          <p:cNvSpPr/>
          <p:nvPr/>
        </p:nvSpPr>
        <p:spPr>
          <a:xfrm rot="0" flipH="0" flipV="0">
            <a:off x="5029200" y="1790700"/>
            <a:ext cx="2133600" cy="4000500"/>
          </a:xfrm>
          <a:custGeom>
            <a:pathLst>
              <a:path w="224" h="420">
                <a:moveTo>
                  <a:pt x="218" y="0"/>
                </a:moveTo>
                <a:cubicBezTo>
                  <a:pt x="221" y="0"/>
                  <a:pt x="224" y="2"/>
                  <a:pt x="224" y="5"/>
                </a:cubicBezTo>
                <a:cubicBezTo>
                  <a:pt x="223" y="4"/>
                  <a:pt x="222" y="3"/>
                  <a:pt x="221" y="3"/>
                </a:cubicBezTo>
                <a:lnTo>
                  <a:pt x="3" y="3"/>
                </a:lnTo>
                <a:cubicBezTo>
                  <a:pt x="2" y="3"/>
                  <a:pt x="0" y="4"/>
                  <a:pt x="0" y="5"/>
                </a:cubicBezTo>
                <a:cubicBezTo>
                  <a:pt x="0" y="2"/>
                  <a:pt x="3" y="0"/>
                  <a:pt x="6" y="0"/>
                </a:cubicBezTo>
                <a:lnTo>
                  <a:pt x="218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219700" y="1981200"/>
            <a:ext cx="1752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06B6D4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5219700" y="2190750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E2E8F0"/>
                </a:solidFill>
                <a:latin typeface="Microsoft YaHei"/>
                <a:ea typeface="Microsoft YaHei"/>
              </a:rPr>
              <a:t>AI </a:t>
            </a: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5219700" y="243840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6B6D4"/>
                </a:solidFill>
                <a:latin typeface="Microsoft YaHei"/>
                <a:ea typeface="Microsoft YaHei"/>
              </a:rPr>
              <a:t>诊断流式输出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219700" y="2724150"/>
            <a:ext cx="175260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POST /chat/stream
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按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token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逐字渲染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5219700" y="5086350"/>
            <a:ext cx="1752600" cy="485775"/>
          </a:xfrm>
          <a:prstGeom prst="roundRect">
            <a:avLst>
              <a:gd name="adj" fmla="val 7843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5334000" y="5200650"/>
            <a:ext cx="15240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 b="1">
                <a:solidFill>
                  <a:srgbClr val="06B6D4"/>
                </a:solidFill>
                <a:latin typeface="Microsoft YaHei"/>
                <a:ea typeface="Microsoft YaHei"/>
              </a:rPr>
              <a:t>AI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7277100" y="1790700"/>
            <a:ext cx="2133600" cy="4000500"/>
          </a:xfrm>
          <a:prstGeom prst="roundRect">
            <a:avLst>
              <a:gd name="adj" fmla="val 2679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38" name=""/>
          <p:cNvSpPr/>
          <p:nvPr/>
        </p:nvSpPr>
        <p:spPr>
          <a:xfrm rot="0" flipH="0" flipV="0">
            <a:off x="7277100" y="1790700"/>
            <a:ext cx="2133600" cy="4000500"/>
          </a:xfrm>
          <a:custGeom>
            <a:pathLst>
              <a:path w="224" h="420">
                <a:moveTo>
                  <a:pt x="218" y="0"/>
                </a:moveTo>
                <a:cubicBezTo>
                  <a:pt x="221" y="0"/>
                  <a:pt x="224" y="2"/>
                  <a:pt x="224" y="5"/>
                </a:cubicBezTo>
                <a:cubicBezTo>
                  <a:pt x="223" y="4"/>
                  <a:pt x="222" y="3"/>
                  <a:pt x="221" y="3"/>
                </a:cubicBezTo>
                <a:lnTo>
                  <a:pt x="3" y="3"/>
                </a:lnTo>
                <a:cubicBezTo>
                  <a:pt x="2" y="3"/>
                  <a:pt x="0" y="4"/>
                  <a:pt x="0" y="5"/>
                </a:cubicBezTo>
                <a:cubicBezTo>
                  <a:pt x="0" y="2"/>
                  <a:pt x="3" y="0"/>
                  <a:pt x="6" y="0"/>
                </a:cubicBezTo>
                <a:lnTo>
                  <a:pt x="218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67600" y="1981200"/>
            <a:ext cx="1752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F59E0B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467600" y="2190750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数字人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7467600" y="243840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Microsoft YaHei"/>
                <a:ea typeface="Microsoft YaHei"/>
              </a:rPr>
              <a:t>跨页面拖拽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467600" y="2724150"/>
            <a:ext cx="175260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Pointer Capture
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跨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iframe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不卡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7467600" y="5086350"/>
            <a:ext cx="1752600" cy="485775"/>
          </a:xfrm>
          <a:prstGeom prst="roundRect">
            <a:avLst>
              <a:gd name="adj" fmla="val 7843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581900" y="5200650"/>
            <a:ext cx="15240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 b="1">
                <a:solidFill>
                  <a:srgbClr val="F59E0B"/>
                </a:solidFill>
                <a:latin typeface="Microsoft YaHei"/>
                <a:ea typeface="Microsoft YaHei"/>
              </a:rPr>
              <a:t>人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9525000" y="1790700"/>
            <a:ext cx="2133600" cy="4000500"/>
          </a:xfrm>
          <a:prstGeom prst="roundRect">
            <a:avLst>
              <a:gd name="adj" fmla="val 2679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9525000" y="1790700"/>
            <a:ext cx="2133600" cy="4000500"/>
          </a:xfrm>
          <a:custGeom>
            <a:pathLst>
              <a:path w="224" h="420">
                <a:moveTo>
                  <a:pt x="218" y="0"/>
                </a:moveTo>
                <a:cubicBezTo>
                  <a:pt x="221" y="0"/>
                  <a:pt x="224" y="2"/>
                  <a:pt x="224" y="5"/>
                </a:cubicBezTo>
                <a:cubicBezTo>
                  <a:pt x="223" y="4"/>
                  <a:pt x="222" y="3"/>
                  <a:pt x="221" y="3"/>
                </a:cubicBezTo>
                <a:lnTo>
                  <a:pt x="3" y="3"/>
                </a:lnTo>
                <a:cubicBezTo>
                  <a:pt x="2" y="3"/>
                  <a:pt x="0" y="4"/>
                  <a:pt x="0" y="5"/>
                </a:cubicBezTo>
                <a:cubicBezTo>
                  <a:pt x="0" y="2"/>
                  <a:pt x="3" y="0"/>
                  <a:pt x="6" y="0"/>
                </a:cubicBezTo>
                <a:lnTo>
                  <a:pt x="218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9715500" y="1981200"/>
            <a:ext cx="1752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06B6D4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9715500" y="2190750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检修闯关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9715500" y="243840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6B6D4"/>
                </a:solidFill>
                <a:latin typeface="Microsoft YaHei"/>
                <a:ea typeface="Microsoft YaHei"/>
              </a:rPr>
              <a:t>Godot 2D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9715500" y="2724150"/>
            <a:ext cx="175260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A/D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移动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空格跳跃
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3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关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× 3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小关键盘作答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9715500" y="5086350"/>
            <a:ext cx="1752600" cy="485775"/>
          </a:xfrm>
          <a:prstGeom prst="roundRect">
            <a:avLst>
              <a:gd name="adj" fmla="val 7843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9829800" y="5200650"/>
            <a:ext cx="15240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 b="1">
                <a:solidFill>
                  <a:srgbClr val="06B6D4"/>
                </a:solidFill>
                <a:latin typeface="Microsoft YaHei"/>
                <a:ea typeface="Microsoft YaHei"/>
              </a:rPr>
              <a:t>游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54" name="" descr="&lt;Slide style={{ width: '1280px', height: '720px', padding: '40px 56px', backgroundColor: '#0b1220' }}&gt;&#10;    &lt;Box style={{ display: 'flex', alignItems: 'center', marginBottom: '24px' }}&gt;&#10;      &lt;Text style={{ fontSize: '14px', color: '#06b6d4', letterSpacing: '3px' }}&gt;3D SCENE · FIRST-PERSON WALKTHROUGH&lt;/Text&gt;&#10;      &lt;Box style={{ flex: '1', height: '1px', backgroundColor: '#1e293b', marginLeft: '20px' }} /&gt;&#10;    &lt;/Box&gt;&#10;&#10;    &lt;Text style={{&#10;      fontSize: '36px', fontWeight: 'bold', color: '#e2e8f0', marginBottom: '8px',&#10;    }}&gt;&#10;      3D 车间可视化 · &lt;span style={{ color: '#06b6d4' }}&gt;第一人称漫游&lt;/span&gt;&#10;    &lt;/Text&gt;&#10;    &lt;Text style={{ fontSize: '16px', color: '#94a3b8', marginBottom: '24px' }}&gt;&#10;      src/components/equipment3d/ · three.js 0.186 · 5 种彩层可独立开关 · 设备单台特征化&#10;    &lt;/Text&gt;&#10;&#10;    &lt;Box style={{ display: 'flex', gap: '16px', height: '420px' }}&gt;&#10;      {/* 左侧主视觉占位 — 描述框代替截图 */}&#10;      &lt;Box style={{&#10;        flex: '1.5', padding: '24px', backgroundColor: '#0f172a', borderRadius: '8px',&#10;        display: 'flex', flexDirection: 'column', justifyContent: 'center', alignItems: 'center',&#10;      }}&gt;&#10;        &lt;Box style={{&#10;          width: '100%', height: '300px', backgroundColor: '#1e293b', borderRadius: '6px',&#10;          display: 'flex', alignItems: 'center', justifyContent: 'center',&#10;          border: '2px dashed #334155',&#10;        }}&gt;&#10;          &lt;Text style={{ fontSize: '16px', color: '#64748b' }}&gt;&#10;            〔第一人称漫游画面占位 · 演示时切换至实操〕&#10;          &lt;/Text&gt;&#10;        &lt;/Box&gt;&#10;        &lt;Text style={{ fontSize: '14px', color: '#94a3b8', marginTop: '16px' }}&gt;&#10;          WASD 移动 · 鼠标视角 · 点击设备查详情&#10;        &lt;/Text&gt;&#10;      &lt;/Box&gt;&#10;&#10;      {/* 右侧 5 层彩层图例 */}&#10;      &lt;Box style={{ flex: '1', display: 'flex', flexDirection: 'column', gap: '10px' }}&gt;&#10;        &lt;Text style={{ fontSize: '14px', color: '#06b6d4', letterSpacing: '1px', marginBottom: '4px' }}&gt;&#10;          5 种彩层 · 顶部图例可独立开关&#10;        &lt;/Text&gt;&#10;        {[&#10;          { name: '故障环', desc: '玫红脉冲 · 故障设备高亮', color: '#f43f5e', en: 'Fault Ring' },&#10;          { name: '技师轨迹', desc: '青色虚线 · 在岗技师轨迹', color: '#06b6d4', en: 'Tech Track' },&#10;          { name: '引导虚线', desc: '琥珀 · 视线引导', color: '#f59e0b', en: 'Guide Line' },&#10;          { name: '介质粒子', desc: '绿色粒子 · 流体可视化', color: '#10b981', en: 'Medium Particles' },&#10;          { name: '安全边界', desc: '紫色多边形 · 危险区', color: '#8b5cf6', en: 'Safety Boundary' },&#10;        ].map((l, i) =&gt; (&#10;          &lt;Box key={i} style={{&#10;            padding: '10px 14px', backgroundColor: '#0f172a', borderRadius: '4px',&#10;            borderLeft: `3px solid ${l.color}`,&#10;          }}&gt;&#10;            &lt;Box style={{ display: 'flex', alignItems: 'center', marginBottom: '2px' }}&gt;&#10;              &lt;Box style={{&#10;                width: '12px', height: '12px', borderRadius: '50%',&#10;                backgroundColor: l.color, marginRight: '8px',&#10;              }} /&gt;&#10;              &lt;Text style={{ fontSize: '14px', color: '#e2e8f0', fontWeight: 'bold' }}&gt;{l.name}&lt;/Text&gt;&#10;              &lt;Text style={{ fontSize: '11px', color: '#64748b', marginLeft: '8px' }}&gt;{l.en}&lt;/Text&gt;&#10;            &lt;/Box&gt;&#10;            &lt;Text style={{ fontSize: '12px', color: '#94a3b8' }}&gt;{l.desc}&lt;/Text&gt;&#10;          &lt;/Box&gt;&#10;        ))}&#10;      &lt;/Box&gt;&#10;    &lt;/Box&gt;&#10;&#10;    &lt;Box style={{ position: 'absolute', bottom: '20px', right: '56px' }}&gt;&#10;      &lt;Text style={{ fontSize: '12px', color: '#475569' }}&gt;08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3800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3D SCENE · FIRST-PERSON WALKTHROUGH</a:t>
            </a:r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4524375" y="457200"/>
            <a:ext cx="7134225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533400" y="771525"/>
            <a:ext cx="11125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2E8F0"/>
                </a:solidFill>
                <a:latin typeface="Microsoft YaHei"/>
                <a:ea typeface="Microsoft YaHei"/>
              </a:rPr>
              <a:t>3D </a:t>
            </a:r>
            <a:r>
              <a:rPr lang="zh-CN" sz="2700" b="1">
                <a:solidFill>
                  <a:srgbClr val="E2E8F0"/>
                </a:solidFill>
                <a:latin typeface="Microsoft YaHei"/>
                <a:ea typeface="Microsoft YaHei"/>
              </a:rPr>
              <a:t>车间可视化</a:t>
            </a:r>
            <a:r>
              <a:rPr lang="en-US" sz="2700" b="1">
                <a:solidFill>
                  <a:srgbClr val="E2E8F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06B6D4"/>
                </a:solidFill>
                <a:latin typeface="Microsoft YaHei"/>
                <a:ea typeface="Microsoft YaHei"/>
              </a:rPr>
              <a:t>第一人称漫游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533400" y="1266825"/>
            <a:ext cx="1112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src/components/equipment3d/ · three.js 0.186 · 5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种彩层可独立开关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设备单台特征化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533400" y="1685925"/>
            <a:ext cx="6581775" cy="4000500"/>
          </a:xfrm>
          <a:prstGeom prst="roundRect">
            <a:avLst>
              <a:gd name="adj" fmla="val 1905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61" name=""/>
          <p:cNvSpPr/>
          <p:nvPr/>
        </p:nvSpPr>
        <p:spPr>
          <a:xfrm rot="0" flipH="0" flipV="0">
            <a:off x="762000" y="2105025"/>
            <a:ext cx="6124575" cy="28575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dash"/>
          </a:ln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2238375" y="3438525"/>
            <a:ext cx="3181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〔第一人称漫游画面占位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演示时切换至实操〕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2628900" y="5114925"/>
            <a:ext cx="240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WASD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移动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鼠标视角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点击设备查详情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7267575" y="1685925"/>
            <a:ext cx="4391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06B6D4"/>
                </a:solidFill>
                <a:latin typeface="Microsoft YaHei"/>
                <a:ea typeface="Microsoft YaHei"/>
              </a:rPr>
              <a:t>5 </a:t>
            </a:r>
            <a:r>
              <a:rPr lang="zh-CN" sz="1050" spc="75">
                <a:solidFill>
                  <a:srgbClr val="06B6D4"/>
                </a:solidFill>
                <a:latin typeface="Microsoft YaHei"/>
                <a:ea typeface="Microsoft YaHei"/>
              </a:rPr>
              <a:t>种彩层</a:t>
            </a:r>
            <a:r>
              <a:rPr lang="en-US" sz="1050" spc="75">
                <a:solidFill>
                  <a:srgbClr val="06B6D4"/>
                </a:solidFill>
                <a:latin typeface="Microsoft YaHei"/>
                <a:ea typeface="Microsoft YaHei"/>
              </a:rPr>
              <a:t> · </a:t>
            </a:r>
            <a:r>
              <a:rPr lang="zh-CN" sz="1050" spc="75">
                <a:solidFill>
                  <a:srgbClr val="06B6D4"/>
                </a:solidFill>
                <a:latin typeface="Microsoft YaHei"/>
                <a:ea typeface="Microsoft YaHei"/>
              </a:rPr>
              <a:t>顶部图例可独立开关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7296150" y="1981200"/>
            <a:ext cx="4391025" cy="514350"/>
          </a:xfrm>
          <a:prstGeom prst="roundRect">
            <a:avLst>
              <a:gd name="adj" fmla="val 74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7296150" y="1981200"/>
            <a:ext cx="4391025" cy="514350"/>
          </a:xfrm>
          <a:custGeom>
            <a:pathLst>
              <a:path w="461" h="54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53"/>
                </a:lnTo>
                <a:cubicBezTo>
                  <a:pt x="3" y="53"/>
                  <a:pt x="3" y="54"/>
                  <a:pt x="4" y="54"/>
                </a:cubicBezTo>
                <a:cubicBezTo>
                  <a:pt x="2" y="54"/>
                  <a:pt x="0" y="52"/>
                  <a:pt x="0" y="5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43F5E"/>
          </a:solidFill>
          <a:ln/>
        </p:spPr>
        <p:txBody>
          <a:bodyPr/>
          <a:p/>
        </p:txBody>
      </p:sp>
      <p:sp>
        <p:nvSpPr>
          <p:cNvPr id="367" name=""/>
          <p:cNvSpPr/>
          <p:nvPr/>
        </p:nvSpPr>
        <p:spPr>
          <a:xfrm rot="0" flipH="0" flipV="0">
            <a:off x="7429500" y="2105025"/>
            <a:ext cx="114300" cy="114300"/>
          </a:xfrm>
          <a:custGeom>
            <a:pathLst>
              <a:path w="12" h="12">
                <a:moveTo>
                  <a:pt x="6" y="0"/>
                </a:moveTo>
                <a:lnTo>
                  <a:pt x="6" y="0"/>
                </a:lnTo>
                <a:cubicBezTo>
                  <a:pt x="9" y="0"/>
                  <a:pt x="12" y="3"/>
                  <a:pt x="12" y="6"/>
                </a:cubicBezTo>
                <a:lnTo>
                  <a:pt x="12" y="6"/>
                </a:lnTo>
                <a:cubicBezTo>
                  <a:pt x="12" y="9"/>
                  <a:pt x="9" y="12"/>
                  <a:pt x="6" y="12"/>
                </a:cubicBezTo>
                <a:lnTo>
                  <a:pt x="6" y="12"/>
                </a:lnTo>
                <a:cubicBezTo>
                  <a:pt x="3" y="12"/>
                  <a:pt x="0" y="9"/>
                  <a:pt x="0" y="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F43F5E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7620000" y="20764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E2E8F0"/>
                </a:solidFill>
                <a:latin typeface="Microsoft YaHei"/>
                <a:ea typeface="Microsoft YaHei"/>
              </a:rPr>
              <a:t>故障环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8096250" y="2095500"/>
            <a:ext cx="5048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Fault Ring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7429500" y="2257425"/>
            <a:ext cx="409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玫红脉冲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故障设备高亮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7296150" y="2590800"/>
            <a:ext cx="4391025" cy="514350"/>
          </a:xfrm>
          <a:prstGeom prst="roundRect">
            <a:avLst>
              <a:gd name="adj" fmla="val 74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7296150" y="2590800"/>
            <a:ext cx="4391025" cy="514350"/>
          </a:xfrm>
          <a:custGeom>
            <a:pathLst>
              <a:path w="461" h="54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53"/>
                </a:lnTo>
                <a:cubicBezTo>
                  <a:pt x="3" y="53"/>
                  <a:pt x="3" y="54"/>
                  <a:pt x="4" y="54"/>
                </a:cubicBezTo>
                <a:cubicBezTo>
                  <a:pt x="2" y="54"/>
                  <a:pt x="0" y="52"/>
                  <a:pt x="0" y="5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373" name=""/>
          <p:cNvSpPr/>
          <p:nvPr/>
        </p:nvSpPr>
        <p:spPr>
          <a:xfrm rot="0" flipH="0" flipV="0">
            <a:off x="7429500" y="2714625"/>
            <a:ext cx="114300" cy="114300"/>
          </a:xfrm>
          <a:custGeom>
            <a:pathLst>
              <a:path w="12" h="12">
                <a:moveTo>
                  <a:pt x="6" y="0"/>
                </a:moveTo>
                <a:lnTo>
                  <a:pt x="6" y="0"/>
                </a:lnTo>
                <a:cubicBezTo>
                  <a:pt x="9" y="0"/>
                  <a:pt x="12" y="3"/>
                  <a:pt x="12" y="6"/>
                </a:cubicBezTo>
                <a:lnTo>
                  <a:pt x="12" y="6"/>
                </a:lnTo>
                <a:cubicBezTo>
                  <a:pt x="12" y="9"/>
                  <a:pt x="9" y="12"/>
                  <a:pt x="6" y="12"/>
                </a:cubicBezTo>
                <a:lnTo>
                  <a:pt x="6" y="12"/>
                </a:lnTo>
                <a:cubicBezTo>
                  <a:pt x="3" y="12"/>
                  <a:pt x="0" y="9"/>
                  <a:pt x="0" y="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620000" y="26860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E2E8F0"/>
                </a:solidFill>
                <a:latin typeface="Microsoft YaHei"/>
                <a:ea typeface="Microsoft YaHei"/>
              </a:rPr>
              <a:t>技师轨迹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8229600" y="2705100"/>
            <a:ext cx="5143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Tech Track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429500" y="2867025"/>
            <a:ext cx="409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青色虚线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在岗技师轨迹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7296150" y="3200400"/>
            <a:ext cx="4391025" cy="514350"/>
          </a:xfrm>
          <a:prstGeom prst="roundRect">
            <a:avLst>
              <a:gd name="adj" fmla="val 74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78" name=""/>
          <p:cNvSpPr/>
          <p:nvPr/>
        </p:nvSpPr>
        <p:spPr>
          <a:xfrm rot="0" flipH="0" flipV="0">
            <a:off x="7296150" y="3200400"/>
            <a:ext cx="4391025" cy="514350"/>
          </a:xfrm>
          <a:custGeom>
            <a:pathLst>
              <a:path w="461" h="54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53"/>
                </a:lnTo>
                <a:cubicBezTo>
                  <a:pt x="3" y="53"/>
                  <a:pt x="3" y="54"/>
                  <a:pt x="4" y="54"/>
                </a:cubicBezTo>
                <a:cubicBezTo>
                  <a:pt x="2" y="54"/>
                  <a:pt x="0" y="52"/>
                  <a:pt x="0" y="5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79" name=""/>
          <p:cNvSpPr/>
          <p:nvPr/>
        </p:nvSpPr>
        <p:spPr>
          <a:xfrm rot="0" flipH="0" flipV="0">
            <a:off x="7429500" y="3324225"/>
            <a:ext cx="114300" cy="114300"/>
          </a:xfrm>
          <a:custGeom>
            <a:pathLst>
              <a:path w="12" h="12">
                <a:moveTo>
                  <a:pt x="6" y="0"/>
                </a:moveTo>
                <a:lnTo>
                  <a:pt x="6" y="0"/>
                </a:lnTo>
                <a:cubicBezTo>
                  <a:pt x="9" y="0"/>
                  <a:pt x="12" y="3"/>
                  <a:pt x="12" y="6"/>
                </a:cubicBezTo>
                <a:lnTo>
                  <a:pt x="12" y="6"/>
                </a:lnTo>
                <a:cubicBezTo>
                  <a:pt x="12" y="9"/>
                  <a:pt x="9" y="12"/>
                  <a:pt x="6" y="12"/>
                </a:cubicBezTo>
                <a:lnTo>
                  <a:pt x="6" y="12"/>
                </a:lnTo>
                <a:cubicBezTo>
                  <a:pt x="3" y="12"/>
                  <a:pt x="0" y="9"/>
                  <a:pt x="0" y="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620000" y="32956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E2E8F0"/>
                </a:solidFill>
                <a:latin typeface="Microsoft YaHei"/>
                <a:ea typeface="Microsoft YaHei"/>
              </a:rPr>
              <a:t>引导虚线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8229600" y="3314700"/>
            <a:ext cx="542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Guide Line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429500" y="3476625"/>
            <a:ext cx="409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琥珀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视线引导</a:t>
            </a:r>
            <a:endParaRPr/>
          </a:p>
        </p:txBody>
      </p:sp>
      <p:sp>
        <p:nvSpPr>
          <p:cNvPr id="383" name=""/>
          <p:cNvSpPr/>
          <p:nvPr/>
        </p:nvSpPr>
        <p:spPr>
          <a:xfrm rot="0" flipH="0" flipV="0">
            <a:off x="7296150" y="3810000"/>
            <a:ext cx="4391025" cy="514350"/>
          </a:xfrm>
          <a:prstGeom prst="roundRect">
            <a:avLst>
              <a:gd name="adj" fmla="val 74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7296150" y="3810000"/>
            <a:ext cx="4391025" cy="514350"/>
          </a:xfrm>
          <a:custGeom>
            <a:pathLst>
              <a:path w="461" h="54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53"/>
                </a:lnTo>
                <a:cubicBezTo>
                  <a:pt x="3" y="53"/>
                  <a:pt x="3" y="54"/>
                  <a:pt x="4" y="54"/>
                </a:cubicBezTo>
                <a:cubicBezTo>
                  <a:pt x="2" y="54"/>
                  <a:pt x="0" y="52"/>
                  <a:pt x="0" y="5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p/>
        </p:txBody>
      </p:sp>
      <p:sp>
        <p:nvSpPr>
          <p:cNvPr id="385" name=""/>
          <p:cNvSpPr/>
          <p:nvPr/>
        </p:nvSpPr>
        <p:spPr>
          <a:xfrm rot="0" flipH="0" flipV="0">
            <a:off x="7429500" y="3933825"/>
            <a:ext cx="114300" cy="114300"/>
          </a:xfrm>
          <a:custGeom>
            <a:pathLst>
              <a:path w="12" h="12">
                <a:moveTo>
                  <a:pt x="6" y="0"/>
                </a:moveTo>
                <a:lnTo>
                  <a:pt x="6" y="0"/>
                </a:lnTo>
                <a:cubicBezTo>
                  <a:pt x="9" y="0"/>
                  <a:pt x="12" y="3"/>
                  <a:pt x="12" y="6"/>
                </a:cubicBezTo>
                <a:lnTo>
                  <a:pt x="12" y="6"/>
                </a:lnTo>
                <a:cubicBezTo>
                  <a:pt x="12" y="9"/>
                  <a:pt x="9" y="12"/>
                  <a:pt x="6" y="12"/>
                </a:cubicBezTo>
                <a:lnTo>
                  <a:pt x="6" y="12"/>
                </a:lnTo>
                <a:cubicBezTo>
                  <a:pt x="3" y="12"/>
                  <a:pt x="0" y="9"/>
                  <a:pt x="0" y="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7620000" y="39052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E2E8F0"/>
                </a:solidFill>
                <a:latin typeface="Microsoft YaHei"/>
                <a:ea typeface="Microsoft YaHei"/>
              </a:rPr>
              <a:t>介质粒子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229600" y="3924300"/>
            <a:ext cx="876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Medium Particles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7429500" y="4086225"/>
            <a:ext cx="409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绿色粒子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流体可视化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7296150" y="4419600"/>
            <a:ext cx="4391025" cy="514350"/>
          </a:xfrm>
          <a:prstGeom prst="roundRect">
            <a:avLst>
              <a:gd name="adj" fmla="val 740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7296150" y="4419600"/>
            <a:ext cx="4391025" cy="514350"/>
          </a:xfrm>
          <a:custGeom>
            <a:pathLst>
              <a:path w="461" h="54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53"/>
                </a:lnTo>
                <a:cubicBezTo>
                  <a:pt x="3" y="53"/>
                  <a:pt x="3" y="54"/>
                  <a:pt x="4" y="54"/>
                </a:cubicBezTo>
                <a:cubicBezTo>
                  <a:pt x="2" y="54"/>
                  <a:pt x="0" y="52"/>
                  <a:pt x="0" y="5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8B5CF6"/>
          </a:solidFill>
          <a:ln/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7429500" y="4543425"/>
            <a:ext cx="114300" cy="114300"/>
          </a:xfrm>
          <a:custGeom>
            <a:pathLst>
              <a:path w="12" h="12">
                <a:moveTo>
                  <a:pt x="6" y="0"/>
                </a:moveTo>
                <a:lnTo>
                  <a:pt x="6" y="0"/>
                </a:lnTo>
                <a:cubicBezTo>
                  <a:pt x="9" y="0"/>
                  <a:pt x="12" y="3"/>
                  <a:pt x="12" y="6"/>
                </a:cubicBezTo>
                <a:lnTo>
                  <a:pt x="12" y="6"/>
                </a:lnTo>
                <a:cubicBezTo>
                  <a:pt x="12" y="9"/>
                  <a:pt x="9" y="12"/>
                  <a:pt x="6" y="12"/>
                </a:cubicBezTo>
                <a:lnTo>
                  <a:pt x="6" y="12"/>
                </a:lnTo>
                <a:cubicBezTo>
                  <a:pt x="3" y="12"/>
                  <a:pt x="0" y="9"/>
                  <a:pt x="0" y="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8B5CF6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7620000" y="45148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E2E8F0"/>
                </a:solidFill>
                <a:latin typeface="Microsoft YaHei"/>
                <a:ea typeface="Microsoft YaHei"/>
              </a:rPr>
              <a:t>安全边界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8229600" y="4533900"/>
            <a:ext cx="828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Safety Boundary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7429500" y="4695825"/>
            <a:ext cx="409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紫色多边形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危险区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96" name="" descr="&lt;Slide style={{ width: '1280px', height: '720px', padding: '40px 56px', backgroundColor: '#0b1220' }}&gt;&#10;    &lt;Box style={{ display: 'flex', alignItems: 'center', marginBottom: '24px' }}&gt;&#10;      &lt;Text style={{ fontSize: '14px', color: '#06b6d4', letterSpacing: '3px' }}&gt;AI · 24 CAPABILITIES · 4 LAYERS&lt;/Text&gt;&#10;      &lt;Box style={{ flex: '1', height: '1px', backgroundColor: '#1e293b', marginLeft: '20px' }} /&gt;&#10;    &lt;/Box&gt;&#10;&#10;    &lt;Text style={{&#10;      fontSize: '36px', fontWeight: 'bold', color: '#e2e8f0', marginBottom: '8px',&#10;    }}&gt;&#10;      24 项 AI 能力 · &lt;span style={{ color: '#06b6d4' }}&gt;三层 + 多模态&lt;/span&gt;&#10;    &lt;/Text&gt;&#10;    &lt;Text style={{ fontSize: '16px', color: '#94a3b8', marginBottom: '24px' }}&gt;&#10;      通过 OpenAI SDK 指向 DashScope 兼容端点 · 4 层降级机制（缓存 / 限流 / 备选模型 / 日预算）&#10;    &lt;/Text&gt;&#10;&#10;    &lt;Box style={{ display: 'flex', gap: '12px', height: '440px' }}&gt;&#10;      {[&#10;        {&#10;          layer: '基础层', count: 5, color: '#10b981',&#10;          items: ['故障分类', '严重度评估', '关键词提取', '工单摘要', '设备状态解读'],&#10;          path: '/api/v1/ai/chat',&#10;        },&#10;        {&#10;          layer: '分析层', count: 10, color: '#06b6d4',&#10;          items: ['根因分析', '维修方案推荐', '备件预测', '关联故障发现', '趋势预警', '知识匹配', '风险评估', '效率分析', '成本估算', '方案对比'],&#10;          path: '/api/v1/ai/diagnose / rag-search',&#10;        },&#10;        {&#10;          layer: '决策层', count: 5, color: '#f59e0b',&#10;          items: ['维修决策树', '应急预案生成', '资源调度建议', '停机损失评估', '改进建议'],&#10;          path: '/api/v1/ai/suggest-followups',&#10;        },&#10;        {&#10;          layer: '多模态', count: 4, color: '#8b5cf6',&#10;          items: ['视觉缺陷检测', '语音转文本', '视频分析', 'AI 流水线 (SSE)'],&#10;          path: '/api/v1/ai/vision-defect-detect / pipeline',&#10;        },&#10;      ].map((l, i) =&gt; (&#10;        &lt;Box key={i} style={{&#10;          flex: 1, padding: '18px', backgroundColor: '#0f172a', borderRadius: '8px',&#10;          borderTop: `3px solid ${l.color}`,&#10;          display: 'flex', flexDirection: 'column',&#10;        }}&gt;&#10;          &lt;Box style={{ display: 'flex', alignItems: 'baseline', marginBottom: '12px' }}&gt;&#10;            &lt;Text style={{&#10;              fontSize: '36px', fontWeight: 'bold', color: l.color, lineHeight: '1',&#10;              marginRight: '8px',&#10;            }}&gt;&#10;              {l.count}&#10;            &lt;/Text&gt;&#10;            &lt;Text style={{ fontSize: '13px', color: '#94a3b8' }}&gt;项能力&lt;/Text&gt;&#10;          &lt;/Box&gt;&#10;          &lt;Text style={{ fontSize: '16px', color: '#e2e8f0', fontWeight: 'bold', marginBottom: '4px' }}&gt;&#10;            {l.layer}&#10;          &lt;/Text&gt;&#10;          &lt;Text style={{ fontSize: '10px', color: '#64748b', fontFamily: 'monospace', marginBottom: '12px' }}&gt;&#10;            {l.path}&#10;          &lt;/Text&gt;&#10;          &lt;Box style={{ display: 'flex', flexDirection: 'column', gap: '4px' }}&gt;&#10;            {l.items.map((it, ii) =&gt; (&#10;              &lt;Text key={ii} style={{ fontSize: '12px', color: '#cbd5e1', lineHeight: '1.5' }}&gt;&#10;                · {it}&#10;              &lt;/Text&gt;&#10;            ))}&#10;          &lt;/Box&gt;&#10;        &lt;/Box&gt;&#10;      ))}&#10;    &lt;/Box&gt;&#10;&#10;    &lt;Box style={{ position: 'absolute', bottom: '20px', right: '56px' }}&gt;&#10;      &lt;Text style={{ fontSize: '12px', color: '#475569' }}&gt;09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2895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AI · 24 CAPABILITIES · 4 LAYERS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619500" y="457200"/>
            <a:ext cx="80391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533400" y="771525"/>
            <a:ext cx="11125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2E8F0"/>
                </a:solidFill>
                <a:latin typeface="Microsoft YaHei"/>
                <a:ea typeface="Microsoft YaHei"/>
              </a:rPr>
              <a:t>24 </a:t>
            </a:r>
            <a:r>
              <a:rPr lang="zh-CN" sz="2700" b="1">
                <a:solidFill>
                  <a:srgbClr val="E2E8F0"/>
                </a:solidFill>
                <a:latin typeface="Microsoft YaHei"/>
                <a:ea typeface="Microsoft YaHei"/>
              </a:rPr>
              <a:t>项</a:t>
            </a:r>
            <a:r>
              <a:rPr lang="en-US" sz="2700" b="1">
                <a:solidFill>
                  <a:srgbClr val="E2E8F0"/>
                </a:solidFill>
                <a:latin typeface="Microsoft YaHei"/>
                <a:ea typeface="Microsoft YaHei"/>
              </a:rPr>
              <a:t> AI </a:t>
            </a:r>
            <a:r>
              <a:rPr lang="zh-CN" sz="2700" b="1">
                <a:solidFill>
                  <a:srgbClr val="E2E8F0"/>
                </a:solidFill>
                <a:latin typeface="Microsoft YaHei"/>
                <a:ea typeface="Microsoft YaHei"/>
              </a:rPr>
              <a:t>能力</a:t>
            </a:r>
            <a:r>
              <a:rPr lang="en-US" sz="2700" b="1">
                <a:solidFill>
                  <a:srgbClr val="E2E8F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06B6D4"/>
                </a:solidFill>
                <a:latin typeface="Microsoft YaHei"/>
                <a:ea typeface="Microsoft YaHei"/>
              </a:rPr>
              <a:t>三层</a:t>
            </a: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 + </a:t>
            </a:r>
            <a:r>
              <a:rPr lang="zh-CN" sz="2700" b="1">
                <a:solidFill>
                  <a:srgbClr val="06B6D4"/>
                </a:solidFill>
                <a:latin typeface="Microsoft YaHei"/>
                <a:ea typeface="Microsoft YaHei"/>
              </a:rPr>
              <a:t>多模态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533400" y="1266825"/>
            <a:ext cx="1112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通过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OpenAI SDK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指向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DashScope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兼容端点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· 4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层降级机制（缓存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限流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备选模型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日预算）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533400" y="1714500"/>
            <a:ext cx="2695575" cy="4191000"/>
          </a:xfrm>
          <a:prstGeom prst="roundRect">
            <a:avLst>
              <a:gd name="adj" fmla="val 282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403" name=""/>
          <p:cNvSpPr/>
          <p:nvPr/>
        </p:nvSpPr>
        <p:spPr>
          <a:xfrm rot="0" flipH="0" flipV="0">
            <a:off x="533400" y="1714500"/>
            <a:ext cx="2695575" cy="4191000"/>
          </a:xfrm>
          <a:custGeom>
            <a:pathLst>
              <a:path w="283" h="440">
                <a:moveTo>
                  <a:pt x="275" y="0"/>
                </a:moveTo>
                <a:cubicBezTo>
                  <a:pt x="279" y="0"/>
                  <a:pt x="282" y="3"/>
                  <a:pt x="283" y="7"/>
                </a:cubicBezTo>
                <a:cubicBezTo>
                  <a:pt x="282" y="4"/>
                  <a:pt x="280" y="3"/>
                  <a:pt x="278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p/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704850" y="1885950"/>
            <a:ext cx="2190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0B981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1000125" y="1885950"/>
            <a:ext cx="3714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项能力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704850" y="2419350"/>
            <a:ext cx="2352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2E8F0"/>
                </a:solidFill>
                <a:latin typeface="Microsoft YaHei"/>
                <a:ea typeface="Microsoft YaHei"/>
              </a:rPr>
              <a:t>基础层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04850" y="2647950"/>
            <a:ext cx="23526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4748B"/>
                </a:solidFill>
                <a:latin typeface="monospace"/>
                <a:ea typeface="monospace"/>
              </a:rPr>
              <a:t>/api/v1/ai/chat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704850" y="28765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故障分类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704850" y="31242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严重度评估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704850" y="33718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关键词提取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704850" y="36195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工单摘要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704850" y="38671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设备状态解读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343275" y="1714500"/>
            <a:ext cx="2695575" cy="4191000"/>
          </a:xfrm>
          <a:prstGeom prst="roundRect">
            <a:avLst>
              <a:gd name="adj" fmla="val 282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414" name=""/>
          <p:cNvSpPr/>
          <p:nvPr/>
        </p:nvSpPr>
        <p:spPr>
          <a:xfrm rot="0" flipH="0" flipV="0">
            <a:off x="3343275" y="1714500"/>
            <a:ext cx="2695575" cy="4191000"/>
          </a:xfrm>
          <a:custGeom>
            <a:pathLst>
              <a:path w="283" h="440">
                <a:moveTo>
                  <a:pt x="275" y="0"/>
                </a:moveTo>
                <a:cubicBezTo>
                  <a:pt x="279" y="0"/>
                  <a:pt x="282" y="3"/>
                  <a:pt x="283" y="7"/>
                </a:cubicBezTo>
                <a:cubicBezTo>
                  <a:pt x="282" y="4"/>
                  <a:pt x="280" y="3"/>
                  <a:pt x="278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514725" y="188595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4019550" y="1885950"/>
            <a:ext cx="3714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项能力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3514725" y="2419350"/>
            <a:ext cx="2352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2E8F0"/>
                </a:solidFill>
                <a:latin typeface="Microsoft YaHei"/>
                <a:ea typeface="Microsoft YaHei"/>
              </a:rPr>
              <a:t>分析层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514725" y="2647950"/>
            <a:ext cx="23526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4748B"/>
                </a:solidFill>
                <a:latin typeface="monospace"/>
                <a:ea typeface="monospace"/>
              </a:rPr>
              <a:t>/api/v1/ai/diagnose / rag-search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514725" y="28765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根因分析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514725" y="31242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维修方案推荐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514725" y="33718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备件预测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3514725" y="36195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关联故障发现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514725" y="38671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趋势预警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514725" y="41148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知识匹配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514725" y="43624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风险评估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3514725" y="46101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效率分析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3514725" y="48577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成本估算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3514725" y="51054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方案对比</a:t>
            </a:r>
            <a:endParaRPr/>
          </a:p>
        </p:txBody>
      </p:sp>
      <p:sp>
        <p:nvSpPr>
          <p:cNvPr id="429" name=""/>
          <p:cNvSpPr/>
          <p:nvPr/>
        </p:nvSpPr>
        <p:spPr>
          <a:xfrm rot="0" flipH="0" flipV="0">
            <a:off x="6153150" y="1714500"/>
            <a:ext cx="2695575" cy="4191000"/>
          </a:xfrm>
          <a:prstGeom prst="roundRect">
            <a:avLst>
              <a:gd name="adj" fmla="val 282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430" name=""/>
          <p:cNvSpPr/>
          <p:nvPr/>
        </p:nvSpPr>
        <p:spPr>
          <a:xfrm rot="0" flipH="0" flipV="0">
            <a:off x="6153150" y="1714500"/>
            <a:ext cx="2695575" cy="4191000"/>
          </a:xfrm>
          <a:custGeom>
            <a:pathLst>
              <a:path w="283" h="440">
                <a:moveTo>
                  <a:pt x="275" y="0"/>
                </a:moveTo>
                <a:cubicBezTo>
                  <a:pt x="279" y="0"/>
                  <a:pt x="282" y="3"/>
                  <a:pt x="283" y="7"/>
                </a:cubicBezTo>
                <a:cubicBezTo>
                  <a:pt x="282" y="4"/>
                  <a:pt x="280" y="3"/>
                  <a:pt x="278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6324600" y="1885950"/>
            <a:ext cx="2190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59E0B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6619875" y="1885950"/>
            <a:ext cx="3714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项能力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6324600" y="2419350"/>
            <a:ext cx="2352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2E8F0"/>
                </a:solidFill>
                <a:latin typeface="Microsoft YaHei"/>
                <a:ea typeface="Microsoft YaHei"/>
              </a:rPr>
              <a:t>决策层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6324600" y="2647950"/>
            <a:ext cx="23526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4748B"/>
                </a:solidFill>
                <a:latin typeface="monospace"/>
                <a:ea typeface="monospace"/>
              </a:rPr>
              <a:t>/api/v1/ai/suggest-followups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6324600" y="28765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维修决策树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6324600" y="31242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应急预案生成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6324600" y="33718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资源调度建议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6324600" y="36195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停机损失评估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324600" y="38671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改进建议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8963025" y="1714500"/>
            <a:ext cx="2695575" cy="4191000"/>
          </a:xfrm>
          <a:prstGeom prst="roundRect">
            <a:avLst>
              <a:gd name="adj" fmla="val 282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8963025" y="1714500"/>
            <a:ext cx="2695575" cy="4191000"/>
          </a:xfrm>
          <a:custGeom>
            <a:pathLst>
              <a:path w="283" h="440">
                <a:moveTo>
                  <a:pt x="275" y="0"/>
                </a:moveTo>
                <a:cubicBezTo>
                  <a:pt x="279" y="0"/>
                  <a:pt x="282" y="3"/>
                  <a:pt x="283" y="7"/>
                </a:cubicBezTo>
                <a:cubicBezTo>
                  <a:pt x="282" y="4"/>
                  <a:pt x="280" y="3"/>
                  <a:pt x="278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8B5CF6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9134475" y="1885950"/>
            <a:ext cx="2190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8B5CF6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9429750" y="1885950"/>
            <a:ext cx="3714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项能力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9134475" y="2419350"/>
            <a:ext cx="2352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2E8F0"/>
                </a:solidFill>
                <a:latin typeface="Microsoft YaHei"/>
                <a:ea typeface="Microsoft YaHei"/>
              </a:rPr>
              <a:t>多模态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9134475" y="2647950"/>
            <a:ext cx="2352675" cy="228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750">
                <a:solidFill>
                  <a:srgbClr val="64748B"/>
                </a:solidFill>
                <a:latin typeface="monospace"/>
                <a:ea typeface="monospace"/>
              </a:rPr>
              <a:t>/api/v1/ai/vision-defect-detect / pipeline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9134475" y="29908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视觉缺陷检测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9134475" y="32385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语音转文本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9134475" y="348615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视频分析</a:t>
            </a:r>
            <a:endParaRPr/>
          </a:p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9134475" y="3733800"/>
            <a:ext cx="235267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· 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流水线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(SSE)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5" name="" descr="&lt;Slide style={{ width: '1280px', height: '720px', padding: '40px 56px', backgroundColor: '#0b1220' }}&gt;&#10;    &lt;Box style={{ display: 'flex', alignItems: 'center', marginBottom: '20px' }}&gt;&#10;      &lt;Text style={{ fontSize: '14px', color: '#06b6d4', letterSpacing: '3px' }}&gt;DATABASE · 31 TABLES · 25 MIGRATIONS&lt;/Text&gt;&#10;      &lt;Box style={{ flex: '1', height: '1px', backgroundColor: '#1e293b', marginLeft: '20px' }} /&gt;&#10;    &lt;/Box&gt;&#10;&#10;    &lt;Text style={{&#10;      fontSize: '32px', fontWeight: 'bold', color: '#e2e8f0', marginBottom: '20px',&#10;    }}&gt;&#10;      数据层 · &lt;span style={{ color: '#06b6d4' }}&gt;PGlite / PostgreSQL 双适配&lt;/span&gt;&#10;    &lt;/Text&gt;&#10;&#10;    &lt;Box style={{ display: 'flex', gap: '12px' }}&gt;&#10;      &lt;Box style={{&#10;        flex: 1, padding: '24px', backgroundColor: '#0f172a', borderRadius: '8px',&#10;        borderTop: '3px solid #06b6d4',&#10;      }}&gt;&#10;        &lt;Text style={{ fontSize: '64px', fontWeight: 'bold', color: '#06b6d4', lineHeight: '1' }}&gt;&#10;          31&#10;        &lt;/Text&gt;&#10;        &lt;Text style={{ fontSize: '14px', color: '#94a3b8', marginTop: '6px' }}&gt;张业务表&lt;/Text&gt;&#10;        &lt;Text style={{ fontSize: '11px', color: '#64748b', marginTop: '8px', lineHeight: '1.5' }}&gt;&#10;          10 张 AI/知识 · 9 张核心业务 · 5 张存储 · 7 张运营支撑&#10;        &lt;/Text&gt;&#10;      &lt;/Box&gt;&#10;      &lt;Box style={{&#10;        flex: 1, padding: '24px', backgroundColor: '#0f172a', borderRadius: '8px',&#10;        borderTop: '3px solid #f59e0b',&#10;      }}&gt;&#10;        &lt;Text style={{ fontSize: '64px', fontWeight: 'bold', color: '#f59e0b', lineHeight: '1' }}&gt;&#10;          25&#10;        &lt;/Text&gt;&#10;        &lt;Text style={{ fontSize: '14px', color: '#94a3b8', marginTop: '6px' }}&gt;个幂等迁移&lt;/Text&gt;&#10;        &lt;Text style={{ fontSize: '11px', color: '#64748b', marginTop: '8px', lineHeight: '1.5' }}&gt;&#10;          src/db/migrations/001-025.sql · 吞 already exists · 无 schema_migrations 表&#10;        &lt;/Text&gt;&#10;      &lt;/Box&gt;&#10;      &lt;Box style={{&#10;        flex: 1, padding: '24px', backgroundColor: '#0f172a', borderRadius: '8px',&#10;        borderTop: '3px solid #10b981',&#10;      }}&gt;&#10;        &lt;Text style={{ fontSize: '64px', fontWeight: 'bold', color: '#10b981', lineHeight: '1' }}&gt;&#10;          6&#10;        &lt;/Text&gt;&#10;        &lt;Text style={{ fontSize: '14px', color: '#94a3b8', marginTop: '6px' }}&gt;个遥测维度&lt;/Text&gt;&#10;        &lt;Text style={{ fontSize: '11px', color: '#64748b', marginTop: '8px', lineHeight: '1.5' }}&gt;&#10;          温度 / 压力 / 振动 / 电流 / 流量 / 转速&#10;        &lt;/Text&gt;&#10;      &lt;/Box&gt;&#10;      &lt;Box style={{&#10;        flex: 1, padding: '24px', backgroundColor: '#0f172a', borderRadius: '8px',&#10;        borderTop: '3px solid #8b5cf6',&#10;      }}&gt;&#10;        &lt;Text style={{ fontSize: '64px', fontWeight: 'bold', color: '#8b5cf6', lineHeight: '1' }}&gt;&#10;          1024&#10;        &lt;/Text&gt;&#10;        &lt;Text style={{ fontSize: '14px', color: '#94a3b8', marginTop: '6px' }}&gt;维向量&lt;/Text&gt;&#10;        &lt;Text style={{ fontSize: '11px', color: '#64748b', marginTop: '8px', lineHeight: '1.5' }}&gt;&#10;          text-embedding-v3 · pgvector 可选 · HNSW 索引&#10;        &lt;/Text&gt;&#10;      &lt;/Box&gt;&#10;    &lt;/Box&gt;&#10;&#10;    &lt;Box style={{ display: 'flex', gap: '12px', marginTop: '20px' }}&gt;&#10;      &lt;Box style={{ flex: 1, padding: '16px', backgroundColor: '#0f172a', borderRadius: '6px' }}&gt;&#10;        &lt;Text style={{ fontSize: '13px', color: '#06b6d4', marginBottom: '6px' }}&gt;JSONB 关键字段&lt;/Text&gt;&#10;        &lt;Text style={{ fontSize: '11px', color: '#cbd5e1', lineHeight: '1.6', fontFamily: 'monospace' }}&gt;&#10;          work_orders.safety_requirements / repair_log / acceptance&#10;          {'\n'}safety_permits.guardian_approval / supervisor_approval&#10;        &lt;/Text&gt;&#10;      &lt;/Box&gt;&#10;      &lt;Box style={{ flex: 1, padding: '16px', backgroundColor: '#0f172a', borderRadius: '6px' }}&gt;&#10;        &lt;Text style={{ fontSize: '13px', color: '#f59e0b', marginBottom: '6px' }}&gt;乐观锁&lt;/Text&gt;&#10;        &lt;Text style={{ fontSize: '11px', color: '#cbd5e1', lineHeight: '1.6', fontFamily: 'monospace' }}&gt;&#10;          work_orders.version INTEGER DEFAULT 1&#10;          {'\n'}UPDATE … WHERE id=? AND version=? → 0 行返 409&#10;        &lt;/Text&gt;&#10;      &lt;/Box&gt;&#10;      &lt;Box style={{ flex: 1, padding: '16px', backgroundColor: '#0f172a', borderRadius: '6px' }}&gt;&#10;        &lt;Text style={{ fontSize: '13px', color: '#10b981', marginBottom: '6px' }}&gt;PGlite 自愈&lt;/Text&gt;&#10;        &lt;Text style={{ fontSize: '11px', color: '#cbd5e1', lineHeight: '1.6', fontFamily: 'monospace' }}&gt;&#10;          openPgliteWithFallback() → 损坏自动回退到 data.bak-*&#10;          {'\n'}最近 3 个备份保留 · .pglite-active.json 仲裁&#10;        &lt;/Text&gt;&#10;      &lt;/Box&gt;&#10;    &lt;/Box&gt;&#10;&#10;    &lt;Box style={{ position: 'absolute', bottom: '20px', right: '56px' }}&gt;&#10;      &lt;Text style={{ fontSize: '12px', color: '#475569' }}&gt;10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3676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DATABASE · 31 TABLES · 25 MIGRATIONS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4400550" y="457200"/>
            <a:ext cx="725805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33400" y="733425"/>
            <a:ext cx="11125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2E8F0"/>
                </a:solidFill>
                <a:latin typeface="Microsoft YaHei"/>
                <a:ea typeface="Microsoft YaHei"/>
              </a:rPr>
              <a:t>数据层</a:t>
            </a:r>
            <a:r>
              <a:rPr lang="en-US" sz="2400" b="1">
                <a:solidFill>
                  <a:srgbClr val="E2E8F0"/>
                </a:solidFill>
                <a:latin typeface="Microsoft YaHei"/>
                <a:ea typeface="Microsoft YaHei"/>
              </a:rPr>
              <a:t> · </a:t>
            </a:r>
            <a:r>
              <a:rPr lang="en-US" sz="2400" b="1">
                <a:solidFill>
                  <a:srgbClr val="06B6D4"/>
                </a:solidFill>
                <a:latin typeface="Microsoft YaHei"/>
                <a:ea typeface="Microsoft YaHei"/>
              </a:rPr>
              <a:t>PGlite / PostgreSQL </a:t>
            </a:r>
            <a:r>
              <a:rPr lang="zh-CN" sz="2400" b="1">
                <a:solidFill>
                  <a:srgbClr val="06B6D4"/>
                </a:solidFill>
                <a:latin typeface="Microsoft YaHei"/>
                <a:ea typeface="Microsoft YaHei"/>
              </a:rPr>
              <a:t>双适配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533400" y="1323975"/>
            <a:ext cx="2695575" cy="1895475"/>
          </a:xfrm>
          <a:prstGeom prst="roundRect">
            <a:avLst>
              <a:gd name="adj" fmla="val 402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533400" y="1323975"/>
            <a:ext cx="2695575" cy="1895475"/>
          </a:xfrm>
          <a:custGeom>
            <a:pathLst>
              <a:path w="283" h="199">
                <a:moveTo>
                  <a:pt x="275" y="0"/>
                </a:moveTo>
                <a:cubicBezTo>
                  <a:pt x="279" y="0"/>
                  <a:pt x="282" y="3"/>
                  <a:pt x="283" y="7"/>
                </a:cubicBezTo>
                <a:cubicBezTo>
                  <a:pt x="282" y="4"/>
                  <a:pt x="280" y="3"/>
                  <a:pt x="278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62000" y="1552575"/>
            <a:ext cx="22383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06B6D4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62000" y="2343150"/>
            <a:ext cx="2238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张业务表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62000" y="2581275"/>
            <a:ext cx="2238375" cy="381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10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张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AI/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知识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· 9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张核心业务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· 5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张存储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· 7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张运营支撑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3343275" y="1323975"/>
            <a:ext cx="2695575" cy="1895475"/>
          </a:xfrm>
          <a:prstGeom prst="roundRect">
            <a:avLst>
              <a:gd name="adj" fmla="val 402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3343275" y="1323975"/>
            <a:ext cx="2695575" cy="1895475"/>
          </a:xfrm>
          <a:custGeom>
            <a:pathLst>
              <a:path w="283" h="199">
                <a:moveTo>
                  <a:pt x="275" y="0"/>
                </a:moveTo>
                <a:cubicBezTo>
                  <a:pt x="279" y="0"/>
                  <a:pt x="282" y="3"/>
                  <a:pt x="283" y="7"/>
                </a:cubicBezTo>
                <a:cubicBezTo>
                  <a:pt x="282" y="4"/>
                  <a:pt x="280" y="3"/>
                  <a:pt x="278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571875" y="1552575"/>
            <a:ext cx="22383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59E0B"/>
                </a:solidFill>
                <a:latin typeface="Microsoft YaHei"/>
                <a:ea typeface="Microsoft YaHei"/>
              </a:rPr>
              <a:t>25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571875" y="2343150"/>
            <a:ext cx="2238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个幂等迁移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3571875" y="2581275"/>
            <a:ext cx="2238375" cy="381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src/db/migrations/001-025.sql ·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吞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already exists ·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无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schema_migrations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表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6153150" y="1323975"/>
            <a:ext cx="2695575" cy="1895475"/>
          </a:xfrm>
          <a:prstGeom prst="roundRect">
            <a:avLst>
              <a:gd name="adj" fmla="val 402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6153150" y="1323975"/>
            <a:ext cx="2695575" cy="1895475"/>
          </a:xfrm>
          <a:custGeom>
            <a:pathLst>
              <a:path w="283" h="199">
                <a:moveTo>
                  <a:pt x="275" y="0"/>
                </a:moveTo>
                <a:cubicBezTo>
                  <a:pt x="279" y="0"/>
                  <a:pt x="282" y="3"/>
                  <a:pt x="283" y="7"/>
                </a:cubicBezTo>
                <a:cubicBezTo>
                  <a:pt x="282" y="4"/>
                  <a:pt x="280" y="3"/>
                  <a:pt x="278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381750" y="1552575"/>
            <a:ext cx="22383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10B981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381750" y="2343150"/>
            <a:ext cx="2238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个遥测维度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381750" y="2581275"/>
            <a:ext cx="223837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温度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压力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振动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电流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流量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转速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8963025" y="1323975"/>
            <a:ext cx="2695575" cy="1895475"/>
          </a:xfrm>
          <a:prstGeom prst="roundRect">
            <a:avLst>
              <a:gd name="adj" fmla="val 4020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8963025" y="1323975"/>
            <a:ext cx="2695575" cy="1895475"/>
          </a:xfrm>
          <a:custGeom>
            <a:pathLst>
              <a:path w="283" h="199">
                <a:moveTo>
                  <a:pt x="275" y="0"/>
                </a:moveTo>
                <a:cubicBezTo>
                  <a:pt x="279" y="0"/>
                  <a:pt x="282" y="3"/>
                  <a:pt x="283" y="7"/>
                </a:cubicBezTo>
                <a:cubicBezTo>
                  <a:pt x="282" y="4"/>
                  <a:pt x="280" y="3"/>
                  <a:pt x="278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8B5CF6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191625" y="1552575"/>
            <a:ext cx="22383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8B5CF6"/>
                </a:solidFill>
                <a:latin typeface="Microsoft YaHei"/>
                <a:ea typeface="Microsoft YaHei"/>
              </a:rPr>
              <a:t>1024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9191625" y="2343150"/>
            <a:ext cx="2238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维向量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9191625" y="2581275"/>
            <a:ext cx="2238375" cy="381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text-embedding-v3 · pgvector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可选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· HNSW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索引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533400" y="3381375"/>
            <a:ext cx="3629025" cy="1323975"/>
          </a:xfrm>
          <a:prstGeom prst="roundRect">
            <a:avLst>
              <a:gd name="adj" fmla="val 431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533775"/>
            <a:ext cx="3324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06B6D4"/>
                </a:solidFill>
                <a:latin typeface="Microsoft YaHei"/>
                <a:ea typeface="Microsoft YaHei"/>
              </a:rPr>
              <a:t>JSONB </a:t>
            </a:r>
            <a:r>
              <a:rPr lang="zh-CN" sz="975">
                <a:solidFill>
                  <a:srgbClr val="06B6D4"/>
                </a:solidFill>
                <a:latin typeface="Microsoft YaHei"/>
                <a:ea typeface="Microsoft YaHei"/>
              </a:rPr>
              <a:t>关键字段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3324225" cy="809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work_orders.safety_requirements / repair_log / acceptance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safety_permits.guardian_approval / supervisor_approval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4276725" y="3381375"/>
            <a:ext cx="3638550" cy="1323975"/>
          </a:xfrm>
          <a:prstGeom prst="roundRect">
            <a:avLst>
              <a:gd name="adj" fmla="val 431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4429125" y="3533775"/>
            <a:ext cx="3333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59E0B"/>
                </a:solidFill>
                <a:latin typeface="Microsoft YaHei"/>
                <a:ea typeface="Microsoft YaHei"/>
              </a:rPr>
              <a:t>乐观锁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4429125" y="3743325"/>
            <a:ext cx="333375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work_orders.version INTEGER DEFAULT 1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UPDATE … WHERE id=? AND version=? → 0 </a:t>
            </a:r>
            <a:r>
              <a:rPr lang="zh-CN" sz="825">
                <a:solidFill>
                  <a:srgbClr val="CBD5E1"/>
                </a:solidFill>
                <a:latin typeface="monospace"/>
                <a:ea typeface="monospace"/>
              </a:rPr>
              <a:t>行返</a:t>
            </a: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 409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8029575" y="3381375"/>
            <a:ext cx="3629025" cy="1323975"/>
          </a:xfrm>
          <a:prstGeom prst="roundRect">
            <a:avLst>
              <a:gd name="adj" fmla="val 4317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8181975" y="3533775"/>
            <a:ext cx="3324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0B981"/>
                </a:solidFill>
                <a:latin typeface="Microsoft YaHei"/>
                <a:ea typeface="Microsoft YaHei"/>
              </a:rPr>
              <a:t>PGlite </a:t>
            </a:r>
            <a:r>
              <a:rPr lang="zh-CN" sz="975">
                <a:solidFill>
                  <a:srgbClr val="10B981"/>
                </a:solidFill>
                <a:latin typeface="Microsoft YaHei"/>
                <a:ea typeface="Microsoft YaHei"/>
              </a:rPr>
              <a:t>自愈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181975" y="3743325"/>
            <a:ext cx="3324225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openPgliteWithFallback() → </a:t>
            </a:r>
            <a:r>
              <a:rPr lang="zh-CN" sz="825">
                <a:solidFill>
                  <a:srgbClr val="CBD5E1"/>
                </a:solidFill>
                <a:latin typeface="monospace"/>
                <a:ea typeface="monospace"/>
              </a:rPr>
              <a:t>损坏自动回退到</a:t>
            </a: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 data.bak-*</a:t>
            </a:r>
            <a:endParaRPr/>
          </a:p>
          <a:p>
            <a:pPr>
              <a:lnSpc>
                <a:spcPct val="160000"/>
              </a:lnSpc>
            </a:pPr>
            <a:r>
              <a:rPr lang="zh-CN" sz="825">
                <a:solidFill>
                  <a:srgbClr val="CBD5E1"/>
                </a:solidFill>
                <a:latin typeface="monospace"/>
                <a:ea typeface="monospace"/>
              </a:rPr>
              <a:t>最近</a:t>
            </a: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 3 </a:t>
            </a:r>
            <a:r>
              <a:rPr lang="zh-CN" sz="825">
                <a:solidFill>
                  <a:srgbClr val="CBD5E1"/>
                </a:solidFill>
                <a:latin typeface="monospace"/>
                <a:ea typeface="monospace"/>
              </a:rPr>
              <a:t>个备份保留</a:t>
            </a: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 · .pglite-active.json </a:t>
            </a:r>
            <a:r>
              <a:rPr lang="zh-CN" sz="825">
                <a:solidFill>
                  <a:srgbClr val="CBD5E1"/>
                </a:solidFill>
                <a:latin typeface="monospace"/>
                <a:ea typeface="monospace"/>
              </a:rPr>
              <a:t>仲裁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60" name="" descr="&lt;Slide style={{ width: '1280px', height: '720px', padding: '40px 56px', backgroundColor: '#0b1220' }}&gt;&#10;    &lt;Box style={{ display: 'flex', alignItems: 'center', marginBottom: '20px' }}&gt;&#10;      &lt;Text style={{ fontSize: '14px', color: '#06b6d4', letterSpacing: '3px' }}&gt;DIFFERENTIATORS · WHY US&lt;/Text&gt;&#10;      &lt;Box style={{ flex: '1', height: '1px', backgroundColor: '#1e293b', marginLeft: '20px' }} /&gt;&#10;    &lt;/Box&gt;&#10;&#10;    &lt;Text style={{&#10;      fontSize: '32px', fontWeight: 'bold', color: '#e2e8f0', marginBottom: '8px',&#10;    }}&gt;&#10;      三大&lt;span style={{ color: '#f59e0b' }}&gt;差异化&lt;/span&gt;创新&#10;    &lt;/Text&gt;&#10;    &lt;Text style={{ fontSize: '14px', color: '#94a3b8', marginBottom: '24px' }}&gt;&#10;      不是更多功能，而是把每个细节做到生产可用&#10;    &lt;/Text&gt;&#10;&#10;    &lt;Box style={{ display: 'flex', gap: '16px', height: '420px' }}&gt;&#10;      &lt;Box style={{&#10;        flex: 1, padding: '24px', backgroundColor: '#0f172a', borderRadius: '8px',&#10;        borderTop: '3px solid #06b6d4',&#10;        display: 'flex', flexDirection: 'column',&#10;      }}&gt;&#10;        &lt;Text style={{ fontSize: '13px', color: '#06b6d4', letterSpacing: '1px', marginBottom: '8px' }}&gt;&#10;          01&#10;        &lt;/Text&gt;&#10;        &lt;Text style={{ fontSize: '22px', fontWeight: 'bold', color: '#e2e8f0', marginBottom: '12px' }}&gt;&#10;          跨 iframe 拖拽&#10;        &lt;/Text&gt;&#10;        &lt;Text style={{ fontSize: '13px', color: '#94a3b8', lineHeight: '1.7', marginBottom: '12px' }}&gt;&#10;          悬浮 AI 球压在 Godot 检修闯关的 iframe 上。父 window 的 mousemove 会被 iframe 切断，表现为「拖两步就卡」。&#10;        &lt;/Text&gt;&#10;        &lt;Box style={{ marginTop: 'auto', padding: '12px', backgroundColor: '#1e293b', borderRadius: '4px' }}&gt;&#10;          &lt;Text style={{ fontSize: '12px', color: '#06b6d4', marginBottom: '4px' }}&gt;解决方案&lt;/Text&gt;&#10;          &lt;Text style={{ fontSize: '11px', color: '#cbd5e1', lineHeight: '1.6', fontFamily: 'monospace' }}&gt;&#10;            onPointerDown → setPointerCapture(e.pointerId)&#10;            {'\n'}+ window pointermove/pointerup 监听&#10;          &lt;/Text&gt;&#10;        &lt;/Box&gt;&#10;        &lt;Text style={{ fontSize: '11px', color: '#f59e0b', marginTop: '8px' }}&gt;&#10;          验收脚本 commit 72a7fd3 · 位移 14/11 → 142.8/112.8 px&#10;        &lt;/Text&gt;&#10;      &lt;/Box&gt;&#10;&#10;      &lt;Box style={{&#10;        flex: 1, padding: '24px', backgroundColor: '#0f172a', borderRadius: '8px',&#10;        borderTop: '3px solid #f59e0b',&#10;        display: 'flex', flexDirection: 'column',&#10;      }}&gt;&#10;        &lt;Text style={{ fontSize: '13px', color: '#f59e0b', letterSpacing: '1px', marginBottom: '8px' }}&gt;&#10;          02&#10;        &lt;/Text&gt;&#10;        &lt;Text style={{ fontSize: '22px', fontWeight: 'bold', color: '#e2e8f0', marginBottom: '12px' }}&gt;&#10;          设备单台特征化&#10;        &lt;/Text&gt;&#10;        &lt;Text style={{ fontSize: '13px', color: '#94a3b8', lineHeight: '1.7', marginBottom: '12px' }}&gt;&#10;          每台设备的 3D 模型都用独立 GLB 资源 + 独立 EQUIPMENT_GLB_MAP 映射行（追加安全，重排不安全）。&#10;        &lt;/Text&gt;&#10;        &lt;Box style={{ marginTop: 'auto', padding: '12px', backgroundColor: '#1e293b', borderRadius: '4px' }}&gt;&#10;          &lt;Text style={{ fontSize: '12px', color: '#f59e0b', marginBottom: '4px' }}&gt;反「克隆复制」&lt;/Text&gt;&#10;          &lt;Text style={{ fontSize: '11px', color: '#cbd5e1', lineHeight: '1.6' }}&gt;&#10;            离心泵 / 压缩机 / 减速箱 / 机床 / 容器 5 类各自不同的几何 + 故障表现&#10;          &lt;/Text&gt;&#10;        &lt;/Box&gt;&#10;        &lt;Text style={{ fontSize: '11px', color: '#64748b', marginTop: '8px' }}&gt;&#10;          AGENTS.md 显式列出所有权：src/components/equipment3d/equipment.ts 77-100 行&#10;        &lt;/Text&gt;&#10;      &lt;/Box&gt;&#10;&#10;      &lt;Box style={{&#10;        flex: 1, padding: '24px', backgroundColor: '#0f172a', borderRadius: '8px',&#10;        borderTop: '3px solid #10b981',&#10;        display: 'flex', flexDirection: 'column',&#10;      }}&gt;&#10;        &lt;Text style={{ fontSize: '13px', color: '#10b981', letterSpacing: '1px', marginBottom: '8px' }}&gt;&#10;          03&#10;        &lt;/Text&gt;&#10;        &lt;Text style={{ fontSize: '22px', fontWeight: 'bold', color: '#e2e8f0', marginBottom: '12px' }}&gt;&#10;          单进程双形态&#10;        &lt;/Text&gt;&#10;        &lt;Text style={{ fontSize: '13px', color: '#94a3b8', lineHeight: '1.7', marginBottom: '12px' }}&gt;&#10;          开发 PGlite / npm run dev；生产 PostgreSQL / Docker。一份代码、零外部 DB 依赖、DB_TYPE 环境变量切换。&#10;        &lt;/Text&gt;&#10;        &lt;Box style={{ marginTop: 'auto', padding: '12px', backgroundColor: '#1e293b', borderRadius: '4px' }}&gt;&#10;          &lt;Text style={{ fontSize: '12px', color: '#10b981', marginBottom: '4px' }}&gt;真正的「一条命令启动」&lt;/Text&gt;&#10;          &lt;Text style={{ fontSize: '11px', color: '#cbd5e1', lineHeight: '1.6', fontFamily: 'monospace' }}&gt;&#10;            docker compose up -d&#10;            {'\n'}→ http://localhost:3000&#10;          &lt;/Text&gt;&#10;        &lt;/Box&gt;&#10;        &lt;Text style={{ fontSize: '11px', color: '#64748b', marginTop: '8px' }}&gt;&#10;          Vite middleware 模式：前端改动 HMR 即时刷新，无需重启&#10;        &lt;/Text&gt;&#10;      &lt;/Box&gt;&#10;    &lt;/Box&gt;&#10;&#10;    &lt;Box style={{ position: 'absolute', bottom: '20px', right: '56px' }}&gt;&#10;      &lt;Text style={{ fontSize: '12px', color: '#475569' }}&gt;11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533400" y="381000"/>
            <a:ext cx="2524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06B6D4"/>
                </a:solidFill>
                <a:latin typeface="Microsoft YaHei"/>
                <a:ea typeface="Microsoft YaHei"/>
              </a:rPr>
              <a:t>DIFFERENTIATORS · WHY US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3248025" y="457200"/>
            <a:ext cx="8410575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33400" y="733425"/>
            <a:ext cx="11125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2E8F0"/>
                </a:solidFill>
                <a:latin typeface="Microsoft YaHei"/>
                <a:ea typeface="Microsoft YaHei"/>
              </a:rPr>
              <a:t>三大</a:t>
            </a:r>
            <a:r>
              <a:rPr lang="zh-CN" sz="2400" b="1">
                <a:solidFill>
                  <a:srgbClr val="F59E0B"/>
                </a:solidFill>
                <a:latin typeface="Microsoft YaHei"/>
                <a:ea typeface="Microsoft YaHei"/>
              </a:rPr>
              <a:t>差异化</a:t>
            </a:r>
            <a:r>
              <a:rPr lang="zh-CN" sz="2400" b="1">
                <a:solidFill>
                  <a:srgbClr val="E2E8F0"/>
                </a:solidFill>
                <a:latin typeface="Microsoft YaHei"/>
                <a:ea typeface="Microsoft YaHei"/>
              </a:rPr>
              <a:t>创新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33400" y="1181100"/>
            <a:ext cx="11125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不是更多功能，而是把每个细节做到生产可用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533400" y="1600200"/>
            <a:ext cx="3609975" cy="4000500"/>
          </a:xfrm>
          <a:prstGeom prst="roundRect">
            <a:avLst>
              <a:gd name="adj" fmla="val 2111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67" name=""/>
          <p:cNvSpPr/>
          <p:nvPr/>
        </p:nvSpPr>
        <p:spPr>
          <a:xfrm rot="0" flipH="0" flipV="0">
            <a:off x="533400" y="1600200"/>
            <a:ext cx="3609975" cy="4000500"/>
          </a:xfrm>
          <a:custGeom>
            <a:pathLst>
              <a:path w="379" h="420">
                <a:moveTo>
                  <a:pt x="371" y="0"/>
                </a:moveTo>
                <a:cubicBezTo>
                  <a:pt x="375" y="0"/>
                  <a:pt x="378" y="3"/>
                  <a:pt x="379" y="7"/>
                </a:cubicBezTo>
                <a:cubicBezTo>
                  <a:pt x="378" y="4"/>
                  <a:pt x="376" y="3"/>
                  <a:pt x="374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371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762000" y="1828800"/>
            <a:ext cx="3152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06B6D4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62000" y="2057400"/>
            <a:ext cx="3152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Microsoft YaHei"/>
                <a:ea typeface="Microsoft YaHei"/>
              </a:rPr>
              <a:t>跨</a:t>
            </a:r>
            <a:r>
              <a:rPr lang="en-US" sz="1650" b="1">
                <a:solidFill>
                  <a:srgbClr val="E2E8F0"/>
                </a:solidFill>
                <a:latin typeface="Microsoft YaHei"/>
                <a:ea typeface="Microsoft YaHei"/>
              </a:rPr>
              <a:t> iframe </a:t>
            </a:r>
            <a:r>
              <a:rPr lang="zh-CN" sz="1650" b="1">
                <a:solidFill>
                  <a:srgbClr val="E2E8F0"/>
                </a:solidFill>
                <a:latin typeface="Microsoft YaHei"/>
                <a:ea typeface="Microsoft YaHei"/>
              </a:rPr>
              <a:t>拖拽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2428875"/>
            <a:ext cx="31527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悬浮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AI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球压在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Godot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检修闯关的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iframe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上。父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window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的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mousemove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会被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iframe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切断，表现为「拖两步就卡」。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2000" y="4314825"/>
            <a:ext cx="3152775" cy="819150"/>
          </a:xfrm>
          <a:prstGeom prst="roundRect">
            <a:avLst>
              <a:gd name="adj" fmla="val 4651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876300" y="4429125"/>
            <a:ext cx="2924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6B6D4"/>
                </a:solidFill>
                <a:latin typeface="Microsoft YaHei"/>
                <a:ea typeface="Microsoft YaHei"/>
              </a:rPr>
              <a:t>解决方案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76300" y="4610100"/>
            <a:ext cx="2924175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onPointerDown → setPointerCapture(e.pointerId)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+ window pointermove/pointerup </a:t>
            </a:r>
            <a:r>
              <a:rPr lang="zh-CN" sz="825">
                <a:solidFill>
                  <a:srgbClr val="CBD5E1"/>
                </a:solidFill>
                <a:latin typeface="monospace"/>
                <a:ea typeface="monospace"/>
              </a:rPr>
              <a:t>监听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62000" y="5210175"/>
            <a:ext cx="31527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F59E0B"/>
                </a:solidFill>
                <a:latin typeface="Microsoft YaHei"/>
                <a:ea typeface="Microsoft YaHei"/>
              </a:rPr>
              <a:t>验收脚本</a:t>
            </a:r>
            <a:r>
              <a:rPr lang="en-US" sz="825">
                <a:solidFill>
                  <a:srgbClr val="F59E0B"/>
                </a:solidFill>
                <a:latin typeface="Microsoft YaHei"/>
                <a:ea typeface="Microsoft YaHei"/>
              </a:rPr>
              <a:t> commit 72a7fd3 · </a:t>
            </a:r>
            <a:r>
              <a:rPr lang="zh-CN" sz="825">
                <a:solidFill>
                  <a:srgbClr val="F59E0B"/>
                </a:solidFill>
                <a:latin typeface="Microsoft YaHei"/>
                <a:ea typeface="Microsoft YaHei"/>
              </a:rPr>
              <a:t>位移</a:t>
            </a:r>
            <a:r>
              <a:rPr lang="en-US" sz="825">
                <a:solidFill>
                  <a:srgbClr val="F59E0B"/>
                </a:solidFill>
                <a:latin typeface="Microsoft YaHei"/>
                <a:ea typeface="Microsoft YaHei"/>
              </a:rPr>
              <a:t> 14/11 → 142.8/112.8 px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4295775" y="1600200"/>
            <a:ext cx="3600450" cy="4000500"/>
          </a:xfrm>
          <a:prstGeom prst="roundRect">
            <a:avLst>
              <a:gd name="adj" fmla="val 2116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4295775" y="1600200"/>
            <a:ext cx="3600450" cy="4000500"/>
          </a:xfrm>
          <a:custGeom>
            <a:pathLst>
              <a:path w="378" h="420">
                <a:moveTo>
                  <a:pt x="370" y="0"/>
                </a:moveTo>
                <a:cubicBezTo>
                  <a:pt x="374" y="0"/>
                  <a:pt x="377" y="3"/>
                  <a:pt x="378" y="7"/>
                </a:cubicBezTo>
                <a:cubicBezTo>
                  <a:pt x="377" y="4"/>
                  <a:pt x="375" y="3"/>
                  <a:pt x="373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370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524375" y="1828800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F59E0B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4524375" y="2057400"/>
            <a:ext cx="314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Microsoft YaHei"/>
                <a:ea typeface="Microsoft YaHei"/>
              </a:rPr>
              <a:t>设备单台特征化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4524375" y="2428875"/>
            <a:ext cx="314325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每台设备的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3D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模型都用独立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GLB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资源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+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独立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EQUIPMENT_GLB_MAP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映射行（追加安全，重排不安全）。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4524375" y="4191000"/>
            <a:ext cx="3143250" cy="819150"/>
          </a:xfrm>
          <a:prstGeom prst="roundRect">
            <a:avLst>
              <a:gd name="adj" fmla="val 4651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4638675" y="4305300"/>
            <a:ext cx="2914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59E0B"/>
                </a:solidFill>
                <a:latin typeface="Microsoft YaHei"/>
                <a:ea typeface="Microsoft YaHei"/>
              </a:rPr>
              <a:t>反「克隆复制」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638675" y="4486275"/>
            <a:ext cx="2914650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CBD5E1"/>
                </a:solidFill>
                <a:latin typeface="Microsoft YaHei"/>
                <a:ea typeface="Microsoft YaHei"/>
              </a:rPr>
              <a:t>离心泵</a:t>
            </a:r>
            <a:r>
              <a:rPr lang="en-US" sz="825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CBD5E1"/>
                </a:solidFill>
                <a:latin typeface="Microsoft YaHei"/>
                <a:ea typeface="Microsoft YaHei"/>
              </a:rPr>
              <a:t>压缩机</a:t>
            </a:r>
            <a:r>
              <a:rPr lang="en-US" sz="825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CBD5E1"/>
                </a:solidFill>
                <a:latin typeface="Microsoft YaHei"/>
                <a:ea typeface="Microsoft YaHei"/>
              </a:rPr>
              <a:t>减速箱</a:t>
            </a:r>
            <a:r>
              <a:rPr lang="en-US" sz="825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CBD5E1"/>
                </a:solidFill>
                <a:latin typeface="Microsoft YaHei"/>
                <a:ea typeface="Microsoft YaHei"/>
              </a:rPr>
              <a:t>机床</a:t>
            </a:r>
            <a:r>
              <a:rPr lang="en-US" sz="825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825">
                <a:solidFill>
                  <a:srgbClr val="CBD5E1"/>
                </a:solidFill>
                <a:latin typeface="Microsoft YaHei"/>
                <a:ea typeface="Microsoft YaHei"/>
              </a:rPr>
              <a:t>容器</a:t>
            </a:r>
            <a:r>
              <a:rPr lang="en-US" sz="825">
                <a:solidFill>
                  <a:srgbClr val="CBD5E1"/>
                </a:solidFill>
                <a:latin typeface="Microsoft YaHei"/>
                <a:ea typeface="Microsoft YaHei"/>
              </a:rPr>
              <a:t> 5 </a:t>
            </a:r>
            <a:r>
              <a:rPr lang="zh-CN" sz="825">
                <a:solidFill>
                  <a:srgbClr val="CBD5E1"/>
                </a:solidFill>
                <a:latin typeface="Microsoft YaHei"/>
                <a:ea typeface="Microsoft YaHei"/>
              </a:rPr>
              <a:t>类各自不同的几何</a:t>
            </a:r>
            <a:r>
              <a:rPr lang="en-US" sz="825">
                <a:solidFill>
                  <a:srgbClr val="CBD5E1"/>
                </a:solidFill>
                <a:latin typeface="Microsoft YaHei"/>
                <a:ea typeface="Microsoft YaHei"/>
              </a:rPr>
              <a:t> + </a:t>
            </a:r>
            <a:r>
              <a:rPr lang="zh-CN" sz="825">
                <a:solidFill>
                  <a:srgbClr val="CBD5E1"/>
                </a:solidFill>
                <a:latin typeface="Microsoft YaHei"/>
                <a:ea typeface="Microsoft YaHei"/>
              </a:rPr>
              <a:t>故障表现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524375" y="5086350"/>
            <a:ext cx="3143250" cy="257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AGENTS.md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显式列出所有权：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src/components/equipment3d/equipment.ts 77-100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8048625" y="1600200"/>
            <a:ext cx="3609975" cy="4000500"/>
          </a:xfrm>
          <a:prstGeom prst="roundRect">
            <a:avLst>
              <a:gd name="adj" fmla="val 2111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8048625" y="1600200"/>
            <a:ext cx="3609975" cy="4000500"/>
          </a:xfrm>
          <a:custGeom>
            <a:pathLst>
              <a:path w="379" h="420">
                <a:moveTo>
                  <a:pt x="371" y="0"/>
                </a:moveTo>
                <a:cubicBezTo>
                  <a:pt x="375" y="0"/>
                  <a:pt x="378" y="3"/>
                  <a:pt x="379" y="7"/>
                </a:cubicBezTo>
                <a:cubicBezTo>
                  <a:pt x="378" y="4"/>
                  <a:pt x="376" y="3"/>
                  <a:pt x="374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371" y="0"/>
                </a:ln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8277225" y="1828800"/>
            <a:ext cx="3152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10B981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277225" y="2057400"/>
            <a:ext cx="3152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Microsoft YaHei"/>
                <a:ea typeface="Microsoft YaHei"/>
              </a:rPr>
              <a:t>单进程双形态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277225" y="2428875"/>
            <a:ext cx="31527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开发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PGlite / npm run dev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；生产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PostgreSQL / Docker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。一份代码、零外部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DB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依赖、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DB_TYPE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环境变量切换。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8277225" y="4314825"/>
            <a:ext cx="3152775" cy="819150"/>
          </a:xfrm>
          <a:prstGeom prst="roundRect">
            <a:avLst>
              <a:gd name="adj" fmla="val 4651"/>
            </a:avLst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391525" y="4429125"/>
            <a:ext cx="2924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10B981"/>
                </a:solidFill>
                <a:latin typeface="Microsoft YaHei"/>
                <a:ea typeface="Microsoft YaHei"/>
              </a:rPr>
              <a:t>真正的「一条命令启动」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391525" y="4610100"/>
            <a:ext cx="2924175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docker compose up -d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CBD5E1"/>
                </a:solidFill>
                <a:latin typeface="monospace"/>
                <a:ea typeface="monospace"/>
              </a:rPr>
              <a:t>→ http://localhost:3000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8277225" y="5210175"/>
            <a:ext cx="31527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Vite middleware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模式：前端改动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HMR </a:t>
            </a: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即时刷新，无需重启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94" name="" descr="&lt;Slide style={{ width: '1280px', height: '720px', padding: '40px 56px', backgroundColor: '#0b1220' }}&gt;&#10;    &lt;Box style={{ display: 'flex', flexDirection: 'column', justifyContent: 'center', alignItems: 'center', height: '100%' }}&gt;&#10;      &lt;Text style={{ fontSize: '14px', color: '#06b6d4', letterSpacing: '4px', marginBottom: '16px' }}&gt;&#10;        SUMMARY &amp; ACKNOWLEDGEMENTS&#10;      &lt;/Text&gt;&#10;      &lt;Text style={{&#10;        fontSize: '60px', fontWeight: 'bold', color: '#e2e8f0', lineHeight: '1.2',&#10;        textAlign: 'center', marginBottom: '12px',&#10;      }}&gt;&#10;        &lt;span style={{ color: '#06b6d4' }}&gt;谢谢聆听&lt;/span&gt;&#10;      &lt;/Text&gt;&#10;      &lt;Text style={{ fontSize: '18px', color: '#94a3b8', textAlign: 'center', marginBottom: '36px' }}&gt;&#10;        工业设备智能检修一体化平台 · 期待您的提问&#10;      &lt;/Text&gt;&#10;&#10;      &lt;Box style={{ display: 'flex', justifyContent: 'center', gap: '32px', marginBottom: '32px' }}&gt;&#10;        {[&#10;          { num: '31', unit: '张业务表', color: '#06b6d4' },&#10;          { num: '25', unit: '个迁移', color: '#06b6d4' },&#10;          { num: '24', unit: '项 AI', color: '#f59e0b' },&#10;          { num: '7', unit: '个角色', color: '#10b981' },&#10;          { num: '12', unit: '个分镜', color: '#06b6d4' },&#10;          { num: '88', unit: '个测试', color: '#8b5cf6' },&#10;        ].map((d, i) =&gt; (&#10;          &lt;Box key={i} style={{ textAlign: 'center' }}&gt;&#10;            &lt;Text style={{ fontSize: '36px', fontWeight: 'bold', color: d.color, lineHeight: '1' }}&gt;&#10;              {d.num}&#10;            &lt;/Text&gt;&#10;            &lt;Text style={{ fontSize: '11px', color: '#64748b', marginTop: '4px' }}&gt;&#10;              {d.unit}&#10;            &lt;/Text&gt;&#10;          &lt;/Box&gt;&#10;        ))}&#10;      &lt;/Box&gt;&#10;&#10;      &lt;Box style={{&#10;        padding: '16px 32px', backgroundColor: '#0f172a', borderRadius: '8px',&#10;        borderTop: '3px solid #06b6d4',&#10;      }}&gt;&#10;        &lt;Text style={{ fontSize: '14px', color: '#cbd5e1', textAlign: 'center', lineHeight: '1.7' }}&gt;&#10;          &lt;span style={{ color: '#06b6d4', fontWeight: 'bold' }}&gt;后续展望：&lt;/span&gt;&#10;          接入更多 AI 模型（Claude / GPT） · 移动端 PWA · 工业硬件对接（PLC / SCADA）&#10;          {'\n'}知识图谱自动构建 · 数字孪生实时联动 · 国际化（英文 / 阿拉伯文）&#10;        &lt;/Text&gt;&#10;      &lt;/Box&gt;&#10;    &lt;/Box&gt;&#10;&#10;    &lt;Box style={{ position: 'absolute', bottom: '20px', right: '56px' }}&gt;&#10;      &lt;Text style={{ fontSize: '12px', color: '#475569' }}&gt;12 / 12&lt;/Text&gt;&#10;    &lt;/Box&gt;&#10;  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400550" y="1638300"/>
            <a:ext cx="3390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06B6D4"/>
                </a:solidFill>
                <a:latin typeface="Microsoft YaHei"/>
                <a:ea typeface="Microsoft YaHei"/>
              </a:rPr>
              <a:t>SUMMARY &amp; ACKNOWLEDGEMENTS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953000" y="1952625"/>
            <a:ext cx="2286000" cy="828675"/>
          </a:xfrm>
          <a:prstGeom prst="rect"/>
        </p:spPr>
        <p:txBody>
          <a:bodyPr wrap="none" lIns="0" tIns="0" rIns="0" bIns="0"/>
          <a:p>
            <a:pPr algn="ctr">
              <a:lnSpc>
                <a:spcPct val="120000"/>
              </a:lnSpc>
            </a:pPr>
            <a:r>
              <a:rPr lang="zh-CN" sz="4500" b="1">
                <a:solidFill>
                  <a:srgbClr val="06B6D4"/>
                </a:solidFill>
                <a:latin typeface="Microsoft YaHei"/>
                <a:ea typeface="Microsoft YaHei"/>
              </a:rPr>
              <a:t>谢谢聆听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400550" y="2895600"/>
            <a:ext cx="34004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工业设备智能检修一体化平台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期待您的提问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105275" y="3448050"/>
            <a:ext cx="4286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4105275" y="3905250"/>
            <a:ext cx="4286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张业务表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4838700" y="3448050"/>
            <a:ext cx="4286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25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4838700" y="3905250"/>
            <a:ext cx="4286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个迁移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572125" y="3448050"/>
            <a:ext cx="4286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 b="1">
                <a:solidFill>
                  <a:srgbClr val="F59E0B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5572125" y="3905250"/>
            <a:ext cx="4286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项</a:t>
            </a:r>
            <a:r>
              <a:rPr lang="en-US" sz="825">
                <a:solidFill>
                  <a:srgbClr val="64748B"/>
                </a:solidFill>
                <a:latin typeface="Microsoft YaHei"/>
                <a:ea typeface="Microsoft YaHei"/>
              </a:rPr>
              <a:t> AI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305550" y="3448050"/>
            <a:ext cx="3143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 b="1">
                <a:solidFill>
                  <a:srgbClr val="10B981"/>
                </a:solidFill>
                <a:latin typeface="Microsoft YaHei"/>
                <a:ea typeface="Microsoft YaHei"/>
              </a:rPr>
              <a:t>7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305550" y="3905250"/>
            <a:ext cx="3143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个角色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924675" y="3448050"/>
            <a:ext cx="4286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12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924675" y="3905250"/>
            <a:ext cx="4286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个分镜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7658100" y="3448050"/>
            <a:ext cx="4286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 b="1">
                <a:solidFill>
                  <a:srgbClr val="8B5CF6"/>
                </a:solidFill>
                <a:latin typeface="Microsoft YaHei"/>
                <a:ea typeface="Microsoft YaHei"/>
              </a:rPr>
              <a:t>88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658100" y="3905250"/>
            <a:ext cx="4286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64748B"/>
                </a:solidFill>
                <a:latin typeface="Microsoft YaHei"/>
                <a:ea typeface="Microsoft YaHei"/>
              </a:rPr>
              <a:t>个测试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2971800" y="4371975"/>
            <a:ext cx="6257925" cy="885825"/>
          </a:xfrm>
          <a:prstGeom prst="roundRect">
            <a:avLst>
              <a:gd name="adj" fmla="val 8602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12" name=""/>
          <p:cNvSpPr/>
          <p:nvPr/>
        </p:nvSpPr>
        <p:spPr>
          <a:xfrm rot="0" flipH="0" flipV="0">
            <a:off x="2971800" y="4371975"/>
            <a:ext cx="6257925" cy="885825"/>
          </a:xfrm>
          <a:custGeom>
            <a:pathLst>
              <a:path w="657" h="93">
                <a:moveTo>
                  <a:pt x="649" y="0"/>
                </a:moveTo>
                <a:cubicBezTo>
                  <a:pt x="653" y="0"/>
                  <a:pt x="656" y="3"/>
                  <a:pt x="657" y="7"/>
                </a:cubicBezTo>
                <a:cubicBezTo>
                  <a:pt x="656" y="4"/>
                  <a:pt x="654" y="3"/>
                  <a:pt x="652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649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3276600" y="4524375"/>
            <a:ext cx="5648325" cy="5524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050" b="1">
                <a:solidFill>
                  <a:srgbClr val="06B6D4"/>
                </a:solidFill>
                <a:latin typeface="Microsoft YaHei"/>
                <a:ea typeface="Microsoft YaHei"/>
              </a:rPr>
              <a:t>后续展望：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接入更多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模型（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Claude / GPT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移动端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 PWA ·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工业硬件对接（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PLC / SCADA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知识图谱自动构建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数字孪生实时联动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国际化（英文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阿拉伯文）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11268075" y="65246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2026-09-21T16:10:25Z</dcterms:created>
  <dcterms:modified xsi:type="dcterms:W3CDTF">2026-09-21T16:10:25Z</dcterms:modified>
</cp:coreProperties>
</file>