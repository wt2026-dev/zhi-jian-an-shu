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43200"/>
            <a:ext cx="12191695" cy="54864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2D3EE"/>
                </a:solidFill>
                <a:latin typeface="微软雅黑"/>
              </a:rPr>
              <a:t>应用开发竞赛参赛作品 · Web 应用开发类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1F5F9"/>
                </a:solidFill>
                <a:latin typeface="微软雅黑"/>
              </a:rPr>
              <a:t>工业设备智能检修与作业协同系统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微软雅黑"/>
              </a:rPr>
              <a:t>设备全生命周期数字化 × 大模型驱动的检修决策大脑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4A3B8"/>
                </a:solidFill>
                <a:latin typeface="微软雅黑"/>
              </a:rPr>
              <a:t>参赛队伍 ·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背景与动机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行业痛点：设备检修的四大顽疾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949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B7185"/>
                </a:solidFill>
                <a:latin typeface="微软雅黑"/>
              </a:rPr>
              <a:t>❗ 工单流转不透明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电话+纸质单据派工，状态靠追问，超期无预警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949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B7185"/>
                </a:solidFill>
                <a:latin typeface="微软雅黑"/>
              </a:rPr>
              <a:t>❗ 巡检数据滞后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人工抄录、漏检频发，异常发现平均延迟数小时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53949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B7185"/>
                </a:solidFill>
                <a:latin typeface="微软雅黑"/>
              </a:rPr>
              <a:t>❗ 高危作业管控难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动火/受限空间/LOTO 审批链长，安全交底流于形式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53949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B7185"/>
                </a:solidFill>
                <a:latin typeface="微软雅黑"/>
              </a:rPr>
              <a:t>❗ 经验难沉淀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177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老师傅的检修知识随人员流动而流失，新人上手慢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解决方案：一体化检修协同平台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486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</a:rPr>
              <a:t>覆盖检修全生命周期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设备台账 → 巡检点检 → 故障报修 → 工单闭环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高危作业票双人会签 + LOTO 能量隔离联锁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通知中心实时推送、全量操作审计留痕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4D399"/>
                </a:solidFill>
                <a:latin typeface="微软雅黑"/>
              </a:rPr>
              <a:t>数据真实落库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21408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29 张业务表 · PostgreSQL 兼容嵌入式数据库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工单/作业票/巡检/遥测/通知全量真实数据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幂等迁移与种子，容器卷持久化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5486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BBF24"/>
                </a:solidFill>
                <a:latin typeface="微软雅黑"/>
              </a:rPr>
              <a:t>AI 检修决策大脑（场景化能力）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98848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流式对话 · 故障诊断 · 视觉缺陷识别 · RAG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根因分析 · 检修方案 · 健康预测 · 报告生成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智能工单 · 风险评估 · 辅助派单 · 报警关联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B7185"/>
                </a:solidFill>
                <a:latin typeface="微软雅黑"/>
              </a:rPr>
              <a:t>工程化质量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498848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JWT fail-fast + RBAC 细粒度 + 登录限流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工单状态机互斥 + 乐观锁 + 防重复报单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1F5F9"/>
                </a:solidFill>
                <a:latin typeface="微软雅黑"/>
              </a:rPr>
              <a:t>• Zod 全量参数校验 + 审计日志 + 健康探针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系统架构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微软雅黑"/>
              </a:rPr>
              <a:t>前端展示层  React 19 + TypeScript + TailwindCSS + Recharts    （10 大业务视图 · 流式 AI 对话 · 遥测图表）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108813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BBF24"/>
                </a:solidFill>
                <a:latin typeface="微软雅黑"/>
              </a:rPr>
              <a:t>应用服务层  Node.js 20 + Express + Zod + pino    （REST API · SSE 流式 · RBAC · 限流 · 审计 · 静态托管）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0352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微软雅黑"/>
              </a:rPr>
              <a:t>数据层  PGlite 嵌入式 PostgreSQL
29 张业务表 · 幂等迁移 · 容器卷持久化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30352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886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B7185"/>
                </a:solidFill>
                <a:latin typeface="微软雅黑"/>
              </a:rPr>
              <a:t>AI 服务层  阿里云百炼 DashScope
qwen-plus 文本 / qwen-vl-max 多模态（OpenAI 兼容）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4A3B8"/>
                </a:solidFill>
                <a:latin typeface="微软雅黑"/>
              </a:rPr>
              <a:t>部署层  Docker 多阶段构建 + docker compose    （healthcheck 探活 · 数据卷 · 一键启停）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前后端同源一体化部署 · AI 走 OpenAI 兼容协议 · 全链路 TypeScript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功能亮点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核心功能：检修工单全生命周期闭环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011680" cy="1554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1F5F9"/>
                </a:solidFill>
                <a:latin typeface="微软雅黑"/>
              </a:rPr>
              <a:t>创建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377440"/>
            <a:ext cx="17922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微软雅黑"/>
              </a:rPr>
              <a:t>防重复报单
15分钟窗口拦截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2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737360"/>
            <a:ext cx="2011680" cy="1554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1F5F9"/>
                </a:solidFill>
                <a:latin typeface="微软雅黑"/>
              </a:rPr>
              <a:t>派单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377440"/>
            <a:ext cx="17922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微软雅黑"/>
              </a:rPr>
              <a:t>AI 推荐主修
乐观锁防并发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737360"/>
            <a:ext cx="2011680" cy="1554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1F5F9"/>
                </a:solidFill>
                <a:latin typeface="微软雅黑"/>
              </a:rPr>
              <a:t>接单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377440"/>
            <a:ext cx="17922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微软雅黑"/>
              </a:rPr>
              <a:t>状态机互斥
非法流转拦截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737360"/>
            <a:ext cx="2011680" cy="1554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1F5F9"/>
                </a:solidFill>
                <a:latin typeface="微软雅黑"/>
              </a:rPr>
              <a:t>完工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2377440"/>
            <a:ext cx="17922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微软雅黑"/>
              </a:rPr>
              <a:t>BOM 备件
工时与照片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1737360"/>
            <a:ext cx="2011680" cy="1554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1F5F9"/>
                </a:solidFill>
                <a:latin typeface="微软雅黑"/>
              </a:rPr>
              <a:t>验收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8" y="2377440"/>
            <a:ext cx="17922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微软雅黑"/>
              </a:rPr>
              <a:t>评分闭环
自动恢复设备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49039"/>
            <a:ext cx="1088136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886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BBF24"/>
                </a:solidFill>
                <a:latin typeface="微软雅黑"/>
              </a:rPr>
              <a:t>工程细节（真实工业场景才有的设计）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15968"/>
            <a:ext cx="10424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防重复报单：同设备 15 分钟活动窗口拦截重复提交，应急场景可强制穿透并留痕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并发派单乐观锁：版本号不一致返回 409，杜绝两人同时派单互相覆盖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状态机互斥：非法流转（如待派单直接归档）返回 STATE_MUTEX_ERROR 与允许目标集合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台账导出：CSV UTF-8 BOM，中文 Excel 直接打开不乱码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功能亮点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核心功能：巡检作业与异常闭环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39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</a:rPr>
              <a:t>数字化巡检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按车间/路线编排测点清单，日检、专项、月度三类任务；现场录入实测值，上下限自动判定合格/异常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移动端扫码直达设备巡检表单——二维码电子铭牌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1088136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BBF24"/>
                </a:solidFill>
                <a:latin typeface="微软雅黑"/>
              </a:rPr>
              <a:t>异常 → AI 工单草稿 → 一键闭环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10424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异常测点一键转报修单：自动带出设备、测点、实测值与限值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AI 生成工单草稿：结合设备档案与历史工单，输出标题/优先级理由/检修步骤/备件清单/预估工时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人工确认编辑后一键创建真实工单——AI 只做草稿，决策权在人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功能亮点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核心功能：高危作业安全管控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39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</a:rPr>
              <a:t>六类作业票 · 四级风险分级 · 双人会签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动火 / 受限空间 / 高处 / LOTO 停电挂牌 / 吊装 / 临时用电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现场安全监护初审（含气体检测数据合法性校验：O2 19.5%~23.5%、可燃气 ≤0.5%）→ 安全总监终审，双人会签通过方可作业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1088136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BBF24"/>
                </a:solidFill>
                <a:latin typeface="微软雅黑"/>
              </a:rPr>
              <a:t>LOTO 能量隔离联锁 + AI 风险评估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10424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锁具台账与作业票联动：锁号/隔离点/能量类型/锁闭人/释放确认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AI 风险评估（JSA）：危害辨识、控制措施、PPE 清单、LOTO 隔离建议、审批关注点，一键采纳到安全交底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I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I3B8"/>
                </a:solidFill>
                <a:latin typeface="微软雅黑"/>
              </a:rPr>
              <a:t>II 能力矩阵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II 检修决策大脑：场景化能力矩阵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流式对话助手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打字机输出·可中断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508760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618488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多维故障诊断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075688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结构化诊断报告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508760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618488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视觉缺陷识别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075688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多模态照片分析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1508760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4" y="1618488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RIG 知识问答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075688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语义检索·引用来源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90088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99816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生成检修工单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57016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巡检异常一键转单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5848" y="2990088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3008" y="3099816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根因分析 RCI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557016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5Why + 根因排序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2990088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099816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检修方案生成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557016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含 LOTO 与质检点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1704" y="2990088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4" y="3099816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健康趋势预测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3557016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遥测统计特征研判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71416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81144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智能报告生成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038344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巡检/检修/月度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55848" y="4471416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4581144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作业票风险评估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5038344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JSI 安全分析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4471416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4581144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智能追问建议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5038344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上下文追问按钮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61704" y="4471416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8864" y="4581144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设备健康画像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8864" y="5038344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多维综合摘要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952744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062472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II 辅助派单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19672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技能+负载推荐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5848" y="5952744"/>
            <a:ext cx="2697480" cy="129844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93008" y="6062472"/>
            <a:ext cx="24231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</a:rPr>
              <a:t>报警关联分析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93008" y="6519672"/>
            <a:ext cx="2423160" cy="64008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1F5F9"/>
                </a:solidFill>
                <a:latin typeface="微软雅黑"/>
              </a:rPr>
              <a:t>根因/衍生/图谱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>
            <a:spI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94I3B8"/>
                </a:solidFill>
                <a:latin typeface="微软雅黑"/>
              </a:rPr>
              <a:t>全部基于真实业务数据调用大模型，未配置密钥时友好降级，绝不伪造 II 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技术深度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工程细节：SSE 流式与稳定性设计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39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</a:rPr>
              <a:t>打字机流式输出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104241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POST /ai/chat/stream：text/event-stream 逐帧推送增量文本，前端 ReadableStream 渲染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100ms 批量提交节流：渲染频率与 chunk 频率解耦，长回复不卡顿不爆内存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红色停止生成按钮：AbortController 立即中断；输入框流式期间禁用防重复发送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8813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BBF24"/>
                </a:solidFill>
                <a:latin typeface="微软雅黑"/>
              </a:rPr>
              <a:t>结构化输出与降级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07408"/>
            <a:ext cx="104241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统一 JSON 解析：剥离代码围栏 + 容错提取，失败返回明确错误而非伪造结果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三级降级：未配置密钥→友好提示；调用失败→502 明确错误；全量审计埋点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所有 AI 接口：requireAuth + Zod 参数校验 + module=ai 审计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技术深度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工程细节：安全与合规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39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</a:rPr>
              <a:t>认证与权限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104241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JWT 密钥缺失拒绝启动（fail-fast）· 登出黑名单 · 登录防爆破限流与 IP 锁定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RBAC 中间件：6 类角色细粒度权限，越权返回 403 并写 RBAC_ACCESS_DENIED 审计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Zod 三层参数校验（body/query/params），全量输入白名单化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88136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BBF24"/>
                </a:solidFill>
                <a:latin typeface="微软雅黑"/>
              </a:rPr>
              <a:t>审计与可观测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07408"/>
            <a:ext cx="104241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全量操作审计：登录/工单流转/作业票审批/RBAC 拒绝/AI 调用，含操作者、IP、结果与元数据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结构化日志 pino + 健康检查 /health 与就绪探针 /ready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三段式 SQL 迁移 + 幂等种子（ON CONFLICT），重建环境数据恒定可复现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数据底盘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真实数据规模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5661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22D3EE"/>
                </a:solidFill>
                <a:latin typeface="微软雅黑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1F5F9"/>
                </a:solidFill>
                <a:latin typeface="微软雅黑"/>
              </a:rPr>
              <a:t>张业务表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661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87451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22D3EE"/>
                </a:solidFill>
                <a:latin typeface="微软雅黑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1F5F9"/>
                </a:solidFill>
                <a:latin typeface="微软雅黑"/>
              </a:rPr>
              <a:t>台重点设备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645920"/>
            <a:ext cx="35661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87451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22D3EE"/>
                </a:solidFill>
                <a:latin typeface="微软雅黑"/>
              </a:rPr>
              <a:t>25+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1F5F9"/>
                </a:solidFill>
                <a:latin typeface="微软雅黑"/>
              </a:rPr>
              <a:t>张检修工单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35661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22D3EE"/>
                </a:solidFill>
                <a:latin typeface="微软雅黑"/>
              </a:rPr>
              <a:t>768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1F5F9"/>
                </a:solidFill>
                <a:latin typeface="微软雅黑"/>
              </a:rPr>
              <a:t>条遥测时序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49039"/>
            <a:ext cx="35661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397763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22D3EE"/>
                </a:solidFill>
                <a:latin typeface="微软雅黑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9834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1F5F9"/>
                </a:solidFill>
                <a:latin typeface="微软雅黑"/>
              </a:rPr>
              <a:t>个巡检任务测点组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749039"/>
            <a:ext cx="35661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97763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22D3EE"/>
                </a:solidFill>
                <a:latin typeface="微软雅黑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9834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1F5F9"/>
                </a:solidFill>
                <a:latin typeface="微软雅黑"/>
              </a:rPr>
              <a:t>篇知识文档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94A3B8"/>
                </a:solidFill>
                <a:latin typeface="微软雅黑"/>
              </a:rPr>
              <a:t>所有页面数据均来自数据库真实落库，无任何前端 mock 兜底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8016" cy="566928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</a:rPr>
              <a:t>结语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1F5F9"/>
                </a:solidFill>
                <a:latin typeface="微软雅黑"/>
              </a:rPr>
              <a:t>总结与展望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39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</a:rPr>
              <a:t>作品价值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10424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把检修业务从「电话+纸质单据」搬到数字平台：流程可追踪、责任可追溯、数据可沉淀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把大模型从「聊天玩具」变成「嵌入业务流的决策助手」：场景化 AI 能力全部挂接真实数据与真实操作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工程完整度：173 个自动化测试用例 · Docker 一键部署 · 全量审计 · 细粒度权限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108813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BBF24"/>
                </a:solidFill>
                <a:latin typeface="微软雅黑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90288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接入真实 PLC/DCS 遥测网关，从模拟采集走向产线直连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移动端小程序：离线巡检、扫码报修、消息推送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F5F9"/>
                </a:solidFill>
                <a:latin typeface="微软雅黑"/>
              </a:rPr>
              <a:t>• 多租户 SaaS 化与检修知识图谱持续沉淀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微软雅黑"/>
              </a:rPr>
              <a:t>感谢评审专家观看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